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0ef04f0-01bf-fd59-7a07-8d01bc8b0a10}">
          <p14:sldIdLst>
            <p14:sldId id="256"/>
            <p14:sldId id="257"/>
            <p14:sldId id="258"/>
            <p14:sldId id="259"/>
          </p14:sldIdLst>
        </p14:section>
        <p14:section name="Method" id="{76434a49-960f-b088-fe1f-5b96011786ac}">
          <p14:sldIdLst>
            <p14:sldId id="260"/>
            <p14:sldId id="261"/>
            <p14:sldId id="262"/>
          </p14:sldIdLst>
        </p14:section>
        <p14:section name="Results" id="{3de701e4-8ddc-85c3-6cf6-4710944a07af}">
          <p14:sldIdLst>
            <p14:sldId id="263"/>
            <p14:sldId id="264"/>
            <p14:sldId id="265"/>
          </p14:sldIdLst>
        </p14:section>
        <p14:section name="Discussion" id="{45db1023-6bdd-c97d-a7b9-2e362ff9cddb}">
          <p14:sldIdLst>
            <p14:sldId id="266"/>
            <p14:sldId id="267"/>
            <p14:sldId id="268"/>
          </p14:sldIdLst>
        </p14:section>
        <p14:section name="Conclusion" id="{76ee058f-8467-dcca-6d3a-8fa6efdac268}">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220"/>
                </a:solidFill>
                <a:latin typeface="+mn-lt"/>
              </a:defRPr>
            </a:pPr>
            <a:r>
              <a:rPr sz="1400" b="0" i="0" u="none" strike="noStrike">
                <a:solidFill>
                  <a:srgbClr val="0B1220"/>
                </a:solidFill>
                <a:latin typeface="+mn-lt"/>
              </a:rPr>
              <a:t>Illicit share of labelled transactions per time step (%)</a:t>
            </a:r>
          </a:p>
        </c:rich>
      </c:tx>
      <c:layout/>
      <c:overlay val="0"/>
    </c:title>
    <c:autoTitleDeleted val="0"/>
    <c:plotArea>
      <c:layout/>
      <c:barChart>
        <c:barDir val="col"/>
        <c:grouping val="stacked"/>
        <c:varyColors val="0"/>
        <c:ser>
          <c:idx val="0"/>
          <c:order val="0"/>
          <c:tx>
            <c:strRef>
              <c:f>Sheet1!$B$1</c:f>
              <c:strCache>
                <c:ptCount val="1"/>
                <c:pt idx="0">
                  <c:v>Train  t = 1–29</c:v>
                </c:pt>
              </c:strCache>
            </c:strRef>
          </c:tx>
          <c:spPr>
            <a:solidFill>
              <a:srgbClr val="94A3B8"/>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Sheet1!$A$2:$A$50</c:f>
              <c:multiLvlStrCache>
                <c:ptCount val="49"/>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lvl>
              </c:multiLvlStrCache>
            </c:multiLvlStrRef>
          </c:cat>
          <c:val>
            <c:numRef>
              <c:f>Sheet1!$B$2:$B$50</c:f>
              <c:numCache>
                <c:formatCode>General</c:formatCode>
                <c:ptCount val="49"/>
                <c:pt idx="0">
                  <c:v>0.79</c:v>
                </c:pt>
                <c:pt idx="1">
                  <c:v>1.61</c:v>
                </c:pt>
                <c:pt idx="2">
                  <c:v>0.86</c:v>
                </c:pt>
                <c:pt idx="3">
                  <c:v>2.08</c:v>
                </c:pt>
                <c:pt idx="4">
                  <c:v>0.43</c:v>
                </c:pt>
                <c:pt idx="5">
                  <c:v>1.03</c:v>
                </c:pt>
                <c:pt idx="6">
                  <c:v>8.48</c:v>
                </c:pt>
                <c:pt idx="7">
                  <c:v>5.75</c:v>
                </c:pt>
                <c:pt idx="8">
                  <c:v>31.88</c:v>
                </c:pt>
                <c:pt idx="9">
                  <c:v>1.85</c:v>
                </c:pt>
                <c:pt idx="10">
                  <c:v>18.82</c:v>
                </c:pt>
                <c:pt idx="11">
                  <c:v>3.16</c:v>
                </c:pt>
                <c:pt idx="12">
                  <c:v>35.97</c:v>
                </c:pt>
                <c:pt idx="13">
                  <c:v>10.31</c:v>
                </c:pt>
                <c:pt idx="14">
                  <c:v>23.79</c:v>
                </c:pt>
                <c:pt idx="15">
                  <c:v>24.15</c:v>
                </c:pt>
                <c:pt idx="16">
                  <c:v>12.21</c:v>
                </c:pt>
                <c:pt idx="17">
                  <c:v>13.37</c:v>
                </c:pt>
                <c:pt idx="18">
                  <c:v>10.74</c:v>
                </c:pt>
                <c:pt idx="19">
                  <c:v>28.89</c:v>
                </c:pt>
                <c:pt idx="20">
                  <c:v>15.6</c:v>
                </c:pt>
                <c:pt idx="21">
                  <c:v>8.96</c:v>
                </c:pt>
                <c:pt idx="22">
                  <c:v>4.47</c:v>
                </c:pt>
                <c:pt idx="23">
                  <c:v>12.17</c:v>
                </c:pt>
                <c:pt idx="24">
                  <c:v>19.87</c:v>
                </c:pt>
                <c:pt idx="25">
                  <c:v>18.57</c:v>
                </c:pt>
                <c:pt idx="26">
                  <c:v>11.65</c:v>
                </c:pt>
                <c:pt idx="27">
                  <c:v>29.93</c:v>
                </c:pt>
                <c:pt idx="28">
                  <c:v>28.02</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numCache>
            </c:numRef>
          </c:val>
        </c:ser>
        <c:ser>
          <c:idx val="1"/>
          <c:order val="1"/>
          <c:tx>
            <c:strRef>
              <c:f>Sheet1!$C$1</c:f>
              <c:strCache>
                <c:ptCount val="1"/>
                <c:pt idx="0">
                  <c:v>Validation  t = 30–34</c:v>
                </c:pt>
              </c:strCache>
            </c:strRef>
          </c:tx>
          <c:spPr>
            <a:solidFill>
              <a:srgbClr val="F59E0B"/>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Sheet1!$A$2:$A$50</c:f>
              <c:multiLvlStrCache>
                <c:ptCount val="49"/>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lvl>
              </c:multiLvlStrCache>
            </c:multiLvlStrRef>
          </c:cat>
          <c:val>
            <c:numRef>
              <c:f>Sheet1!$C$2:$C$50</c:f>
              <c:numCache>
                <c:formatCode>General</c:formatCode>
                <c:ptCount val="49"/>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15.84</c:v>
                </c:pt>
                <c:pt idx="30">
                  <c:v>14.93</c:v>
                </c:pt>
                <c:pt idx="31">
                  <c:v>25.85</c:v>
                </c:pt>
                <c:pt idx="32">
                  <c:v>5.22</c:v>
                </c:pt>
                <c:pt idx="33">
                  <c:v>7.18</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numCache>
            </c:numRef>
          </c:val>
        </c:ser>
        <c:ser>
          <c:idx val="2"/>
          <c:order val="2"/>
          <c:tx>
            <c:strRef>
              <c:f>Sheet1!$D$1</c:f>
              <c:strCache>
                <c:ptCount val="1"/>
                <c:pt idx="0">
                  <c:v>Test  t = 35–49</c:v>
                </c:pt>
              </c:strCache>
            </c:strRef>
          </c:tx>
          <c:spPr>
            <a:solidFill>
              <a:srgbClr val="2563EB"/>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Sheet1!$A$2:$A$50</c:f>
              <c:multiLvlStrCache>
                <c:ptCount val="49"/>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lvl>
              </c:multiLvlStrCache>
            </c:multiLvlStrRef>
          </c:cat>
          <c:val>
            <c:numRef>
              <c:f>Sheet1!$D$2:$D$50</c:f>
              <c:numCache>
                <c:formatCode>General</c:formatCode>
                <c:ptCount val="49"/>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13.57</c:v>
                </c:pt>
                <c:pt idx="35">
                  <c:v>1.93</c:v>
                </c:pt>
                <c:pt idx="36">
                  <c:v>8.03</c:v>
                </c:pt>
                <c:pt idx="37">
                  <c:v>14.68</c:v>
                </c:pt>
                <c:pt idx="38">
                  <c:v>6.85</c:v>
                </c:pt>
                <c:pt idx="39">
                  <c:v>9.25</c:v>
                </c:pt>
                <c:pt idx="40">
                  <c:v>10.25</c:v>
                </c:pt>
                <c:pt idx="41">
                  <c:v>11.1</c:v>
                </c:pt>
                <c:pt idx="42">
                  <c:v>1.75</c:v>
                </c:pt>
                <c:pt idx="43">
                  <c:v>1.51</c:v>
                </c:pt>
                <c:pt idx="44">
                  <c:v>0.41</c:v>
                </c:pt>
                <c:pt idx="45">
                  <c:v>0.28</c:v>
                </c:pt>
                <c:pt idx="46">
                  <c:v>2.6</c:v>
                </c:pt>
                <c:pt idx="47">
                  <c:v>7.64</c:v>
                </c:pt>
                <c:pt idx="48">
                  <c:v>11.76</c:v>
                </c:pt>
              </c:numCache>
            </c:numRef>
          </c:val>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gapWidth val="2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75569"/>
                </a:solidFill>
                <a:latin typeface="+mn-lt"/>
              </a:defRPr>
            </a:pPr>
            <a:endParaRPr lang="en-US"/>
          </a:p>
        </c:txPr>
        <c:crossAx val="2094734552"/>
        <c:crosses val="autoZero"/>
        <c:auto val="1"/>
        <c:lblAlgn val="ctr"/>
        <c:noMultiLvlLbl val="1"/>
        <c:tickLblSkip val="4"/>
      </c:catAx>
      <c:valAx>
        <c:axId val="2094734552"/>
        <c:scaling>
          <c:orientation val="minMax"/>
          <c:max val="40"/>
        </c:scaling>
        <c:delete val="0"/>
        <c:axPos val="l"/>
        <c:majorGridlines>
          <c:spPr>
            <a:ln w="9525" cap="flat">
              <a:solidFill>
                <a:srgbClr val="D5DDE8"/>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75569"/>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200">
              <a:solidFill>
                <a:srgbClr val="0B122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220"/>
                </a:solidFill>
                <a:latin typeface="+mn-lt"/>
              </a:defRPr>
            </a:pPr>
            <a:r>
              <a:rPr sz="1400" b="0" i="0" u="none" strike="noStrike">
                <a:solidFill>
                  <a:srgbClr val="0B1220"/>
                </a:solidFill>
                <a:latin typeface="+mn-lt"/>
              </a:rPr>
              <a:t>Test performance, t = 35–49 (illicit class)</a:t>
            </a:r>
          </a:p>
        </c:rich>
      </c:tx>
      <c:layout/>
      <c:overlay val="0"/>
    </c:title>
    <c:autoTitleDeleted val="0"/>
    <c:plotArea>
      <c:layout/>
      <c:barChart>
        <c:barDir val="col"/>
        <c:grouping val="clustered"/>
        <c:varyColors val="0"/>
        <c:ser>
          <c:idx val="0"/>
          <c:order val="0"/>
          <c:tx>
            <c:strRef>
              <c:f>Sheet1!$B$1</c:f>
              <c:strCache>
                <c:ptCount val="1"/>
                <c:pt idx="0">
                  <c:v>F1</c:v>
                </c:pt>
              </c:strCache>
            </c:strRef>
          </c:tx>
          <c:spPr>
            <a:solidFill>
              <a:srgbClr val="0B1220"/>
            </a:solidFill>
            <a:effectLst/>
          </c:spPr>
          <c:invertIfNegative val="0"/>
          <c:dLbls>
            <c:numFmt formatCode="0.00" sourceLinked="0"/>
            <c:txPr>
              <a:bodyPr/>
              <a:lstStyle/>
              <a:p>
                <a:pPr>
                  <a:defRPr b="0" i="0" strike="noStrike" sz="1000" u="none">
                    <a:solidFill>
                      <a:srgbClr val="0B1220"/>
                    </a:solidFill>
                    <a:latin typeface="+mn-lt"/>
                  </a:defRPr>
                </a:pPr>
              </a:p>
            </c:txPr>
            <c:showLegendKey val="0"/>
            <c:showVal val="1"/>
            <c:showCatName val="0"/>
            <c:showSerName val="0"/>
            <c:showPercent val="0"/>
            <c:showBubbleSize val="0"/>
            <c:showLeaderLines val="0"/>
          </c:dLbls>
          <c:cat>
            <c:multiLvlStrRef>
              <c:f>Sheet1!$A$2:$A$7</c:f>
              <c:multiLvlStrCache>
                <c:ptCount val="6"/>
                <c:lvl>
                  <c:pt idx="0">
                    <c:v>Logistic Reg.</c:v>
                  </c:pt>
                  <c:pt idx="1">
                    <c:v>Random Forest</c:v>
                  </c:pt>
                  <c:pt idx="2">
                    <c:v>Static GraphSAGE</c:v>
                  </c:pt>
                  <c:pt idx="3">
                    <c:v>Adaptive GraphSAGE</c:v>
                  </c:pt>
                  <c:pt idx="4">
                    <c:v>Static HGB</c:v>
                  </c:pt>
                  <c:pt idx="5">
                    <c:v>Adaptive HGB</c:v>
                  </c:pt>
                </c:lvl>
              </c:multiLvlStrCache>
            </c:multiLvlStrRef>
          </c:cat>
          <c:val>
            <c:numRef>
              <c:f>Sheet1!$B$2:$B$7</c:f>
              <c:numCache>
                <c:formatCode>General</c:formatCode>
                <c:ptCount val="6"/>
                <c:pt idx="0">
                  <c:v>0.324</c:v>
                </c:pt>
                <c:pt idx="1">
                  <c:v>0.79</c:v>
                </c:pt>
                <c:pt idx="2">
                  <c:v>0.494</c:v>
                </c:pt>
                <c:pt idx="3">
                  <c:v>0.566</c:v>
                </c:pt>
                <c:pt idx="4">
                  <c:v>0.787</c:v>
                </c:pt>
                <c:pt idx="5">
                  <c:v>0.469</c:v>
                </c:pt>
              </c:numCache>
            </c:numRef>
          </c:val>
        </c:ser>
        <c:ser>
          <c:idx val="1"/>
          <c:order val="1"/>
          <c:tx>
            <c:strRef>
              <c:f>Sheet1!$C$1</c:f>
              <c:strCache>
                <c:ptCount val="1"/>
                <c:pt idx="0">
                  <c:v>PR-AUC</c:v>
                </c:pt>
              </c:strCache>
            </c:strRef>
          </c:tx>
          <c:spPr>
            <a:solidFill>
              <a:srgbClr val="06B6D4"/>
            </a:solidFill>
            <a:effectLst/>
          </c:spPr>
          <c:invertIfNegative val="0"/>
          <c:dLbls>
            <c:numFmt formatCode="0.00" sourceLinked="0"/>
            <c:txPr>
              <a:bodyPr/>
              <a:lstStyle/>
              <a:p>
                <a:pPr>
                  <a:defRPr b="0" i="0" strike="noStrike" sz="1000" u="none">
                    <a:solidFill>
                      <a:srgbClr val="0B1220"/>
                    </a:solidFill>
                    <a:latin typeface="+mn-lt"/>
                  </a:defRPr>
                </a:pPr>
              </a:p>
            </c:txPr>
            <c:showLegendKey val="0"/>
            <c:showVal val="1"/>
            <c:showCatName val="0"/>
            <c:showSerName val="0"/>
            <c:showPercent val="0"/>
            <c:showBubbleSize val="0"/>
            <c:showLeaderLines val="0"/>
          </c:dLbls>
          <c:cat>
            <c:multiLvlStrRef>
              <c:f>Sheet1!$A$2:$A$7</c:f>
              <c:multiLvlStrCache>
                <c:ptCount val="6"/>
                <c:lvl>
                  <c:pt idx="0">
                    <c:v>Logistic Reg.</c:v>
                  </c:pt>
                  <c:pt idx="1">
                    <c:v>Random Forest</c:v>
                  </c:pt>
                  <c:pt idx="2">
                    <c:v>Static GraphSAGE</c:v>
                  </c:pt>
                  <c:pt idx="3">
                    <c:v>Adaptive GraphSAGE</c:v>
                  </c:pt>
                  <c:pt idx="4">
                    <c:v>Static HGB</c:v>
                  </c:pt>
                  <c:pt idx="5">
                    <c:v>Adaptive HGB</c:v>
                  </c:pt>
                </c:lvl>
              </c:multiLvlStrCache>
            </c:multiLvlStrRef>
          </c:cat>
          <c:val>
            <c:numRef>
              <c:f>Sheet1!$C$2:$C$7</c:f>
              <c:numCache>
                <c:formatCode>General</c:formatCode>
                <c:ptCount val="6"/>
                <c:pt idx="0">
                  <c:v>0.21</c:v>
                </c:pt>
                <c:pt idx="1">
                  <c:v>0.788</c:v>
                </c:pt>
                <c:pt idx="2">
                  <c:v>0.462</c:v>
                </c:pt>
                <c:pt idx="3">
                  <c:v>0.553</c:v>
                </c:pt>
                <c:pt idx="4">
                  <c:v>0.795</c:v>
                </c:pt>
                <c:pt idx="5">
                  <c:v>0.205</c:v>
                </c:pt>
              </c:numCache>
            </c:numRef>
          </c:val>
        </c:ser>
        <c:dLbls>
          <c:numFmt formatCode="0.00" sourceLinked="0"/>
          <c:txPr>
            <a:bodyPr/>
            <a:lstStyle/>
            <a:p>
              <a:pPr>
                <a:defRPr b="0" i="0" strike="noStrike" sz="1000" u="none">
                  <a:solidFill>
                    <a:srgbClr val="0B122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D5DDE8"/>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75569"/>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200">
              <a:solidFill>
                <a:srgbClr val="0B122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220"/>
                </a:solidFill>
                <a:latin typeface="+mn-lt"/>
              </a:defRPr>
            </a:pPr>
            <a:r>
              <a:rPr sz="1400" b="0" i="0" u="none" strike="noStrike">
                <a:solidFill>
                  <a:srgbClr val="0B1220"/>
                </a:solidFill>
                <a:latin typeface="+mn-lt"/>
              </a:rPr>
              <a:t>Test F1 by seed (frozen threshold 0.898)</a:t>
            </a:r>
          </a:p>
        </c:rich>
      </c:tx>
      <c:layout/>
      <c:overlay val="0"/>
    </c:title>
    <c:autoTitleDeleted val="0"/>
    <c:plotArea>
      <c:layout/>
      <c:barChart>
        <c:barDir val="col"/>
        <c:grouping val="clustered"/>
        <c:varyColors val="0"/>
        <c:ser>
          <c:idx val="0"/>
          <c:order val="0"/>
          <c:tx>
            <c:strRef>
              <c:f>Sheet1!$B$1</c:f>
              <c:strCache>
                <c:ptCount val="1"/>
                <c:pt idx="0">
                  <c:v>Static GraphSAGE</c:v>
                </c:pt>
              </c:strCache>
            </c:strRef>
          </c:tx>
          <c:spPr>
            <a:solidFill>
              <a:srgbClr val="A5B4FC"/>
            </a:solidFill>
            <a:effectLst/>
          </c:spPr>
          <c:invertIfNegative val="0"/>
          <c:dLbls>
            <c:numFmt formatCode="0.00" sourceLinked="0"/>
            <c:txPr>
              <a:bodyPr/>
              <a:lstStyle/>
              <a:p>
                <a:pPr>
                  <a:defRPr b="0" i="0" strike="noStrike" sz="1100" u="none">
                    <a:solidFill>
                      <a:srgbClr val="0B1220"/>
                    </a:solidFill>
                    <a:latin typeface="+mn-lt"/>
                  </a:defRPr>
                </a:pPr>
              </a:p>
            </c:txPr>
            <c:showLegendKey val="0"/>
            <c:showVal val="1"/>
            <c:showCatName val="0"/>
            <c:showSerName val="0"/>
            <c:showPercent val="0"/>
            <c:showBubbleSize val="0"/>
            <c:showLeaderLines val="0"/>
          </c:dLbls>
          <c:cat>
            <c:multiLvlStrRef>
              <c:f>Sheet1!$A$2:$A$6</c:f>
              <c:multiLvlStrCache>
                <c:ptCount val="5"/>
                <c:lvl>
                  <c:pt idx="0">
                    <c:v>Seed 42 (reference)</c:v>
                  </c:pt>
                  <c:pt idx="1">
                    <c:v>Seed 123</c:v>
                  </c:pt>
                  <c:pt idx="2">
                    <c:v>Seed 456</c:v>
                  </c:pt>
                  <c:pt idx="3">
                    <c:v>Seed 789</c:v>
                  </c:pt>
                  <c:pt idx="4">
                    <c:v>Seed 2024</c:v>
                  </c:pt>
                </c:lvl>
              </c:multiLvlStrCache>
            </c:multiLvlStrRef>
          </c:cat>
          <c:val>
            <c:numRef>
              <c:f>Sheet1!$B$2:$B$6</c:f>
              <c:numCache>
                <c:formatCode>General</c:formatCode>
                <c:ptCount val="5"/>
                <c:pt idx="0">
                  <c:v>0.5101</c:v>
                </c:pt>
                <c:pt idx="1">
                  <c:v>0.438</c:v>
                </c:pt>
                <c:pt idx="2">
                  <c:v>0.4622</c:v>
                </c:pt>
                <c:pt idx="3">
                  <c:v>0.5342</c:v>
                </c:pt>
                <c:pt idx="4">
                  <c:v>0.5258</c:v>
                </c:pt>
              </c:numCache>
            </c:numRef>
          </c:val>
        </c:ser>
        <c:ser>
          <c:idx val="1"/>
          <c:order val="1"/>
          <c:tx>
            <c:strRef>
              <c:f>Sheet1!$C$1</c:f>
              <c:strCache>
                <c:ptCount val="1"/>
                <c:pt idx="0">
                  <c:v>Adaptive GraphSAGE</c:v>
                </c:pt>
              </c:strCache>
            </c:strRef>
          </c:tx>
          <c:spPr>
            <a:solidFill>
              <a:srgbClr val="06B6D4"/>
            </a:solidFill>
            <a:effectLst/>
          </c:spPr>
          <c:invertIfNegative val="0"/>
          <c:dLbls>
            <c:numFmt formatCode="0.00" sourceLinked="0"/>
            <c:txPr>
              <a:bodyPr/>
              <a:lstStyle/>
              <a:p>
                <a:pPr>
                  <a:defRPr b="0" i="0" strike="noStrike" sz="1100" u="none">
                    <a:solidFill>
                      <a:srgbClr val="0B1220"/>
                    </a:solidFill>
                    <a:latin typeface="+mn-lt"/>
                  </a:defRPr>
                </a:pPr>
              </a:p>
            </c:txPr>
            <c:showLegendKey val="0"/>
            <c:showVal val="1"/>
            <c:showCatName val="0"/>
            <c:showSerName val="0"/>
            <c:showPercent val="0"/>
            <c:showBubbleSize val="0"/>
            <c:showLeaderLines val="0"/>
          </c:dLbls>
          <c:cat>
            <c:multiLvlStrRef>
              <c:f>Sheet1!$A$2:$A$6</c:f>
              <c:multiLvlStrCache>
                <c:ptCount val="5"/>
                <c:lvl>
                  <c:pt idx="0">
                    <c:v>Seed 42 (reference)</c:v>
                  </c:pt>
                  <c:pt idx="1">
                    <c:v>Seed 123</c:v>
                  </c:pt>
                  <c:pt idx="2">
                    <c:v>Seed 456</c:v>
                  </c:pt>
                  <c:pt idx="3">
                    <c:v>Seed 789</c:v>
                  </c:pt>
                  <c:pt idx="4">
                    <c:v>Seed 2024</c:v>
                  </c:pt>
                </c:lvl>
              </c:multiLvlStrCache>
            </c:multiLvlStrRef>
          </c:cat>
          <c:val>
            <c:numRef>
              <c:f>Sheet1!$C$2:$C$6</c:f>
              <c:numCache>
                <c:formatCode>General</c:formatCode>
                <c:ptCount val="5"/>
                <c:pt idx="0">
                  <c:v>0.5621</c:v>
                </c:pt>
                <c:pt idx="1">
                  <c:v>0.5372</c:v>
                </c:pt>
                <c:pt idx="2">
                  <c:v>0.5486</c:v>
                </c:pt>
                <c:pt idx="3">
                  <c:v>0.5984</c:v>
                </c:pt>
                <c:pt idx="4">
                  <c:v>0.584</c:v>
                </c:pt>
              </c:numCache>
            </c:numRef>
          </c:val>
        </c:ser>
        <c:dLbls>
          <c:numFmt formatCode="0.00" sourceLinked="0"/>
          <c:txPr>
            <a:bodyPr/>
            <a:lstStyle/>
            <a:p>
              <a:pPr>
                <a:defRPr b="0" i="0" strike="noStrike" sz="1100" u="none">
                  <a:solidFill>
                    <a:srgbClr val="0B1220"/>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max val="0.8"/>
          <c:min val="0"/>
        </c:scaling>
        <c:delete val="0"/>
        <c:axPos val="l"/>
        <c:majorGridlines>
          <c:spPr>
            <a:ln w="9525" cap="flat">
              <a:solidFill>
                <a:srgbClr val="D5DDE8"/>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75569"/>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200">
              <a:solidFill>
                <a:srgbClr val="0B122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220"/>
                </a:solidFill>
                <a:latin typeface="+mn-lt"/>
              </a:defRPr>
            </a:pPr>
            <a:r>
              <a:rPr sz="1400" b="0" i="0" u="none" strike="noStrike">
                <a:solidFill>
                  <a:srgbClr val="0B1220"/>
                </a:solidFill>
                <a:latin typeface="+mn-lt"/>
              </a:rPr>
              <a:t>Test F1 per time step (seed-42 GraphSAGE reference)</a:t>
            </a:r>
          </a:p>
        </c:rich>
      </c:tx>
      <c:layout/>
      <c:overlay val="0"/>
    </c:title>
    <c:autoTitleDeleted val="0"/>
    <c:plotArea>
      <c:layout/>
      <c:lineChart>
        <c:varyColors val="0"/>
        <c:ser>
          <c:idx val="0"/>
          <c:order val="0"/>
          <c:tx>
            <c:strRef>
              <c:f>Sheet1!$B$1</c:f>
              <c:strCache>
                <c:ptCount val="1"/>
                <c:pt idx="0">
                  <c:v>Random Forest</c:v>
                </c:pt>
              </c:strCache>
            </c:strRef>
          </c:tx>
          <c:spPr>
            <a:solidFill>
              <a:srgbClr val="10B981"/>
            </a:solidFill>
            <a:ln w="31750" cap="flat">
              <a:solidFill>
                <a:srgbClr val="10B981"/>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10B981"/>
              </a:solidFill>
              <a:ln w="9525" cap="flat">
                <a:solidFill>
                  <a:srgbClr val="10B981"/>
                </a:solidFill>
                <a:prstDash val="solid"/>
                <a:round/>
              </a:ln>
              <a:effectLst/>
            </c:spPr>
          </c:marker>
          <c:cat>
            <c:multiLvlStrRef>
              <c:f>Sheet1!$A$2:$A$16</c:f>
              <c:multiLvlStrCache>
                <c:ptCount val="15"/>
                <c:lvl>
                  <c:pt idx="0">
                    <c:v>35</c:v>
                  </c:pt>
                  <c:pt idx="1">
                    <c:v>36</c:v>
                  </c:pt>
                  <c:pt idx="2">
                    <c:v>37</c:v>
                  </c:pt>
                  <c:pt idx="3">
                    <c:v>38</c:v>
                  </c:pt>
                  <c:pt idx="4">
                    <c:v>39</c:v>
                  </c:pt>
                  <c:pt idx="5">
                    <c:v>40</c:v>
                  </c:pt>
                  <c:pt idx="6">
                    <c:v>41</c:v>
                  </c:pt>
                  <c:pt idx="7">
                    <c:v>42</c:v>
                  </c:pt>
                  <c:pt idx="8">
                    <c:v>43</c:v>
                  </c:pt>
                  <c:pt idx="9">
                    <c:v>44</c:v>
                  </c:pt>
                  <c:pt idx="10">
                    <c:v>45</c:v>
                  </c:pt>
                  <c:pt idx="11">
                    <c:v>46</c:v>
                  </c:pt>
                  <c:pt idx="12">
                    <c:v>47</c:v>
                  </c:pt>
                  <c:pt idx="13">
                    <c:v>48</c:v>
                  </c:pt>
                  <c:pt idx="14">
                    <c:v>49</c:v>
                  </c:pt>
                </c:lvl>
              </c:multiLvlStrCache>
            </c:multiLvlStrRef>
          </c:cat>
          <c:val>
            <c:numRef>
              <c:f>Sheet1!$B$2:$B$16</c:f>
              <c:numCache>
                <c:formatCode>General</c:formatCode>
                <c:ptCount val="15"/>
                <c:pt idx="0">
                  <c:v>0.9644</c:v>
                </c:pt>
                <c:pt idx="1">
                  <c:v>0.7937</c:v>
                </c:pt>
                <c:pt idx="2">
                  <c:v>0.7385</c:v>
                </c:pt>
                <c:pt idx="3">
                  <c:v>0.8629</c:v>
                </c:pt>
                <c:pt idx="4">
                  <c:v>0.9231</c:v>
                </c:pt>
                <c:pt idx="5">
                  <c:v>0.7553</c:v>
                </c:pt>
                <c:pt idx="6">
                  <c:v>0.9231</c:v>
                </c:pt>
                <c:pt idx="7">
                  <c:v>0.8684</c:v>
                </c:pt>
                <c:pt idx="8">
                  <c:v>0</c:v>
                </c:pt>
                <c:pt idx="9">
                  <c:v>0.0488</c:v>
                </c:pt>
                <c:pt idx="10">
                  <c:v>0</c:v>
                </c:pt>
                <c:pt idx="11">
                  <c:v>0.4</c:v>
                </c:pt>
                <c:pt idx="12">
                  <c:v>0</c:v>
                </c:pt>
                <c:pt idx="13">
                  <c:v>0</c:v>
                </c:pt>
                <c:pt idx="14">
                  <c:v>0.0333</c:v>
                </c:pt>
              </c:numCache>
            </c:numRef>
          </c:val>
          <c:smooth val="0"/>
        </c:ser>
        <c:ser>
          <c:idx val="1"/>
          <c:order val="1"/>
          <c:tx>
            <c:strRef>
              <c:f>Sheet1!$C$1</c:f>
              <c:strCache>
                <c:ptCount val="1"/>
                <c:pt idx="0">
                  <c:v>Static GraphSAGE</c:v>
                </c:pt>
              </c:strCache>
            </c:strRef>
          </c:tx>
          <c:spPr>
            <a:solidFill>
              <a:srgbClr val="A5B4FC"/>
            </a:solidFill>
            <a:ln w="31750" cap="flat">
              <a:solidFill>
                <a:srgbClr val="A5B4FC"/>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A5B4FC"/>
              </a:solidFill>
              <a:ln w="9525" cap="flat">
                <a:solidFill>
                  <a:srgbClr val="A5B4FC"/>
                </a:solidFill>
                <a:prstDash val="solid"/>
                <a:round/>
              </a:ln>
              <a:effectLst/>
            </c:spPr>
          </c:marker>
          <c:cat>
            <c:multiLvlStrRef>
              <c:f>Sheet1!$A$2:$A$16</c:f>
              <c:multiLvlStrCache>
                <c:ptCount val="15"/>
                <c:lvl>
                  <c:pt idx="0">
                    <c:v>35</c:v>
                  </c:pt>
                  <c:pt idx="1">
                    <c:v>36</c:v>
                  </c:pt>
                  <c:pt idx="2">
                    <c:v>37</c:v>
                  </c:pt>
                  <c:pt idx="3">
                    <c:v>38</c:v>
                  </c:pt>
                  <c:pt idx="4">
                    <c:v>39</c:v>
                  </c:pt>
                  <c:pt idx="5">
                    <c:v>40</c:v>
                  </c:pt>
                  <c:pt idx="6">
                    <c:v>41</c:v>
                  </c:pt>
                  <c:pt idx="7">
                    <c:v>42</c:v>
                  </c:pt>
                  <c:pt idx="8">
                    <c:v>43</c:v>
                  </c:pt>
                  <c:pt idx="9">
                    <c:v>44</c:v>
                  </c:pt>
                  <c:pt idx="10">
                    <c:v>45</c:v>
                  </c:pt>
                  <c:pt idx="11">
                    <c:v>46</c:v>
                  </c:pt>
                  <c:pt idx="12">
                    <c:v>47</c:v>
                  </c:pt>
                  <c:pt idx="13">
                    <c:v>48</c:v>
                  </c:pt>
                  <c:pt idx="14">
                    <c:v>49</c:v>
                  </c:pt>
                </c:lvl>
              </c:multiLvlStrCache>
            </c:multiLvlStrRef>
          </c:cat>
          <c:val>
            <c:numRef>
              <c:f>Sheet1!$C$2:$C$16</c:f>
              <c:numCache>
                <c:formatCode>General</c:formatCode>
                <c:ptCount val="15"/>
                <c:pt idx="0">
                  <c:v>0.7559</c:v>
                </c:pt>
                <c:pt idx="1">
                  <c:v>0.3125</c:v>
                </c:pt>
                <c:pt idx="2">
                  <c:v>0.4752</c:v>
                </c:pt>
                <c:pt idx="3">
                  <c:v>0.5836</c:v>
                </c:pt>
                <c:pt idx="4">
                  <c:v>0.7179</c:v>
                </c:pt>
                <c:pt idx="5">
                  <c:v>0.5276</c:v>
                </c:pt>
                <c:pt idx="6">
                  <c:v>0.5436</c:v>
                </c:pt>
                <c:pt idx="7">
                  <c:v>0.633</c:v>
                </c:pt>
                <c:pt idx="8">
                  <c:v>0</c:v>
                </c:pt>
                <c:pt idx="9">
                  <c:v>0.0426</c:v>
                </c:pt>
                <c:pt idx="10">
                  <c:v>0</c:v>
                </c:pt>
                <c:pt idx="11">
                  <c:v>0.0741</c:v>
                </c:pt>
                <c:pt idx="12">
                  <c:v>0</c:v>
                </c:pt>
                <c:pt idx="13">
                  <c:v>0</c:v>
                </c:pt>
                <c:pt idx="14">
                  <c:v>0.0233</c:v>
                </c:pt>
              </c:numCache>
            </c:numRef>
          </c:val>
          <c:smooth val="0"/>
        </c:ser>
        <c:ser>
          <c:idx val="2"/>
          <c:order val="2"/>
          <c:tx>
            <c:strRef>
              <c:f>Sheet1!$D$1</c:f>
              <c:strCache>
                <c:ptCount val="1"/>
                <c:pt idx="0">
                  <c:v>Adaptive GraphSAGE</c:v>
                </c:pt>
              </c:strCache>
            </c:strRef>
          </c:tx>
          <c:spPr>
            <a:solidFill>
              <a:srgbClr val="06B6D4"/>
            </a:solidFill>
            <a:ln w="31750" cap="flat">
              <a:solidFill>
                <a:srgbClr val="06B6D4"/>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06B6D4"/>
              </a:solidFill>
              <a:ln w="9525" cap="flat">
                <a:solidFill>
                  <a:srgbClr val="06B6D4"/>
                </a:solidFill>
                <a:prstDash val="solid"/>
                <a:round/>
              </a:ln>
              <a:effectLst/>
            </c:spPr>
          </c:marker>
          <c:cat>
            <c:multiLvlStrRef>
              <c:f>Sheet1!$A$2:$A$16</c:f>
              <c:multiLvlStrCache>
                <c:ptCount val="15"/>
                <c:lvl>
                  <c:pt idx="0">
                    <c:v>35</c:v>
                  </c:pt>
                  <c:pt idx="1">
                    <c:v>36</c:v>
                  </c:pt>
                  <c:pt idx="2">
                    <c:v>37</c:v>
                  </c:pt>
                  <c:pt idx="3">
                    <c:v>38</c:v>
                  </c:pt>
                  <c:pt idx="4">
                    <c:v>39</c:v>
                  </c:pt>
                  <c:pt idx="5">
                    <c:v>40</c:v>
                  </c:pt>
                  <c:pt idx="6">
                    <c:v>41</c:v>
                  </c:pt>
                  <c:pt idx="7">
                    <c:v>42</c:v>
                  </c:pt>
                  <c:pt idx="8">
                    <c:v>43</c:v>
                  </c:pt>
                  <c:pt idx="9">
                    <c:v>44</c:v>
                  </c:pt>
                  <c:pt idx="10">
                    <c:v>45</c:v>
                  </c:pt>
                  <c:pt idx="11">
                    <c:v>46</c:v>
                  </c:pt>
                  <c:pt idx="12">
                    <c:v>47</c:v>
                  </c:pt>
                  <c:pt idx="13">
                    <c:v>48</c:v>
                  </c:pt>
                  <c:pt idx="14">
                    <c:v>49</c:v>
                  </c:pt>
                </c:lvl>
              </c:multiLvlStrCache>
            </c:multiLvlStrRef>
          </c:cat>
          <c:val>
            <c:numRef>
              <c:f>Sheet1!$D$2:$D$16</c:f>
              <c:numCache>
                <c:formatCode>General</c:formatCode>
                <c:ptCount val="15"/>
                <c:pt idx="0">
                  <c:v>0.7559</c:v>
                </c:pt>
                <c:pt idx="1">
                  <c:v>0.3385</c:v>
                </c:pt>
                <c:pt idx="2">
                  <c:v>0.6047</c:v>
                </c:pt>
                <c:pt idx="3">
                  <c:v>0.7679</c:v>
                </c:pt>
                <c:pt idx="4">
                  <c:v>0.7562</c:v>
                </c:pt>
                <c:pt idx="5">
                  <c:v>0.5576</c:v>
                </c:pt>
                <c:pt idx="6">
                  <c:v>0.6347</c:v>
                </c:pt>
                <c:pt idx="7">
                  <c:v>0.6617</c:v>
                </c:pt>
                <c:pt idx="8">
                  <c:v>0</c:v>
                </c:pt>
                <c:pt idx="9">
                  <c:v>0.0364</c:v>
                </c:pt>
                <c:pt idx="10">
                  <c:v>0</c:v>
                </c:pt>
                <c:pt idx="11">
                  <c:v>0.0909</c:v>
                </c:pt>
                <c:pt idx="12">
                  <c:v>0</c:v>
                </c:pt>
                <c:pt idx="13">
                  <c:v>0</c:v>
                </c:pt>
                <c:pt idx="14">
                  <c:v>0</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475569"/>
                    </a:solidFill>
                    <a:latin typeface="+mn-lt"/>
                  </a:defRPr>
                </a:pPr>
                <a:r>
                  <a:rPr sz="1100" b="0" i="0" u="none" strike="noStrike">
                    <a:solidFill>
                      <a:srgbClr val="475569"/>
                    </a:solidFill>
                    <a:latin typeface="+mn-lt"/>
                  </a:rPr>
                  <a:t>time step</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D5DDE8"/>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75569"/>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200">
              <a:solidFill>
                <a:srgbClr val="0B122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220"/>
                </a:solidFill>
                <a:latin typeface="+mn-lt"/>
              </a:defRPr>
            </a:pPr>
            <a:r>
              <a:rPr sz="1400" b="0" i="0" u="none" strike="noStrike">
                <a:solidFill>
                  <a:srgbClr val="0B1220"/>
                </a:solidFill>
                <a:latin typeface="+mn-lt"/>
              </a:rPr>
              <a:t>Test F1 per time step (5-seed mean)</a:t>
            </a:r>
          </a:p>
        </c:rich>
      </c:tx>
      <c:layout/>
      <c:overlay val="0"/>
    </c:title>
    <c:autoTitleDeleted val="0"/>
    <c:plotArea>
      <c:layout/>
      <c:lineChart>
        <c:varyColors val="0"/>
        <c:ser>
          <c:idx val="0"/>
          <c:order val="0"/>
          <c:tx>
            <c:strRef>
              <c:f>Sheet1!$B$1</c:f>
              <c:strCache>
                <c:ptCount val="1"/>
                <c:pt idx="0">
                  <c:v>Static HGB</c:v>
                </c:pt>
              </c:strCache>
            </c:strRef>
          </c:tx>
          <c:spPr>
            <a:solidFill>
              <a:srgbClr val="10B981"/>
            </a:solidFill>
            <a:ln w="31750" cap="flat">
              <a:solidFill>
                <a:srgbClr val="10B981"/>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10B981"/>
              </a:solidFill>
              <a:ln w="9525" cap="flat">
                <a:solidFill>
                  <a:srgbClr val="10B981"/>
                </a:solidFill>
                <a:prstDash val="solid"/>
                <a:round/>
              </a:ln>
              <a:effectLst/>
            </c:spPr>
          </c:marker>
          <c:cat>
            <c:multiLvlStrRef>
              <c:f>Sheet1!$A$2:$A$16</c:f>
              <c:multiLvlStrCache>
                <c:ptCount val="15"/>
                <c:lvl>
                  <c:pt idx="0">
                    <c:v>35</c:v>
                  </c:pt>
                  <c:pt idx="1">
                    <c:v>36</c:v>
                  </c:pt>
                  <c:pt idx="2">
                    <c:v>37</c:v>
                  </c:pt>
                  <c:pt idx="3">
                    <c:v>38</c:v>
                  </c:pt>
                  <c:pt idx="4">
                    <c:v>39</c:v>
                  </c:pt>
                  <c:pt idx="5">
                    <c:v>40</c:v>
                  </c:pt>
                  <c:pt idx="6">
                    <c:v>41</c:v>
                  </c:pt>
                  <c:pt idx="7">
                    <c:v>42</c:v>
                  </c:pt>
                  <c:pt idx="8">
                    <c:v>43</c:v>
                  </c:pt>
                  <c:pt idx="9">
                    <c:v>44</c:v>
                  </c:pt>
                  <c:pt idx="10">
                    <c:v>45</c:v>
                  </c:pt>
                  <c:pt idx="11">
                    <c:v>46</c:v>
                  </c:pt>
                  <c:pt idx="12">
                    <c:v>47</c:v>
                  </c:pt>
                  <c:pt idx="13">
                    <c:v>48</c:v>
                  </c:pt>
                  <c:pt idx="14">
                    <c:v>49</c:v>
                  </c:pt>
                </c:lvl>
              </c:multiLvlStrCache>
            </c:multiLvlStrRef>
          </c:cat>
          <c:val>
            <c:numRef>
              <c:f>Sheet1!$B$2:$B$16</c:f>
              <c:numCache>
                <c:formatCode>General</c:formatCode>
                <c:ptCount val="15"/>
                <c:pt idx="0">
                  <c:v>0.9598</c:v>
                </c:pt>
                <c:pt idx="1">
                  <c:v>0.8683</c:v>
                </c:pt>
                <c:pt idx="2">
                  <c:v>0.7454</c:v>
                </c:pt>
                <c:pt idx="3">
                  <c:v>0.9278</c:v>
                </c:pt>
                <c:pt idx="4">
                  <c:v>0.9008</c:v>
                </c:pt>
                <c:pt idx="5">
                  <c:v>0.7464</c:v>
                </c:pt>
                <c:pt idx="6">
                  <c:v>0.9469</c:v>
                </c:pt>
                <c:pt idx="7">
                  <c:v>0.8537</c:v>
                </c:pt>
                <c:pt idx="8">
                  <c:v>0</c:v>
                </c:pt>
                <c:pt idx="9">
                  <c:v>0.0503</c:v>
                </c:pt>
                <c:pt idx="10">
                  <c:v>0</c:v>
                </c:pt>
                <c:pt idx="11">
                  <c:v>0.05</c:v>
                </c:pt>
                <c:pt idx="12">
                  <c:v>0</c:v>
                </c:pt>
                <c:pt idx="13">
                  <c:v>0</c:v>
                </c:pt>
                <c:pt idx="14">
                  <c:v>0.0062</c:v>
                </c:pt>
              </c:numCache>
            </c:numRef>
          </c:val>
          <c:smooth val="0"/>
        </c:ser>
        <c:ser>
          <c:idx val="1"/>
          <c:order val="1"/>
          <c:tx>
            <c:strRef>
              <c:f>Sheet1!$C$1</c:f>
              <c:strCache>
                <c:ptCount val="1"/>
                <c:pt idx="0">
                  <c:v>Adaptive HGB</c:v>
                </c:pt>
              </c:strCache>
            </c:strRef>
          </c:tx>
          <c:spPr>
            <a:solidFill>
              <a:srgbClr val="F43F5E"/>
            </a:solidFill>
            <a:ln w="31750" cap="flat">
              <a:solidFill>
                <a:srgbClr val="F43F5E"/>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F43F5E"/>
              </a:solidFill>
              <a:ln w="9525" cap="flat">
                <a:solidFill>
                  <a:srgbClr val="F43F5E"/>
                </a:solidFill>
                <a:prstDash val="solid"/>
                <a:round/>
              </a:ln>
              <a:effectLst/>
            </c:spPr>
          </c:marker>
          <c:cat>
            <c:multiLvlStrRef>
              <c:f>Sheet1!$A$2:$A$16</c:f>
              <c:multiLvlStrCache>
                <c:ptCount val="15"/>
                <c:lvl>
                  <c:pt idx="0">
                    <c:v>35</c:v>
                  </c:pt>
                  <c:pt idx="1">
                    <c:v>36</c:v>
                  </c:pt>
                  <c:pt idx="2">
                    <c:v>37</c:v>
                  </c:pt>
                  <c:pt idx="3">
                    <c:v>38</c:v>
                  </c:pt>
                  <c:pt idx="4">
                    <c:v>39</c:v>
                  </c:pt>
                  <c:pt idx="5">
                    <c:v>40</c:v>
                  </c:pt>
                  <c:pt idx="6">
                    <c:v>41</c:v>
                  </c:pt>
                  <c:pt idx="7">
                    <c:v>42</c:v>
                  </c:pt>
                  <c:pt idx="8">
                    <c:v>43</c:v>
                  </c:pt>
                  <c:pt idx="9">
                    <c:v>44</c:v>
                  </c:pt>
                  <c:pt idx="10">
                    <c:v>45</c:v>
                  </c:pt>
                  <c:pt idx="11">
                    <c:v>46</c:v>
                  </c:pt>
                  <c:pt idx="12">
                    <c:v>47</c:v>
                  </c:pt>
                  <c:pt idx="13">
                    <c:v>48</c:v>
                  </c:pt>
                  <c:pt idx="14">
                    <c:v>49</c:v>
                  </c:pt>
                </c:lvl>
              </c:multiLvlStrCache>
            </c:multiLvlStrRef>
          </c:cat>
          <c:val>
            <c:numRef>
              <c:f>Sheet1!$C$2:$C$16</c:f>
              <c:numCache>
                <c:formatCode>General</c:formatCode>
                <c:ptCount val="15"/>
                <c:pt idx="0">
                  <c:v>0.9598</c:v>
                </c:pt>
                <c:pt idx="1">
                  <c:v>0.841</c:v>
                </c:pt>
                <c:pt idx="2">
                  <c:v>0.756</c:v>
                </c:pt>
                <c:pt idx="3">
                  <c:v>0.7916</c:v>
                </c:pt>
                <c:pt idx="4">
                  <c:v>0.6339</c:v>
                </c:pt>
                <c:pt idx="5">
                  <c:v>0.5715</c:v>
                </c:pt>
                <c:pt idx="6">
                  <c:v>0.4764</c:v>
                </c:pt>
                <c:pt idx="7">
                  <c:v>0.5881</c:v>
                </c:pt>
                <c:pt idx="8">
                  <c:v>0.062</c:v>
                </c:pt>
                <c:pt idx="9">
                  <c:v>0.0353</c:v>
                </c:pt>
                <c:pt idx="10">
                  <c:v>0.0053</c:v>
                </c:pt>
                <c:pt idx="11">
                  <c:v>0.0165</c:v>
                </c:pt>
                <c:pt idx="12">
                  <c:v>0.1305</c:v>
                </c:pt>
                <c:pt idx="13">
                  <c:v>0.1654</c:v>
                </c:pt>
                <c:pt idx="14">
                  <c:v>0.2061</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D5DDE8"/>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75569"/>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200">
              <a:solidFill>
                <a:srgbClr val="0B122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 Welcome. The question: when fraud patterns drift and confirmed labels arrive late, does a graph model that keeps learning from newly revealed labels do better than a frozen one? We test it on the Elliptic Bitcoin graph with a strict chronological split. Replace the Speaker A-D pills with your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 One-slide summary. Three numbers: adaptation helps GraphSAGE (0.494 to 0.566, all five seeds), Random Forest is still far ahead at 0.790, and the same feedback applied to a boosted tree hurt it (0.787 to 0.469). We report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 Two real-world facts motivate the study: fraud behaviour drifts, and labels arrive late. The Elliptic dataset gives us 49 time-step snapshots of the Bitcoin graph with licit, illicit and unknown labels. Our question is two-part: does adaptation help, and is that specific to graph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 The test period is entirely in the future of training. We tune on validation only. Note how the illicit share swings and drops after t=43; that matters later when per-step results get noisy.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 Four safeguards. Time-ordered split; thresholds from validation only; unknown labels excluded from loss and metrics; and every prediction is frozen before its labels are used. 147 tests check these. One honest caveat: the released features were standardised by the dataset authors and we cannot verify which time steps were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 The loop: predict the step, freeze the predictions, reveal that step's labels after a one-step delay, take one small gradient step, move on. It is plain online fine-tuning. It is not RL or meta-learning, and the delay is an assumption we chose, not a property of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 The finalists were frozen in writing before the final test evaluation. HGB is a context model: it answers whether a tree also gains from the same feedback. GraphSAGE beat GCN in Phase 5, so GraphSAGE is the graph model carried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C. Test results at validation-frozen thresholds. Random Forest 0.790 and static HGB 0.787 are well ahead of GraphSAGE. Adaptation lifts GraphSAGE from 0.494 to 0.566. The same idea applied to HGB cuts it to 0.469.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C. Every seed improves, and the spread narrows. We do not claim statistical significance: five seeds, temporally ordered steps. Seed 42 is the Phase 5-6 reference checkpoint, which cannot be regenerated exactly from a bare seed; we disclose that. A longer delay reduces the 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C. Per-step F1. The adaptive curve sits above the static one in the first eight test steps, then everything drops: even Random Forest scores almost nothing from t=43. This is a description, not an explanation; we do not call t=43 a proven regime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 Why does Random Forest win? We tried six diagnostics. An MLP using only features matches plain GraphSAGE. Adding graph features to trees or smoothing their scores did not help. The one real graph-side gain, direction-aware GraphSAGE, is validation-only. Our unverified hypothesis: features f94-f165 already carry neighbour aggregates. GraphSAGE also degrades under drift: validation PR-AUC 0.864 falls to 0.430 on test, while the tree holds 0.795.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 We gave HGB the same delayed feedback through warm-start boosting. It matches static at t=35, then degrades step by step. We did not tune it afterwards. What it shows: adaptation is not automatic. What it does not show: that graph models adapt better, because the update sizes are not comparable. The earlier validation check predicted only a mild drop, so validation walks under-predicted the harm.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 State the limitations before the examiners do. The most important: a simulated delay, one dataset, and that the earlier models' test results were looked at in earlier phases, though nothing was tuned on test. Future work is listed, not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 Three conclusions and what we do not claim. On Elliptic a static tree ensemble is the best detector. Adaptation gives GraphSAGE a real but modest gain under a simulated delay. And adaptation is not automatic. Then take questions; use the viva document for ownership of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1F5F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784080" cy="868680"/>
          </a:xfrm>
          <a:prstGeom prst="rect">
            <a:avLst/>
          </a:prstGeom>
          <a:noFill/>
          <a:ln/>
        </p:spPr>
        <p:txBody>
          <a:bodyPr wrap="square" rtlCol="0"/>
          <a:lstStyle>
            <a:lvl1pPr algn="l" indent="0" marL="0">
              <a:buNone/>
              <a:defRPr lang="en-US" sz="3200" b="1" dirty="0">
                <a:solidFill>
                  <a:srgbClr val="0B1220"/>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12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784080" cy="868680"/>
          </a:xfrm>
          <a:prstGeom prst="rect">
            <a:avLst/>
          </a:prstGeom>
          <a:noFill/>
          <a:ln/>
        </p:spPr>
        <p:txBody>
          <a:bodyPr wrap="square" rtlCol="0"/>
          <a:lstStyle>
            <a:lvl1pPr algn="l" indent="0" marL="0">
              <a:buNone/>
              <a:defRPr lang="en-US" sz="32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0B12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600200"/>
            <a:ext cx="6309360" cy="265176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image" Target="../media/image-12-1.png"/><Relationship Id="rId3" Type="http://schemas.openxmlformats.org/officeDocument/2006/relationships/image" Target="../media/image-12-2.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flipV="1">
            <a:off x="7863840" y="548640"/>
            <a:ext cx="1371600" cy="274320"/>
          </a:xfrm>
          <a:prstGeom prst="line">
            <a:avLst/>
          </a:prstGeom>
          <a:noFill/>
          <a:ln w="12700">
            <a:solidFill>
              <a:srgbClr val="38BDF8">
                <a:alpha val="28000"/>
              </a:srgbClr>
            </a:solidFill>
            <a:prstDash val="solid"/>
          </a:ln>
        </p:spPr>
      </p:sp>
      <p:sp>
        <p:nvSpPr>
          <p:cNvPr id="3" name="Shape 1"/>
          <p:cNvSpPr/>
          <p:nvPr/>
        </p:nvSpPr>
        <p:spPr>
          <a:xfrm>
            <a:off x="7863840" y="822960"/>
            <a:ext cx="731520" cy="1005840"/>
          </a:xfrm>
          <a:prstGeom prst="line">
            <a:avLst/>
          </a:prstGeom>
          <a:noFill/>
          <a:ln w="12700">
            <a:solidFill>
              <a:srgbClr val="38BDF8">
                <a:alpha val="28000"/>
              </a:srgbClr>
            </a:solidFill>
            <a:prstDash val="solid"/>
          </a:ln>
        </p:spPr>
      </p:sp>
      <p:sp>
        <p:nvSpPr>
          <p:cNvPr id="4" name="Shape 2"/>
          <p:cNvSpPr/>
          <p:nvPr/>
        </p:nvSpPr>
        <p:spPr>
          <a:xfrm>
            <a:off x="7863840" y="822960"/>
            <a:ext cx="1737360" cy="548640"/>
          </a:xfrm>
          <a:prstGeom prst="line">
            <a:avLst/>
          </a:prstGeom>
          <a:noFill/>
          <a:ln w="12700">
            <a:solidFill>
              <a:srgbClr val="38BDF8">
                <a:alpha val="28000"/>
              </a:srgbClr>
            </a:solidFill>
            <a:prstDash val="solid"/>
          </a:ln>
        </p:spPr>
      </p:sp>
      <p:sp>
        <p:nvSpPr>
          <p:cNvPr id="5" name="Shape 3"/>
          <p:cNvSpPr/>
          <p:nvPr/>
        </p:nvSpPr>
        <p:spPr>
          <a:xfrm>
            <a:off x="9235440" y="548640"/>
            <a:ext cx="1463040" cy="457200"/>
          </a:xfrm>
          <a:prstGeom prst="line">
            <a:avLst/>
          </a:prstGeom>
          <a:noFill/>
          <a:ln w="12700">
            <a:solidFill>
              <a:srgbClr val="38BDF8">
                <a:alpha val="28000"/>
              </a:srgbClr>
            </a:solidFill>
            <a:prstDash val="solid"/>
          </a:ln>
        </p:spPr>
      </p:sp>
      <p:sp>
        <p:nvSpPr>
          <p:cNvPr id="6" name="Shape 4"/>
          <p:cNvSpPr/>
          <p:nvPr/>
        </p:nvSpPr>
        <p:spPr>
          <a:xfrm flipV="1">
            <a:off x="8595360" y="548640"/>
            <a:ext cx="640080" cy="1280160"/>
          </a:xfrm>
          <a:prstGeom prst="line">
            <a:avLst/>
          </a:prstGeom>
          <a:noFill/>
          <a:ln w="12700">
            <a:solidFill>
              <a:srgbClr val="38BDF8">
                <a:alpha val="28000"/>
              </a:srgbClr>
            </a:solidFill>
            <a:prstDash val="solid"/>
          </a:ln>
        </p:spPr>
      </p:sp>
      <p:sp>
        <p:nvSpPr>
          <p:cNvPr id="7" name="Shape 5"/>
          <p:cNvSpPr/>
          <p:nvPr/>
        </p:nvSpPr>
        <p:spPr>
          <a:xfrm>
            <a:off x="9235440" y="548640"/>
            <a:ext cx="731520" cy="1737360"/>
          </a:xfrm>
          <a:prstGeom prst="line">
            <a:avLst/>
          </a:prstGeom>
          <a:noFill/>
          <a:ln w="12700">
            <a:solidFill>
              <a:srgbClr val="38BDF8">
                <a:alpha val="28000"/>
              </a:srgbClr>
            </a:solidFill>
            <a:prstDash val="solid"/>
          </a:ln>
        </p:spPr>
      </p:sp>
      <p:sp>
        <p:nvSpPr>
          <p:cNvPr id="8" name="Shape 6"/>
          <p:cNvSpPr/>
          <p:nvPr/>
        </p:nvSpPr>
        <p:spPr>
          <a:xfrm>
            <a:off x="9235440" y="548640"/>
            <a:ext cx="365760" cy="822960"/>
          </a:xfrm>
          <a:prstGeom prst="line">
            <a:avLst/>
          </a:prstGeom>
          <a:noFill/>
          <a:ln w="12700">
            <a:solidFill>
              <a:srgbClr val="38BDF8">
                <a:alpha val="28000"/>
              </a:srgbClr>
            </a:solidFill>
            <a:prstDash val="solid"/>
          </a:ln>
        </p:spPr>
      </p:sp>
      <p:sp>
        <p:nvSpPr>
          <p:cNvPr id="9" name="Shape 7"/>
          <p:cNvSpPr/>
          <p:nvPr/>
        </p:nvSpPr>
        <p:spPr>
          <a:xfrm>
            <a:off x="10698480" y="1005840"/>
            <a:ext cx="822960" cy="1005840"/>
          </a:xfrm>
          <a:prstGeom prst="line">
            <a:avLst/>
          </a:prstGeom>
          <a:noFill/>
          <a:ln w="12700">
            <a:solidFill>
              <a:srgbClr val="38BDF8">
                <a:alpha val="28000"/>
              </a:srgbClr>
            </a:solidFill>
            <a:prstDash val="solid"/>
          </a:ln>
        </p:spPr>
      </p:sp>
      <p:sp>
        <p:nvSpPr>
          <p:cNvPr id="10" name="Shape 8"/>
          <p:cNvSpPr/>
          <p:nvPr/>
        </p:nvSpPr>
        <p:spPr>
          <a:xfrm flipV="1">
            <a:off x="9966960" y="1005840"/>
            <a:ext cx="731520" cy="1280160"/>
          </a:xfrm>
          <a:prstGeom prst="line">
            <a:avLst/>
          </a:prstGeom>
          <a:noFill/>
          <a:ln w="12700">
            <a:solidFill>
              <a:srgbClr val="38BDF8">
                <a:alpha val="28000"/>
              </a:srgbClr>
            </a:solidFill>
            <a:prstDash val="solid"/>
          </a:ln>
        </p:spPr>
      </p:sp>
      <p:sp>
        <p:nvSpPr>
          <p:cNvPr id="11" name="Shape 9"/>
          <p:cNvSpPr/>
          <p:nvPr/>
        </p:nvSpPr>
        <p:spPr>
          <a:xfrm flipV="1">
            <a:off x="10698480" y="548640"/>
            <a:ext cx="914400" cy="457200"/>
          </a:xfrm>
          <a:prstGeom prst="line">
            <a:avLst/>
          </a:prstGeom>
          <a:noFill/>
          <a:ln w="12700">
            <a:solidFill>
              <a:srgbClr val="38BDF8">
                <a:alpha val="28000"/>
              </a:srgbClr>
            </a:solidFill>
            <a:prstDash val="solid"/>
          </a:ln>
        </p:spPr>
      </p:sp>
      <p:sp>
        <p:nvSpPr>
          <p:cNvPr id="12" name="Shape 10"/>
          <p:cNvSpPr/>
          <p:nvPr/>
        </p:nvSpPr>
        <p:spPr>
          <a:xfrm flipV="1">
            <a:off x="9601200" y="1005840"/>
            <a:ext cx="1097280" cy="365760"/>
          </a:xfrm>
          <a:prstGeom prst="line">
            <a:avLst/>
          </a:prstGeom>
          <a:noFill/>
          <a:ln w="12700">
            <a:solidFill>
              <a:srgbClr val="38BDF8">
                <a:alpha val="28000"/>
              </a:srgbClr>
            </a:solidFill>
            <a:prstDash val="solid"/>
          </a:ln>
        </p:spPr>
      </p:sp>
      <p:sp>
        <p:nvSpPr>
          <p:cNvPr id="13" name="Shape 11"/>
          <p:cNvSpPr/>
          <p:nvPr/>
        </p:nvSpPr>
        <p:spPr>
          <a:xfrm flipV="1">
            <a:off x="9966960" y="2011680"/>
            <a:ext cx="1554480" cy="274320"/>
          </a:xfrm>
          <a:prstGeom prst="line">
            <a:avLst/>
          </a:prstGeom>
          <a:noFill/>
          <a:ln w="12700">
            <a:solidFill>
              <a:srgbClr val="38BDF8">
                <a:alpha val="28000"/>
              </a:srgbClr>
            </a:solidFill>
            <a:prstDash val="solid"/>
          </a:ln>
        </p:spPr>
      </p:sp>
      <p:sp>
        <p:nvSpPr>
          <p:cNvPr id="14" name="Shape 12"/>
          <p:cNvSpPr/>
          <p:nvPr/>
        </p:nvSpPr>
        <p:spPr>
          <a:xfrm flipV="1">
            <a:off x="10972800" y="2011680"/>
            <a:ext cx="548640" cy="1280160"/>
          </a:xfrm>
          <a:prstGeom prst="line">
            <a:avLst/>
          </a:prstGeom>
          <a:noFill/>
          <a:ln w="19050">
            <a:solidFill>
              <a:srgbClr val="F43F5E">
                <a:alpha val="65000"/>
              </a:srgbClr>
            </a:solidFill>
            <a:prstDash val="solid"/>
          </a:ln>
        </p:spPr>
      </p:sp>
      <p:sp>
        <p:nvSpPr>
          <p:cNvPr id="15" name="Shape 13"/>
          <p:cNvSpPr/>
          <p:nvPr/>
        </p:nvSpPr>
        <p:spPr>
          <a:xfrm flipV="1">
            <a:off x="11521440" y="548640"/>
            <a:ext cx="91440" cy="1463040"/>
          </a:xfrm>
          <a:prstGeom prst="line">
            <a:avLst/>
          </a:prstGeom>
          <a:noFill/>
          <a:ln w="12700">
            <a:solidFill>
              <a:srgbClr val="38BDF8">
                <a:alpha val="28000"/>
              </a:srgbClr>
            </a:solidFill>
            <a:prstDash val="solid"/>
          </a:ln>
        </p:spPr>
      </p:sp>
      <p:sp>
        <p:nvSpPr>
          <p:cNvPr id="16" name="Shape 14"/>
          <p:cNvSpPr/>
          <p:nvPr/>
        </p:nvSpPr>
        <p:spPr>
          <a:xfrm>
            <a:off x="8595360" y="1828800"/>
            <a:ext cx="1371600" cy="457200"/>
          </a:xfrm>
          <a:prstGeom prst="line">
            <a:avLst/>
          </a:prstGeom>
          <a:noFill/>
          <a:ln w="12700">
            <a:solidFill>
              <a:srgbClr val="38BDF8">
                <a:alpha val="28000"/>
              </a:srgbClr>
            </a:solidFill>
            <a:prstDash val="solid"/>
          </a:ln>
        </p:spPr>
      </p:sp>
      <p:sp>
        <p:nvSpPr>
          <p:cNvPr id="17" name="Shape 15"/>
          <p:cNvSpPr/>
          <p:nvPr/>
        </p:nvSpPr>
        <p:spPr>
          <a:xfrm flipV="1">
            <a:off x="7589520" y="1828800"/>
            <a:ext cx="1005840" cy="1097280"/>
          </a:xfrm>
          <a:prstGeom prst="line">
            <a:avLst/>
          </a:prstGeom>
          <a:noFill/>
          <a:ln w="12700">
            <a:solidFill>
              <a:srgbClr val="38BDF8">
                <a:alpha val="28000"/>
              </a:srgbClr>
            </a:solidFill>
            <a:prstDash val="solid"/>
          </a:ln>
        </p:spPr>
      </p:sp>
      <p:sp>
        <p:nvSpPr>
          <p:cNvPr id="18" name="Shape 16"/>
          <p:cNvSpPr/>
          <p:nvPr/>
        </p:nvSpPr>
        <p:spPr>
          <a:xfrm>
            <a:off x="8595360" y="1828800"/>
            <a:ext cx="365760" cy="1645920"/>
          </a:xfrm>
          <a:prstGeom prst="line">
            <a:avLst/>
          </a:prstGeom>
          <a:noFill/>
          <a:ln w="12700">
            <a:solidFill>
              <a:srgbClr val="38BDF8">
                <a:alpha val="28000"/>
              </a:srgbClr>
            </a:solidFill>
            <a:prstDash val="solid"/>
          </a:ln>
        </p:spPr>
      </p:sp>
      <p:sp>
        <p:nvSpPr>
          <p:cNvPr id="19" name="Shape 17"/>
          <p:cNvSpPr/>
          <p:nvPr/>
        </p:nvSpPr>
        <p:spPr>
          <a:xfrm flipV="1">
            <a:off x="8595360" y="1371600"/>
            <a:ext cx="1005840" cy="457200"/>
          </a:xfrm>
          <a:prstGeom prst="line">
            <a:avLst/>
          </a:prstGeom>
          <a:noFill/>
          <a:ln w="12700">
            <a:solidFill>
              <a:srgbClr val="38BDF8">
                <a:alpha val="28000"/>
              </a:srgbClr>
            </a:solidFill>
            <a:prstDash val="solid"/>
          </a:ln>
        </p:spPr>
      </p:sp>
      <p:sp>
        <p:nvSpPr>
          <p:cNvPr id="20" name="Shape 18"/>
          <p:cNvSpPr/>
          <p:nvPr/>
        </p:nvSpPr>
        <p:spPr>
          <a:xfrm>
            <a:off x="9966960" y="2286000"/>
            <a:ext cx="1005840" cy="1005840"/>
          </a:xfrm>
          <a:prstGeom prst="line">
            <a:avLst/>
          </a:prstGeom>
          <a:noFill/>
          <a:ln w="19050">
            <a:solidFill>
              <a:srgbClr val="F43F5E">
                <a:alpha val="65000"/>
              </a:srgbClr>
            </a:solidFill>
            <a:prstDash val="solid"/>
          </a:ln>
        </p:spPr>
      </p:sp>
      <p:sp>
        <p:nvSpPr>
          <p:cNvPr id="21" name="Shape 19"/>
          <p:cNvSpPr/>
          <p:nvPr/>
        </p:nvSpPr>
        <p:spPr>
          <a:xfrm flipV="1">
            <a:off x="8961120" y="2286000"/>
            <a:ext cx="1005840" cy="1188720"/>
          </a:xfrm>
          <a:prstGeom prst="line">
            <a:avLst/>
          </a:prstGeom>
          <a:noFill/>
          <a:ln w="12700">
            <a:solidFill>
              <a:srgbClr val="38BDF8">
                <a:alpha val="28000"/>
              </a:srgbClr>
            </a:solidFill>
            <a:prstDash val="solid"/>
          </a:ln>
        </p:spPr>
      </p:sp>
      <p:sp>
        <p:nvSpPr>
          <p:cNvPr id="22" name="Shape 20"/>
          <p:cNvSpPr/>
          <p:nvPr/>
        </p:nvSpPr>
        <p:spPr>
          <a:xfrm>
            <a:off x="9601200" y="1371600"/>
            <a:ext cx="365760" cy="914400"/>
          </a:xfrm>
          <a:prstGeom prst="line">
            <a:avLst/>
          </a:prstGeom>
          <a:noFill/>
          <a:ln w="12700">
            <a:solidFill>
              <a:srgbClr val="38BDF8">
                <a:alpha val="28000"/>
              </a:srgbClr>
            </a:solidFill>
            <a:prstDash val="solid"/>
          </a:ln>
        </p:spPr>
      </p:sp>
      <p:sp>
        <p:nvSpPr>
          <p:cNvPr id="23" name="Shape 21"/>
          <p:cNvSpPr/>
          <p:nvPr/>
        </p:nvSpPr>
        <p:spPr>
          <a:xfrm>
            <a:off x="7589520" y="2926080"/>
            <a:ext cx="1371600" cy="548640"/>
          </a:xfrm>
          <a:prstGeom prst="line">
            <a:avLst/>
          </a:prstGeom>
          <a:noFill/>
          <a:ln w="12700">
            <a:solidFill>
              <a:srgbClr val="38BDF8">
                <a:alpha val="28000"/>
              </a:srgbClr>
            </a:solidFill>
            <a:prstDash val="solid"/>
          </a:ln>
        </p:spPr>
      </p:sp>
      <p:sp>
        <p:nvSpPr>
          <p:cNvPr id="24" name="Shape 22"/>
          <p:cNvSpPr/>
          <p:nvPr/>
        </p:nvSpPr>
        <p:spPr>
          <a:xfrm>
            <a:off x="7589520" y="2926080"/>
            <a:ext cx="457200" cy="1645920"/>
          </a:xfrm>
          <a:prstGeom prst="line">
            <a:avLst/>
          </a:prstGeom>
          <a:noFill/>
          <a:ln w="12700">
            <a:solidFill>
              <a:srgbClr val="38BDF8">
                <a:alpha val="28000"/>
              </a:srgbClr>
            </a:solidFill>
            <a:prstDash val="solid"/>
          </a:ln>
        </p:spPr>
      </p:sp>
      <p:sp>
        <p:nvSpPr>
          <p:cNvPr id="25" name="Shape 23"/>
          <p:cNvSpPr/>
          <p:nvPr/>
        </p:nvSpPr>
        <p:spPr>
          <a:xfrm flipV="1">
            <a:off x="10149840" y="3291840"/>
            <a:ext cx="822960" cy="1005840"/>
          </a:xfrm>
          <a:prstGeom prst="line">
            <a:avLst/>
          </a:prstGeom>
          <a:noFill/>
          <a:ln w="19050">
            <a:solidFill>
              <a:srgbClr val="F43F5E">
                <a:alpha val="65000"/>
              </a:srgbClr>
            </a:solidFill>
            <a:prstDash val="solid"/>
          </a:ln>
        </p:spPr>
      </p:sp>
      <p:sp>
        <p:nvSpPr>
          <p:cNvPr id="26" name="Shape 24"/>
          <p:cNvSpPr/>
          <p:nvPr/>
        </p:nvSpPr>
        <p:spPr>
          <a:xfrm>
            <a:off x="10972800" y="3291840"/>
            <a:ext cx="365760" cy="1554480"/>
          </a:xfrm>
          <a:prstGeom prst="line">
            <a:avLst/>
          </a:prstGeom>
          <a:noFill/>
          <a:ln w="19050">
            <a:solidFill>
              <a:srgbClr val="F43F5E">
                <a:alpha val="65000"/>
              </a:srgbClr>
            </a:solidFill>
            <a:prstDash val="solid"/>
          </a:ln>
        </p:spPr>
      </p:sp>
      <p:sp>
        <p:nvSpPr>
          <p:cNvPr id="27" name="Shape 25"/>
          <p:cNvSpPr/>
          <p:nvPr/>
        </p:nvSpPr>
        <p:spPr>
          <a:xfrm>
            <a:off x="8961120" y="3474720"/>
            <a:ext cx="1188720" cy="822960"/>
          </a:xfrm>
          <a:prstGeom prst="line">
            <a:avLst/>
          </a:prstGeom>
          <a:noFill/>
          <a:ln w="12700">
            <a:solidFill>
              <a:srgbClr val="38BDF8">
                <a:alpha val="28000"/>
              </a:srgbClr>
            </a:solidFill>
            <a:prstDash val="solid"/>
          </a:ln>
        </p:spPr>
      </p:sp>
      <p:sp>
        <p:nvSpPr>
          <p:cNvPr id="28" name="Shape 26"/>
          <p:cNvSpPr/>
          <p:nvPr/>
        </p:nvSpPr>
        <p:spPr>
          <a:xfrm flipV="1">
            <a:off x="8046720" y="3474720"/>
            <a:ext cx="914400" cy="1097280"/>
          </a:xfrm>
          <a:prstGeom prst="line">
            <a:avLst/>
          </a:prstGeom>
          <a:noFill/>
          <a:ln w="12700">
            <a:solidFill>
              <a:srgbClr val="38BDF8">
                <a:alpha val="28000"/>
              </a:srgbClr>
            </a:solidFill>
            <a:prstDash val="solid"/>
          </a:ln>
        </p:spPr>
      </p:sp>
      <p:sp>
        <p:nvSpPr>
          <p:cNvPr id="29" name="Shape 27"/>
          <p:cNvSpPr/>
          <p:nvPr/>
        </p:nvSpPr>
        <p:spPr>
          <a:xfrm>
            <a:off x="10149840" y="4297680"/>
            <a:ext cx="1188720" cy="548640"/>
          </a:xfrm>
          <a:prstGeom prst="line">
            <a:avLst/>
          </a:prstGeom>
          <a:noFill/>
          <a:ln w="12700">
            <a:solidFill>
              <a:srgbClr val="38BDF8">
                <a:alpha val="28000"/>
              </a:srgbClr>
            </a:solidFill>
            <a:prstDash val="solid"/>
          </a:ln>
        </p:spPr>
      </p:sp>
      <p:sp>
        <p:nvSpPr>
          <p:cNvPr id="30" name="Shape 28"/>
          <p:cNvSpPr/>
          <p:nvPr/>
        </p:nvSpPr>
        <p:spPr>
          <a:xfrm flipV="1">
            <a:off x="9326880" y="4297680"/>
            <a:ext cx="822960" cy="1188720"/>
          </a:xfrm>
          <a:prstGeom prst="line">
            <a:avLst/>
          </a:prstGeom>
          <a:noFill/>
          <a:ln w="12700">
            <a:solidFill>
              <a:srgbClr val="38BDF8">
                <a:alpha val="28000"/>
              </a:srgbClr>
            </a:solidFill>
            <a:prstDash val="solid"/>
          </a:ln>
        </p:spPr>
      </p:sp>
      <p:sp>
        <p:nvSpPr>
          <p:cNvPr id="31" name="Shape 29"/>
          <p:cNvSpPr/>
          <p:nvPr/>
        </p:nvSpPr>
        <p:spPr>
          <a:xfrm>
            <a:off x="10149840" y="4297680"/>
            <a:ext cx="640080" cy="1737360"/>
          </a:xfrm>
          <a:prstGeom prst="line">
            <a:avLst/>
          </a:prstGeom>
          <a:noFill/>
          <a:ln w="12700">
            <a:solidFill>
              <a:srgbClr val="38BDF8">
                <a:alpha val="28000"/>
              </a:srgbClr>
            </a:solidFill>
            <a:prstDash val="solid"/>
          </a:ln>
        </p:spPr>
      </p:sp>
      <p:sp>
        <p:nvSpPr>
          <p:cNvPr id="32" name="Shape 30"/>
          <p:cNvSpPr/>
          <p:nvPr/>
        </p:nvSpPr>
        <p:spPr>
          <a:xfrm>
            <a:off x="8046720" y="4572000"/>
            <a:ext cx="1280160" cy="914400"/>
          </a:xfrm>
          <a:prstGeom prst="line">
            <a:avLst/>
          </a:prstGeom>
          <a:noFill/>
          <a:ln w="12700">
            <a:solidFill>
              <a:srgbClr val="38BDF8">
                <a:alpha val="28000"/>
              </a:srgbClr>
            </a:solidFill>
            <a:prstDash val="solid"/>
          </a:ln>
        </p:spPr>
      </p:sp>
      <p:sp>
        <p:nvSpPr>
          <p:cNvPr id="33" name="Shape 31"/>
          <p:cNvSpPr/>
          <p:nvPr/>
        </p:nvSpPr>
        <p:spPr>
          <a:xfrm flipV="1">
            <a:off x="7772400" y="4572000"/>
            <a:ext cx="274320" cy="1371600"/>
          </a:xfrm>
          <a:prstGeom prst="line">
            <a:avLst/>
          </a:prstGeom>
          <a:noFill/>
          <a:ln w="12700">
            <a:solidFill>
              <a:srgbClr val="38BDF8">
                <a:alpha val="28000"/>
              </a:srgbClr>
            </a:solidFill>
            <a:prstDash val="solid"/>
          </a:ln>
        </p:spPr>
      </p:sp>
      <p:sp>
        <p:nvSpPr>
          <p:cNvPr id="34" name="Shape 32"/>
          <p:cNvSpPr/>
          <p:nvPr/>
        </p:nvSpPr>
        <p:spPr>
          <a:xfrm flipV="1">
            <a:off x="10789920" y="4846320"/>
            <a:ext cx="548640" cy="1188720"/>
          </a:xfrm>
          <a:prstGeom prst="line">
            <a:avLst/>
          </a:prstGeom>
          <a:noFill/>
          <a:ln w="12700">
            <a:solidFill>
              <a:srgbClr val="38BDF8">
                <a:alpha val="28000"/>
              </a:srgbClr>
            </a:solidFill>
            <a:prstDash val="solid"/>
          </a:ln>
        </p:spPr>
      </p:sp>
      <p:sp>
        <p:nvSpPr>
          <p:cNvPr id="35" name="Shape 33"/>
          <p:cNvSpPr/>
          <p:nvPr/>
        </p:nvSpPr>
        <p:spPr>
          <a:xfrm>
            <a:off x="9326880" y="5486400"/>
            <a:ext cx="1463040" cy="548640"/>
          </a:xfrm>
          <a:prstGeom prst="line">
            <a:avLst/>
          </a:prstGeom>
          <a:noFill/>
          <a:ln w="12700">
            <a:solidFill>
              <a:srgbClr val="38BDF8">
                <a:alpha val="28000"/>
              </a:srgbClr>
            </a:solidFill>
            <a:prstDash val="solid"/>
          </a:ln>
        </p:spPr>
      </p:sp>
      <p:sp>
        <p:nvSpPr>
          <p:cNvPr id="36" name="Shape 34"/>
          <p:cNvSpPr/>
          <p:nvPr/>
        </p:nvSpPr>
        <p:spPr>
          <a:xfrm flipV="1">
            <a:off x="7772400" y="5486400"/>
            <a:ext cx="1554480" cy="457200"/>
          </a:xfrm>
          <a:prstGeom prst="line">
            <a:avLst/>
          </a:prstGeom>
          <a:noFill/>
          <a:ln w="12700">
            <a:solidFill>
              <a:srgbClr val="38BDF8">
                <a:alpha val="28000"/>
              </a:srgbClr>
            </a:solidFill>
            <a:prstDash val="solid"/>
          </a:ln>
        </p:spPr>
      </p:sp>
      <p:sp>
        <p:nvSpPr>
          <p:cNvPr id="37" name="Shape 35"/>
          <p:cNvSpPr/>
          <p:nvPr/>
        </p:nvSpPr>
        <p:spPr>
          <a:xfrm>
            <a:off x="10104120" y="2423160"/>
            <a:ext cx="1737360" cy="1737360"/>
          </a:xfrm>
          <a:prstGeom prst="ellipse">
            <a:avLst/>
          </a:prstGeom>
          <a:solidFill>
            <a:srgbClr val="F43F5E">
              <a:alpha val="0"/>
            </a:srgbClr>
          </a:solidFill>
          <a:ln w="12700">
            <a:solidFill>
              <a:srgbClr val="F43F5E">
                <a:alpha val="45000"/>
              </a:srgbClr>
            </a:solidFill>
            <a:prstDash val="solid"/>
          </a:ln>
        </p:spPr>
      </p:sp>
      <p:sp>
        <p:nvSpPr>
          <p:cNvPr id="38" name="Shape 36"/>
          <p:cNvSpPr/>
          <p:nvPr/>
        </p:nvSpPr>
        <p:spPr>
          <a:xfrm>
            <a:off x="10405872" y="2724912"/>
            <a:ext cx="1133856" cy="1133856"/>
          </a:xfrm>
          <a:prstGeom prst="ellipse">
            <a:avLst/>
          </a:prstGeom>
          <a:solidFill>
            <a:srgbClr val="F43F5E">
              <a:alpha val="0"/>
            </a:srgbClr>
          </a:solidFill>
          <a:ln w="12700">
            <a:solidFill>
              <a:srgbClr val="F43F5E">
                <a:alpha val="35000"/>
              </a:srgbClr>
            </a:solidFill>
            <a:prstDash val="solid"/>
          </a:ln>
        </p:spPr>
      </p:sp>
      <p:sp>
        <p:nvSpPr>
          <p:cNvPr id="39" name="Shape 37"/>
          <p:cNvSpPr/>
          <p:nvPr/>
        </p:nvSpPr>
        <p:spPr>
          <a:xfrm>
            <a:off x="7680960" y="640080"/>
            <a:ext cx="365760" cy="365760"/>
          </a:xfrm>
          <a:prstGeom prst="ellipse">
            <a:avLst/>
          </a:prstGeom>
          <a:solidFill>
            <a:srgbClr val="06B6D4">
              <a:alpha val="80000"/>
            </a:srgbClr>
          </a:solidFill>
          <a:ln w="12700">
            <a:solidFill>
              <a:srgbClr val="06B6D4"/>
            </a:solidFill>
            <a:prstDash val="solid"/>
          </a:ln>
        </p:spPr>
      </p:sp>
      <p:sp>
        <p:nvSpPr>
          <p:cNvPr id="40" name="Shape 38"/>
          <p:cNvSpPr/>
          <p:nvPr/>
        </p:nvSpPr>
        <p:spPr>
          <a:xfrm>
            <a:off x="9107424" y="420624"/>
            <a:ext cx="256032" cy="256032"/>
          </a:xfrm>
          <a:prstGeom prst="ellipse">
            <a:avLst/>
          </a:prstGeom>
          <a:solidFill>
            <a:srgbClr val="38BDF8">
              <a:alpha val="80000"/>
            </a:srgbClr>
          </a:solidFill>
          <a:ln w="12700">
            <a:solidFill>
              <a:srgbClr val="38BDF8"/>
            </a:solidFill>
            <a:prstDash val="solid"/>
          </a:ln>
        </p:spPr>
      </p:sp>
      <p:sp>
        <p:nvSpPr>
          <p:cNvPr id="41" name="Shape 39"/>
          <p:cNvSpPr/>
          <p:nvPr/>
        </p:nvSpPr>
        <p:spPr>
          <a:xfrm>
            <a:off x="10497312" y="804672"/>
            <a:ext cx="402336" cy="402336"/>
          </a:xfrm>
          <a:prstGeom prst="ellipse">
            <a:avLst/>
          </a:prstGeom>
          <a:solidFill>
            <a:srgbClr val="A5B4FC">
              <a:alpha val="80000"/>
            </a:srgbClr>
          </a:solidFill>
          <a:ln w="12700">
            <a:solidFill>
              <a:srgbClr val="A5B4FC"/>
            </a:solidFill>
            <a:prstDash val="solid"/>
          </a:ln>
        </p:spPr>
      </p:sp>
      <p:sp>
        <p:nvSpPr>
          <p:cNvPr id="42" name="Shape 40"/>
          <p:cNvSpPr/>
          <p:nvPr/>
        </p:nvSpPr>
        <p:spPr>
          <a:xfrm>
            <a:off x="11393424" y="1883664"/>
            <a:ext cx="256032" cy="256032"/>
          </a:xfrm>
          <a:prstGeom prst="ellipse">
            <a:avLst/>
          </a:prstGeom>
          <a:solidFill>
            <a:srgbClr val="06B6D4">
              <a:alpha val="80000"/>
            </a:srgbClr>
          </a:solidFill>
          <a:ln w="12700">
            <a:solidFill>
              <a:srgbClr val="06B6D4"/>
            </a:solidFill>
            <a:prstDash val="solid"/>
          </a:ln>
        </p:spPr>
      </p:sp>
      <p:sp>
        <p:nvSpPr>
          <p:cNvPr id="43" name="Shape 41"/>
          <p:cNvSpPr/>
          <p:nvPr/>
        </p:nvSpPr>
        <p:spPr>
          <a:xfrm>
            <a:off x="8321040" y="1554480"/>
            <a:ext cx="548640" cy="548640"/>
          </a:xfrm>
          <a:prstGeom prst="ellipse">
            <a:avLst/>
          </a:prstGeom>
          <a:solidFill>
            <a:srgbClr val="38BDF8">
              <a:alpha val="80000"/>
            </a:srgbClr>
          </a:solidFill>
          <a:ln w="12700">
            <a:solidFill>
              <a:srgbClr val="38BDF8"/>
            </a:solidFill>
            <a:prstDash val="solid"/>
          </a:ln>
        </p:spPr>
      </p:sp>
      <p:sp>
        <p:nvSpPr>
          <p:cNvPr id="44" name="Shape 42"/>
          <p:cNvSpPr/>
          <p:nvPr/>
        </p:nvSpPr>
        <p:spPr>
          <a:xfrm>
            <a:off x="9784080" y="2103120"/>
            <a:ext cx="365760" cy="365760"/>
          </a:xfrm>
          <a:prstGeom prst="ellipse">
            <a:avLst/>
          </a:prstGeom>
          <a:solidFill>
            <a:srgbClr val="A5B4FC">
              <a:alpha val="80000"/>
            </a:srgbClr>
          </a:solidFill>
          <a:ln w="12700">
            <a:solidFill>
              <a:srgbClr val="A5B4FC"/>
            </a:solidFill>
            <a:prstDash val="solid"/>
          </a:ln>
        </p:spPr>
      </p:sp>
      <p:sp>
        <p:nvSpPr>
          <p:cNvPr id="45" name="Shape 43"/>
          <p:cNvSpPr/>
          <p:nvPr/>
        </p:nvSpPr>
        <p:spPr>
          <a:xfrm>
            <a:off x="7443216" y="2779776"/>
            <a:ext cx="292608" cy="292608"/>
          </a:xfrm>
          <a:prstGeom prst="ellipse">
            <a:avLst/>
          </a:prstGeom>
          <a:solidFill>
            <a:srgbClr val="06B6D4">
              <a:alpha val="80000"/>
            </a:srgbClr>
          </a:solidFill>
          <a:ln w="12700">
            <a:solidFill>
              <a:srgbClr val="06B6D4"/>
            </a:solidFill>
            <a:prstDash val="solid"/>
          </a:ln>
        </p:spPr>
      </p:sp>
      <p:sp>
        <p:nvSpPr>
          <p:cNvPr id="46" name="Shape 44"/>
          <p:cNvSpPr/>
          <p:nvPr/>
        </p:nvSpPr>
        <p:spPr>
          <a:xfrm>
            <a:off x="10698480" y="3017520"/>
            <a:ext cx="548640" cy="548640"/>
          </a:xfrm>
          <a:prstGeom prst="ellipse">
            <a:avLst/>
          </a:prstGeom>
          <a:solidFill>
            <a:srgbClr val="F43F5E"/>
          </a:solidFill>
          <a:ln w="12700">
            <a:solidFill>
              <a:srgbClr val="F43F5E"/>
            </a:solidFill>
            <a:prstDash val="solid"/>
          </a:ln>
        </p:spPr>
      </p:sp>
      <p:sp>
        <p:nvSpPr>
          <p:cNvPr id="47" name="Shape 45"/>
          <p:cNvSpPr/>
          <p:nvPr/>
        </p:nvSpPr>
        <p:spPr>
          <a:xfrm>
            <a:off x="8814816" y="3328416"/>
            <a:ext cx="292608" cy="292608"/>
          </a:xfrm>
          <a:prstGeom prst="ellipse">
            <a:avLst/>
          </a:prstGeom>
          <a:solidFill>
            <a:srgbClr val="A5B4FC">
              <a:alpha val="80000"/>
            </a:srgbClr>
          </a:solidFill>
          <a:ln w="12700">
            <a:solidFill>
              <a:srgbClr val="A5B4FC"/>
            </a:solidFill>
            <a:prstDash val="solid"/>
          </a:ln>
        </p:spPr>
      </p:sp>
      <p:sp>
        <p:nvSpPr>
          <p:cNvPr id="48" name="Shape 46"/>
          <p:cNvSpPr/>
          <p:nvPr/>
        </p:nvSpPr>
        <p:spPr>
          <a:xfrm>
            <a:off x="9966960" y="4114800"/>
            <a:ext cx="365760" cy="365760"/>
          </a:xfrm>
          <a:prstGeom prst="ellipse">
            <a:avLst/>
          </a:prstGeom>
          <a:solidFill>
            <a:srgbClr val="06B6D4">
              <a:alpha val="80000"/>
            </a:srgbClr>
          </a:solidFill>
          <a:ln w="12700">
            <a:solidFill>
              <a:srgbClr val="06B6D4"/>
            </a:solidFill>
            <a:prstDash val="solid"/>
          </a:ln>
        </p:spPr>
      </p:sp>
      <p:sp>
        <p:nvSpPr>
          <p:cNvPr id="49" name="Shape 47"/>
          <p:cNvSpPr/>
          <p:nvPr/>
        </p:nvSpPr>
        <p:spPr>
          <a:xfrm>
            <a:off x="7808976" y="4334256"/>
            <a:ext cx="475488" cy="475488"/>
          </a:xfrm>
          <a:prstGeom prst="ellipse">
            <a:avLst/>
          </a:prstGeom>
          <a:solidFill>
            <a:srgbClr val="38BDF8">
              <a:alpha val="80000"/>
            </a:srgbClr>
          </a:solidFill>
          <a:ln w="12700">
            <a:solidFill>
              <a:srgbClr val="38BDF8"/>
            </a:solidFill>
            <a:prstDash val="solid"/>
          </a:ln>
        </p:spPr>
      </p:sp>
      <p:sp>
        <p:nvSpPr>
          <p:cNvPr id="50" name="Shape 48"/>
          <p:cNvSpPr/>
          <p:nvPr/>
        </p:nvSpPr>
        <p:spPr>
          <a:xfrm>
            <a:off x="11192256" y="4700016"/>
            <a:ext cx="292608" cy="292608"/>
          </a:xfrm>
          <a:prstGeom prst="ellipse">
            <a:avLst/>
          </a:prstGeom>
          <a:solidFill>
            <a:srgbClr val="A5B4FC">
              <a:alpha val="80000"/>
            </a:srgbClr>
          </a:solidFill>
          <a:ln w="12700">
            <a:solidFill>
              <a:srgbClr val="A5B4FC"/>
            </a:solidFill>
            <a:prstDash val="solid"/>
          </a:ln>
        </p:spPr>
      </p:sp>
      <p:sp>
        <p:nvSpPr>
          <p:cNvPr id="51" name="Shape 49"/>
          <p:cNvSpPr/>
          <p:nvPr/>
        </p:nvSpPr>
        <p:spPr>
          <a:xfrm>
            <a:off x="9052560" y="5212080"/>
            <a:ext cx="548640" cy="548640"/>
          </a:xfrm>
          <a:prstGeom prst="ellipse">
            <a:avLst/>
          </a:prstGeom>
          <a:solidFill>
            <a:srgbClr val="06B6D4">
              <a:alpha val="80000"/>
            </a:srgbClr>
          </a:solidFill>
          <a:ln w="12700">
            <a:solidFill>
              <a:srgbClr val="06B6D4"/>
            </a:solidFill>
            <a:prstDash val="solid"/>
          </a:ln>
        </p:spPr>
      </p:sp>
      <p:sp>
        <p:nvSpPr>
          <p:cNvPr id="52" name="Shape 50"/>
          <p:cNvSpPr/>
          <p:nvPr/>
        </p:nvSpPr>
        <p:spPr>
          <a:xfrm>
            <a:off x="10625328" y="5870448"/>
            <a:ext cx="329184" cy="329184"/>
          </a:xfrm>
          <a:prstGeom prst="ellipse">
            <a:avLst/>
          </a:prstGeom>
          <a:solidFill>
            <a:srgbClr val="38BDF8">
              <a:alpha val="80000"/>
            </a:srgbClr>
          </a:solidFill>
          <a:ln w="12700">
            <a:solidFill>
              <a:srgbClr val="38BDF8"/>
            </a:solidFill>
            <a:prstDash val="solid"/>
          </a:ln>
        </p:spPr>
      </p:sp>
      <p:sp>
        <p:nvSpPr>
          <p:cNvPr id="53" name="Shape 51"/>
          <p:cNvSpPr/>
          <p:nvPr/>
        </p:nvSpPr>
        <p:spPr>
          <a:xfrm>
            <a:off x="7644384" y="5815584"/>
            <a:ext cx="256032" cy="256032"/>
          </a:xfrm>
          <a:prstGeom prst="ellipse">
            <a:avLst/>
          </a:prstGeom>
          <a:solidFill>
            <a:srgbClr val="A5B4FC">
              <a:alpha val="80000"/>
            </a:srgbClr>
          </a:solidFill>
          <a:ln w="12700">
            <a:solidFill>
              <a:srgbClr val="A5B4FC"/>
            </a:solidFill>
            <a:prstDash val="solid"/>
          </a:ln>
        </p:spPr>
      </p:sp>
      <p:sp>
        <p:nvSpPr>
          <p:cNvPr id="54" name="Shape 52"/>
          <p:cNvSpPr/>
          <p:nvPr/>
        </p:nvSpPr>
        <p:spPr>
          <a:xfrm>
            <a:off x="11503152" y="438912"/>
            <a:ext cx="219456" cy="219456"/>
          </a:xfrm>
          <a:prstGeom prst="ellipse">
            <a:avLst/>
          </a:prstGeom>
          <a:solidFill>
            <a:srgbClr val="06B6D4">
              <a:alpha val="80000"/>
            </a:srgbClr>
          </a:solidFill>
          <a:ln w="12700">
            <a:solidFill>
              <a:srgbClr val="06B6D4"/>
            </a:solidFill>
            <a:prstDash val="solid"/>
          </a:ln>
        </p:spPr>
      </p:sp>
      <p:sp>
        <p:nvSpPr>
          <p:cNvPr id="55" name="Shape 53"/>
          <p:cNvSpPr/>
          <p:nvPr/>
        </p:nvSpPr>
        <p:spPr>
          <a:xfrm>
            <a:off x="9491472" y="1261872"/>
            <a:ext cx="219456" cy="219456"/>
          </a:xfrm>
          <a:prstGeom prst="ellipse">
            <a:avLst/>
          </a:prstGeom>
          <a:solidFill>
            <a:srgbClr val="38BDF8">
              <a:alpha val="80000"/>
            </a:srgbClr>
          </a:solidFill>
          <a:ln w="12700">
            <a:solidFill>
              <a:srgbClr val="38BDF8"/>
            </a:solidFill>
            <a:prstDash val="solid"/>
          </a:ln>
        </p:spPr>
      </p:sp>
      <p:sp>
        <p:nvSpPr>
          <p:cNvPr id="56" name="Shape 54"/>
          <p:cNvSpPr/>
          <p:nvPr/>
        </p:nvSpPr>
        <p:spPr>
          <a:xfrm>
            <a:off x="731520" y="868680"/>
            <a:ext cx="4480560" cy="384048"/>
          </a:xfrm>
          <a:prstGeom prst="roundRect">
            <a:avLst>
              <a:gd name="adj" fmla="val 50000"/>
            </a:avLst>
          </a:prstGeom>
          <a:solidFill>
            <a:srgbClr val="06B6D4">
              <a:alpha val="18000"/>
            </a:srgbClr>
          </a:solidFill>
          <a:ln w="12700">
            <a:solidFill>
              <a:srgbClr val="06B6D4"/>
            </a:solidFill>
            <a:prstDash val="solid"/>
          </a:ln>
        </p:spPr>
      </p:sp>
      <p:sp>
        <p:nvSpPr>
          <p:cNvPr id="57" name="Text 55"/>
          <p:cNvSpPr txBox="1"/>
          <p:nvPr/>
        </p:nvSpPr>
        <p:spPr>
          <a:xfrm>
            <a:off x="731520" y="868680"/>
            <a:ext cx="4480560" cy="384048"/>
          </a:xfrm>
          <a:prstGeom prst="rect">
            <a:avLst/>
          </a:prstGeom>
          <a:noFill/>
          <a:ln/>
        </p:spPr>
        <p:txBody>
          <a:bodyPr wrap="square" lIns="0" tIns="0" rIns="0" bIns="0" rtlCol="0" anchor="ctr"/>
          <a:lstStyle/>
          <a:p>
            <a:pPr algn="ctr" indent="0" marL="0">
              <a:buNone/>
            </a:pPr>
            <a:r>
              <a:rPr lang="en-US" sz="1200" b="1" spc="200" kern="0" dirty="0">
                <a:solidFill>
                  <a:srgbClr val="06B6D4"/>
                </a:solidFill>
              </a:rPr>
              <a:t>EMPIRICAL STUDY  ·  ELLIPTIC BITCOIN DATASET</a:t>
            </a:r>
            <a:endParaRPr lang="en-US" sz="1200" dirty="0"/>
          </a:p>
        </p:txBody>
      </p:sp>
      <p:sp>
        <p:nvSpPr>
          <p:cNvPr id="58" name="Text 0"/>
          <p:cNvSpPr/>
          <p:nvPr>
            <p:ph idx="100" type="title" hasCustomPrompt="1"/>
          </p:nvPr>
        </p:nvSpPr>
        <p:spPr>
          <a:xfrm>
            <a:off x="731520" y="1600200"/>
            <a:ext cx="6309360" cy="265176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Illicit Transaction Detection</a:t>
            </a:r>
            <a:endParaRPr lang="en-US" sz="4000" dirty="0"/>
          </a:p>
          <a:p>
            <a:pPr algn="l" indent="0" marL="0">
              <a:buNone/>
            </a:pPr>
            <a:r>
              <a:rPr lang="en-US" sz="4000" b="1" dirty="0">
                <a:solidFill>
                  <a:srgbClr val="06B6D4"/>
                </a:solidFill>
                <a:latin typeface="Cambria" pitchFamily="34" charset="0"/>
                <a:ea typeface="Cambria" pitchFamily="34" charset="-122"/>
                <a:cs typeface="Cambria" pitchFamily="34" charset="-120"/>
              </a:rPr>
              <a:t>Using Graph-Based Adaptive Learning</a:t>
            </a:r>
            <a:endParaRPr lang="en-US" sz="4000" dirty="0"/>
          </a:p>
        </p:txBody>
      </p:sp>
      <p:sp>
        <p:nvSpPr>
          <p:cNvPr id="59" name="Text 57"/>
          <p:cNvSpPr txBox="1"/>
          <p:nvPr/>
        </p:nvSpPr>
        <p:spPr>
          <a:xfrm>
            <a:off x="731520" y="4343400"/>
            <a:ext cx="6126480" cy="914400"/>
          </a:xfrm>
          <a:prstGeom prst="rect">
            <a:avLst/>
          </a:prstGeom>
          <a:noFill/>
          <a:ln/>
        </p:spPr>
        <p:txBody>
          <a:bodyPr wrap="square" lIns="0" tIns="0" rIns="0" bIns="0" rtlCol="0" anchor="t"/>
          <a:lstStyle/>
          <a:p>
            <a:pPr indent="0" marL="0">
              <a:buNone/>
            </a:pPr>
            <a:r>
              <a:rPr lang="en-US" sz="1800" dirty="0">
                <a:solidFill>
                  <a:srgbClr val="CBD5E1"/>
                </a:solidFill>
              </a:rPr>
              <a:t>Does fine-tuning a graph model on newly revealed labels help detect fraud as it drifts, and is that effect specific to graph models?</a:t>
            </a:r>
            <a:endParaRPr lang="en-US" sz="1800" dirty="0"/>
          </a:p>
        </p:txBody>
      </p:sp>
      <p:sp>
        <p:nvSpPr>
          <p:cNvPr id="60" name="Shape 58"/>
          <p:cNvSpPr/>
          <p:nvPr/>
        </p:nvSpPr>
        <p:spPr>
          <a:xfrm>
            <a:off x="731520" y="5577840"/>
            <a:ext cx="1417320" cy="457200"/>
          </a:xfrm>
          <a:prstGeom prst="roundRect">
            <a:avLst>
              <a:gd name="adj" fmla="val 50000"/>
            </a:avLst>
          </a:prstGeom>
          <a:solidFill>
            <a:srgbClr val="FFFFFF">
              <a:alpha val="10000"/>
            </a:srgbClr>
          </a:solidFill>
          <a:ln w="9525">
            <a:solidFill>
              <a:srgbClr val="94A3B8"/>
            </a:solidFill>
            <a:prstDash val="solid"/>
          </a:ln>
        </p:spPr>
      </p:sp>
      <p:sp>
        <p:nvSpPr>
          <p:cNvPr id="61" name="Text 59"/>
          <p:cNvSpPr txBox="1"/>
          <p:nvPr/>
        </p:nvSpPr>
        <p:spPr>
          <a:xfrm>
            <a:off x="731520" y="5577840"/>
            <a:ext cx="1417320" cy="457200"/>
          </a:xfrm>
          <a:prstGeom prst="rect">
            <a:avLst/>
          </a:prstGeom>
          <a:noFill/>
          <a:ln/>
        </p:spPr>
        <p:txBody>
          <a:bodyPr wrap="square" lIns="0" tIns="0" rIns="0" bIns="0" rtlCol="0" anchor="ctr"/>
          <a:lstStyle/>
          <a:p>
            <a:pPr algn="ctr" indent="0" marL="0">
              <a:buNone/>
            </a:pPr>
            <a:r>
              <a:rPr lang="en-US" sz="1300" b="1" dirty="0">
                <a:solidFill>
                  <a:srgbClr val="FFFFFF"/>
                </a:solidFill>
              </a:rPr>
              <a:t>Speaker A</a:t>
            </a:r>
            <a:endParaRPr lang="en-US" sz="1300" dirty="0"/>
          </a:p>
        </p:txBody>
      </p:sp>
      <p:sp>
        <p:nvSpPr>
          <p:cNvPr id="62" name="Shape 60"/>
          <p:cNvSpPr/>
          <p:nvPr/>
        </p:nvSpPr>
        <p:spPr>
          <a:xfrm>
            <a:off x="2267712" y="5577840"/>
            <a:ext cx="1417320" cy="457200"/>
          </a:xfrm>
          <a:prstGeom prst="roundRect">
            <a:avLst>
              <a:gd name="adj" fmla="val 50000"/>
            </a:avLst>
          </a:prstGeom>
          <a:solidFill>
            <a:srgbClr val="FFFFFF">
              <a:alpha val="10000"/>
            </a:srgbClr>
          </a:solidFill>
          <a:ln w="9525">
            <a:solidFill>
              <a:srgbClr val="94A3B8"/>
            </a:solidFill>
            <a:prstDash val="solid"/>
          </a:ln>
        </p:spPr>
      </p:sp>
      <p:sp>
        <p:nvSpPr>
          <p:cNvPr id="63" name="Text 61"/>
          <p:cNvSpPr txBox="1"/>
          <p:nvPr/>
        </p:nvSpPr>
        <p:spPr>
          <a:xfrm>
            <a:off x="2267712" y="5577840"/>
            <a:ext cx="1417320" cy="457200"/>
          </a:xfrm>
          <a:prstGeom prst="rect">
            <a:avLst/>
          </a:prstGeom>
          <a:noFill/>
          <a:ln/>
        </p:spPr>
        <p:txBody>
          <a:bodyPr wrap="square" lIns="0" tIns="0" rIns="0" bIns="0" rtlCol="0" anchor="ctr"/>
          <a:lstStyle/>
          <a:p>
            <a:pPr algn="ctr" indent="0" marL="0">
              <a:buNone/>
            </a:pPr>
            <a:r>
              <a:rPr lang="en-US" sz="1300" b="1" dirty="0">
                <a:solidFill>
                  <a:srgbClr val="FFFFFF"/>
                </a:solidFill>
              </a:rPr>
              <a:t>Speaker B</a:t>
            </a:r>
            <a:endParaRPr lang="en-US" sz="1300" dirty="0"/>
          </a:p>
        </p:txBody>
      </p:sp>
      <p:sp>
        <p:nvSpPr>
          <p:cNvPr id="64" name="Shape 62"/>
          <p:cNvSpPr/>
          <p:nvPr/>
        </p:nvSpPr>
        <p:spPr>
          <a:xfrm>
            <a:off x="3803904" y="5577840"/>
            <a:ext cx="1417320" cy="457200"/>
          </a:xfrm>
          <a:prstGeom prst="roundRect">
            <a:avLst>
              <a:gd name="adj" fmla="val 50000"/>
            </a:avLst>
          </a:prstGeom>
          <a:solidFill>
            <a:srgbClr val="FFFFFF">
              <a:alpha val="10000"/>
            </a:srgbClr>
          </a:solidFill>
          <a:ln w="9525">
            <a:solidFill>
              <a:srgbClr val="94A3B8"/>
            </a:solidFill>
            <a:prstDash val="solid"/>
          </a:ln>
        </p:spPr>
      </p:sp>
      <p:sp>
        <p:nvSpPr>
          <p:cNvPr id="65" name="Text 63"/>
          <p:cNvSpPr txBox="1"/>
          <p:nvPr/>
        </p:nvSpPr>
        <p:spPr>
          <a:xfrm>
            <a:off x="3803904" y="5577840"/>
            <a:ext cx="1417320" cy="457200"/>
          </a:xfrm>
          <a:prstGeom prst="rect">
            <a:avLst/>
          </a:prstGeom>
          <a:noFill/>
          <a:ln/>
        </p:spPr>
        <p:txBody>
          <a:bodyPr wrap="square" lIns="0" tIns="0" rIns="0" bIns="0" rtlCol="0" anchor="ctr"/>
          <a:lstStyle/>
          <a:p>
            <a:pPr algn="ctr" indent="0" marL="0">
              <a:buNone/>
            </a:pPr>
            <a:r>
              <a:rPr lang="en-US" sz="1300" b="1" dirty="0">
                <a:solidFill>
                  <a:srgbClr val="FFFFFF"/>
                </a:solidFill>
              </a:rPr>
              <a:t>Speaker C</a:t>
            </a:r>
            <a:endParaRPr lang="en-US" sz="1300" dirty="0"/>
          </a:p>
        </p:txBody>
      </p:sp>
      <p:sp>
        <p:nvSpPr>
          <p:cNvPr id="66" name="Shape 64"/>
          <p:cNvSpPr/>
          <p:nvPr/>
        </p:nvSpPr>
        <p:spPr>
          <a:xfrm>
            <a:off x="5340096" y="5577840"/>
            <a:ext cx="1417320" cy="457200"/>
          </a:xfrm>
          <a:prstGeom prst="roundRect">
            <a:avLst>
              <a:gd name="adj" fmla="val 50000"/>
            </a:avLst>
          </a:prstGeom>
          <a:solidFill>
            <a:srgbClr val="FFFFFF">
              <a:alpha val="10000"/>
            </a:srgbClr>
          </a:solidFill>
          <a:ln w="9525">
            <a:solidFill>
              <a:srgbClr val="94A3B8"/>
            </a:solidFill>
            <a:prstDash val="solid"/>
          </a:ln>
        </p:spPr>
      </p:sp>
      <p:sp>
        <p:nvSpPr>
          <p:cNvPr id="67" name="Text 65"/>
          <p:cNvSpPr txBox="1"/>
          <p:nvPr/>
        </p:nvSpPr>
        <p:spPr>
          <a:xfrm>
            <a:off x="5340096" y="5577840"/>
            <a:ext cx="1417320" cy="457200"/>
          </a:xfrm>
          <a:prstGeom prst="rect">
            <a:avLst/>
          </a:prstGeom>
          <a:noFill/>
          <a:ln/>
        </p:spPr>
        <p:txBody>
          <a:bodyPr wrap="square" lIns="0" tIns="0" rIns="0" bIns="0" rtlCol="0" anchor="ctr"/>
          <a:lstStyle/>
          <a:p>
            <a:pPr algn="ctr" indent="0" marL="0">
              <a:buNone/>
            </a:pPr>
            <a:r>
              <a:rPr lang="en-US" sz="1300" b="1" dirty="0">
                <a:solidFill>
                  <a:srgbClr val="FFFFFF"/>
                </a:solidFill>
              </a:rPr>
              <a:t>Speaker 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784080" cy="868680"/>
          </a:xfrm>
          <a:prstGeom prst="rect">
            <a:avLst/>
          </a:prstGeom>
          <a:noFill/>
          <a:ln/>
        </p:spPr>
        <p:txBody>
          <a:bodyPr wrap="square" lIns="0" tIns="0" rIns="0" bIns="0" rtlCol="0" anchor="ctr"/>
          <a:lstStyle/>
          <a:p>
            <a:pPr algn="l" indent="0" marL="0">
              <a:buNone/>
            </a:pPr>
            <a:r>
              <a:rPr lang="en-US" sz="3200" b="1" dirty="0">
                <a:solidFill>
                  <a:srgbClr val="0B1220"/>
                </a:solidFill>
                <a:latin typeface="Cambria" pitchFamily="34" charset="0"/>
                <a:ea typeface="Cambria" pitchFamily="34" charset="-122"/>
                <a:cs typeface="Cambria" pitchFamily="34" charset="-120"/>
              </a:rPr>
              <a:t>Abstract: what we asked and what we found</a:t>
            </a:r>
            <a:endParaRPr lang="en-US" sz="3200" dirty="0"/>
          </a:p>
        </p:txBody>
      </p:sp>
      <p:sp>
        <p:nvSpPr>
          <p:cNvPr id="3" name="Shape 1"/>
          <p:cNvSpPr/>
          <p:nvPr/>
        </p:nvSpPr>
        <p:spPr>
          <a:xfrm>
            <a:off x="10561320" y="475488"/>
            <a:ext cx="1097280" cy="329184"/>
          </a:xfrm>
          <a:prstGeom prst="roundRect">
            <a:avLst>
              <a:gd name="adj" fmla="val 50000"/>
            </a:avLst>
          </a:prstGeom>
          <a:solidFill>
            <a:srgbClr val="14213D"/>
          </a:solidFill>
          <a:ln w="12700">
            <a:solidFill>
              <a:srgbClr val="14213D"/>
            </a:solidFill>
            <a:prstDash val="solid"/>
          </a:ln>
        </p:spPr>
      </p:sp>
      <p:sp>
        <p:nvSpPr>
          <p:cNvPr id="4" name="Text 2"/>
          <p:cNvSpPr txBox="1"/>
          <p:nvPr/>
        </p:nvSpPr>
        <p:spPr>
          <a:xfrm>
            <a:off x="10561320" y="475488"/>
            <a:ext cx="1097280" cy="329184"/>
          </a:xfrm>
          <a:prstGeom prst="rect">
            <a:avLst/>
          </a:prstGeom>
          <a:noFill/>
          <a:ln/>
        </p:spPr>
        <p:txBody>
          <a:bodyPr wrap="square" lIns="0" tIns="0" rIns="0" bIns="0" rtlCol="0" anchor="ctr"/>
          <a:lstStyle/>
          <a:p>
            <a:pPr algn="ctr" indent="0" marL="0">
              <a:buNone/>
            </a:pPr>
            <a:r>
              <a:rPr lang="en-US" sz="1100" b="1" dirty="0">
                <a:solidFill>
                  <a:srgbClr val="FFFFFF"/>
                </a:solidFill>
              </a:rPr>
              <a:t>Speaker A</a:t>
            </a:r>
            <a:endParaRPr lang="en-US" sz="1100" dirty="0"/>
          </a:p>
        </p:txBody>
      </p:sp>
      <p:sp>
        <p:nvSpPr>
          <p:cNvPr id="5" name="abstract card"/>
          <p:cNvSpPr/>
          <p:nvPr/>
        </p:nvSpPr>
        <p:spPr>
          <a:xfrm>
            <a:off x="548640" y="1417320"/>
            <a:ext cx="5669280" cy="4343400"/>
          </a:xfrm>
          <a:prstGeom prst="roundRect">
            <a:avLst>
              <a:gd name="adj" fmla="val 2526"/>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6" name="Text 4"/>
          <p:cNvSpPr txBox="1"/>
          <p:nvPr/>
        </p:nvSpPr>
        <p:spPr>
          <a:xfrm>
            <a:off x="822960" y="1645920"/>
            <a:ext cx="2743200" cy="320040"/>
          </a:xfrm>
          <a:prstGeom prst="rect">
            <a:avLst/>
          </a:prstGeom>
          <a:noFill/>
          <a:ln/>
        </p:spPr>
        <p:txBody>
          <a:bodyPr wrap="square" lIns="0" tIns="0" rIns="0" bIns="0" rtlCol="0" anchor="t"/>
          <a:lstStyle/>
          <a:p>
            <a:pPr indent="0" marL="0">
              <a:buNone/>
            </a:pPr>
            <a:r>
              <a:rPr lang="en-US" sz="1200" b="1" spc="300" kern="0" dirty="0">
                <a:solidFill>
                  <a:srgbClr val="06B6D4"/>
                </a:solidFill>
              </a:rPr>
              <a:t>ABSTRACT</a:t>
            </a:r>
            <a:endParaRPr lang="en-US" sz="1200" dirty="0"/>
          </a:p>
        </p:txBody>
      </p:sp>
      <p:sp>
        <p:nvSpPr>
          <p:cNvPr id="7" name="Text 5"/>
          <p:cNvSpPr txBox="1"/>
          <p:nvPr/>
        </p:nvSpPr>
        <p:spPr>
          <a:xfrm>
            <a:off x="822960" y="2057400"/>
            <a:ext cx="5166360" cy="3474720"/>
          </a:xfrm>
          <a:prstGeom prst="rect">
            <a:avLst/>
          </a:prstGeom>
          <a:noFill/>
          <a:ln/>
        </p:spPr>
        <p:txBody>
          <a:bodyPr wrap="square" lIns="0" tIns="0" rIns="0" bIns="0" rtlCol="0" anchor="t"/>
          <a:lstStyle/>
          <a:p>
            <a:pPr indent="0" marL="0">
              <a:buNone/>
            </a:pPr>
            <a:r>
              <a:rPr lang="en-US" sz="1900" dirty="0">
                <a:solidFill>
                  <a:srgbClr val="0B1220"/>
                </a:solidFill>
              </a:rPr>
              <a:t>We study whether fine-tuning a graph neural network on newly revealed labels helps detect illicit Bitcoin transactions as fraud patterns drift. On the Elliptic dataset, with a strict chronological split, adaptation lifts GraphSAGE from F1 0.494 to 0.566 across five seeds. Tree ensembles still lead, and giving a boosted tree the same feedback made it worse. Adaptation is real but modest, and depends on the mechanism.</a:t>
            </a:r>
            <a:endParaRPr lang="en-US" sz="1900" dirty="0"/>
          </a:p>
        </p:txBody>
      </p:sp>
      <p:sp>
        <p:nvSpPr>
          <p:cNvPr id="8" name="stat card 1"/>
          <p:cNvSpPr/>
          <p:nvPr/>
        </p:nvSpPr>
        <p:spPr>
          <a:xfrm>
            <a:off x="6492240" y="1417320"/>
            <a:ext cx="5148072" cy="1325880"/>
          </a:xfrm>
          <a:prstGeom prst="roundRect">
            <a:avLst>
              <a:gd name="adj" fmla="val 8276"/>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9" name="Shape 7"/>
          <p:cNvSpPr/>
          <p:nvPr/>
        </p:nvSpPr>
        <p:spPr>
          <a:xfrm>
            <a:off x="6720840" y="1600200"/>
            <a:ext cx="128016" cy="128016"/>
          </a:xfrm>
          <a:prstGeom prst="ellipse">
            <a:avLst/>
          </a:prstGeom>
          <a:solidFill>
            <a:srgbClr val="06B6D4"/>
          </a:solidFill>
          <a:ln w="12700">
            <a:solidFill>
              <a:srgbClr val="06B6D4"/>
            </a:solidFill>
            <a:prstDash val="solid"/>
          </a:ln>
        </p:spPr>
      </p:sp>
      <p:sp>
        <p:nvSpPr>
          <p:cNvPr id="10" name="Text 8"/>
          <p:cNvSpPr txBox="1"/>
          <p:nvPr/>
        </p:nvSpPr>
        <p:spPr>
          <a:xfrm>
            <a:off x="6949440" y="1508760"/>
            <a:ext cx="4480560" cy="640080"/>
          </a:xfrm>
          <a:prstGeom prst="rect">
            <a:avLst/>
          </a:prstGeom>
          <a:noFill/>
          <a:ln/>
        </p:spPr>
        <p:txBody>
          <a:bodyPr wrap="square" lIns="0" tIns="0" rIns="0" bIns="0" rtlCol="0" anchor="t"/>
          <a:lstStyle/>
          <a:p>
            <a:pPr indent="0" marL="0">
              <a:buNone/>
            </a:pPr>
            <a:r>
              <a:rPr lang="en-US" sz="3600" b="1" dirty="0">
                <a:solidFill>
                  <a:srgbClr val="0891B2"/>
                </a:solidFill>
                <a:latin typeface="+mj-lt" pitchFamily="34" charset="0"/>
                <a:ea typeface="+mj-lt" pitchFamily="34" charset="-122"/>
                <a:cs typeface="+mj-lt" pitchFamily="34" charset="-120"/>
              </a:rPr>
              <a:t>0.494 → 0.566</a:t>
            </a:r>
            <a:endParaRPr lang="en-US" sz="3600" dirty="0"/>
          </a:p>
        </p:txBody>
      </p:sp>
      <p:sp>
        <p:nvSpPr>
          <p:cNvPr id="11" name="Text 9"/>
          <p:cNvSpPr txBox="1"/>
          <p:nvPr/>
        </p:nvSpPr>
        <p:spPr>
          <a:xfrm>
            <a:off x="6949440" y="2167128"/>
            <a:ext cx="4526280" cy="502920"/>
          </a:xfrm>
          <a:prstGeom prst="rect">
            <a:avLst/>
          </a:prstGeom>
          <a:noFill/>
          <a:ln/>
        </p:spPr>
        <p:txBody>
          <a:bodyPr wrap="square" lIns="0" tIns="0" rIns="0" bIns="0" rtlCol="0" anchor="t"/>
          <a:lstStyle/>
          <a:p>
            <a:pPr indent="0" marL="0">
              <a:buNone/>
            </a:pPr>
            <a:r>
              <a:rPr lang="en-US" sz="1400" dirty="0">
                <a:solidFill>
                  <a:srgbClr val="475569"/>
                </a:solidFill>
              </a:rPr>
              <a:t>Adaptive GraphSAGE F1 vs static (5 seeds, improved in 5 of 5)</a:t>
            </a:r>
            <a:endParaRPr lang="en-US" sz="1400" dirty="0"/>
          </a:p>
        </p:txBody>
      </p:sp>
      <p:sp>
        <p:nvSpPr>
          <p:cNvPr id="12" name="stat card 2"/>
          <p:cNvSpPr/>
          <p:nvPr/>
        </p:nvSpPr>
        <p:spPr>
          <a:xfrm>
            <a:off x="6492240" y="2898648"/>
            <a:ext cx="5148072" cy="1325880"/>
          </a:xfrm>
          <a:prstGeom prst="roundRect">
            <a:avLst>
              <a:gd name="adj" fmla="val 8276"/>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13" name="Shape 11"/>
          <p:cNvSpPr/>
          <p:nvPr/>
        </p:nvSpPr>
        <p:spPr>
          <a:xfrm>
            <a:off x="6720840" y="3081528"/>
            <a:ext cx="128016" cy="128016"/>
          </a:xfrm>
          <a:prstGeom prst="ellipse">
            <a:avLst/>
          </a:prstGeom>
          <a:solidFill>
            <a:srgbClr val="10B981"/>
          </a:solidFill>
          <a:ln w="12700">
            <a:solidFill>
              <a:srgbClr val="10B981"/>
            </a:solidFill>
            <a:prstDash val="solid"/>
          </a:ln>
        </p:spPr>
      </p:sp>
      <p:sp>
        <p:nvSpPr>
          <p:cNvPr id="14" name="Text 12"/>
          <p:cNvSpPr txBox="1"/>
          <p:nvPr/>
        </p:nvSpPr>
        <p:spPr>
          <a:xfrm>
            <a:off x="6949440" y="2990088"/>
            <a:ext cx="4480560" cy="640080"/>
          </a:xfrm>
          <a:prstGeom prst="rect">
            <a:avLst/>
          </a:prstGeom>
          <a:noFill/>
          <a:ln/>
        </p:spPr>
        <p:txBody>
          <a:bodyPr wrap="square" lIns="0" tIns="0" rIns="0" bIns="0" rtlCol="0" anchor="t"/>
          <a:lstStyle/>
          <a:p>
            <a:pPr indent="0" marL="0">
              <a:buNone/>
            </a:pPr>
            <a:r>
              <a:rPr lang="en-US" sz="3600" b="1" dirty="0">
                <a:solidFill>
                  <a:srgbClr val="10B981"/>
                </a:solidFill>
                <a:latin typeface="+mj-lt" pitchFamily="34" charset="0"/>
                <a:ea typeface="+mj-lt" pitchFamily="34" charset="-122"/>
                <a:cs typeface="+mj-lt" pitchFamily="34" charset="-120"/>
              </a:rPr>
              <a:t>0.790</a:t>
            </a:r>
            <a:endParaRPr lang="en-US" sz="3600" dirty="0"/>
          </a:p>
        </p:txBody>
      </p:sp>
      <p:sp>
        <p:nvSpPr>
          <p:cNvPr id="15" name="Text 13"/>
          <p:cNvSpPr txBox="1"/>
          <p:nvPr/>
        </p:nvSpPr>
        <p:spPr>
          <a:xfrm>
            <a:off x="6949440" y="3648456"/>
            <a:ext cx="4526280" cy="502920"/>
          </a:xfrm>
          <a:prstGeom prst="rect">
            <a:avLst/>
          </a:prstGeom>
          <a:noFill/>
          <a:ln/>
        </p:spPr>
        <p:txBody>
          <a:bodyPr wrap="square" lIns="0" tIns="0" rIns="0" bIns="0" rtlCol="0" anchor="t"/>
          <a:lstStyle/>
          <a:p>
            <a:pPr indent="0" marL="0">
              <a:buNone/>
            </a:pPr>
            <a:r>
              <a:rPr lang="en-US" sz="1400" dirty="0">
                <a:solidFill>
                  <a:srgbClr val="475569"/>
                </a:solidFill>
              </a:rPr>
              <a:t>Random Forest F1: still the strongest model in the study</a:t>
            </a:r>
            <a:endParaRPr lang="en-US" sz="1400" dirty="0"/>
          </a:p>
        </p:txBody>
      </p:sp>
      <p:sp>
        <p:nvSpPr>
          <p:cNvPr id="16" name="stat card 3"/>
          <p:cNvSpPr/>
          <p:nvPr/>
        </p:nvSpPr>
        <p:spPr>
          <a:xfrm>
            <a:off x="6492240" y="4379976"/>
            <a:ext cx="5148072" cy="1325880"/>
          </a:xfrm>
          <a:prstGeom prst="roundRect">
            <a:avLst>
              <a:gd name="adj" fmla="val 8276"/>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17" name="Shape 15"/>
          <p:cNvSpPr/>
          <p:nvPr/>
        </p:nvSpPr>
        <p:spPr>
          <a:xfrm>
            <a:off x="6720840" y="4562856"/>
            <a:ext cx="128016" cy="128016"/>
          </a:xfrm>
          <a:prstGeom prst="ellipse">
            <a:avLst/>
          </a:prstGeom>
          <a:solidFill>
            <a:srgbClr val="F43F5E"/>
          </a:solidFill>
          <a:ln w="12700">
            <a:solidFill>
              <a:srgbClr val="F43F5E"/>
            </a:solidFill>
            <a:prstDash val="solid"/>
          </a:ln>
        </p:spPr>
      </p:sp>
      <p:sp>
        <p:nvSpPr>
          <p:cNvPr id="18" name="Text 16"/>
          <p:cNvSpPr txBox="1"/>
          <p:nvPr/>
        </p:nvSpPr>
        <p:spPr>
          <a:xfrm>
            <a:off x="6949440" y="4471416"/>
            <a:ext cx="4480560" cy="640080"/>
          </a:xfrm>
          <a:prstGeom prst="rect">
            <a:avLst/>
          </a:prstGeom>
          <a:noFill/>
          <a:ln/>
        </p:spPr>
        <p:txBody>
          <a:bodyPr wrap="square" lIns="0" tIns="0" rIns="0" bIns="0" rtlCol="0" anchor="t"/>
          <a:lstStyle/>
          <a:p>
            <a:pPr indent="0" marL="0">
              <a:buNone/>
            </a:pPr>
            <a:r>
              <a:rPr lang="en-US" sz="3600" b="1" dirty="0">
                <a:solidFill>
                  <a:srgbClr val="F43F5E"/>
                </a:solidFill>
                <a:latin typeface="+mj-lt" pitchFamily="34" charset="0"/>
                <a:ea typeface="+mj-lt" pitchFamily="34" charset="-122"/>
                <a:cs typeface="+mj-lt" pitchFamily="34" charset="-120"/>
              </a:rPr>
              <a:t>0.787 → 0.469</a:t>
            </a:r>
            <a:endParaRPr lang="en-US" sz="3600" dirty="0"/>
          </a:p>
        </p:txBody>
      </p:sp>
      <p:sp>
        <p:nvSpPr>
          <p:cNvPr id="19" name="Text 17"/>
          <p:cNvSpPr txBox="1"/>
          <p:nvPr/>
        </p:nvSpPr>
        <p:spPr>
          <a:xfrm>
            <a:off x="6949440" y="5129784"/>
            <a:ext cx="4526280" cy="502920"/>
          </a:xfrm>
          <a:prstGeom prst="rect">
            <a:avLst/>
          </a:prstGeom>
          <a:noFill/>
          <a:ln/>
        </p:spPr>
        <p:txBody>
          <a:bodyPr wrap="square" lIns="0" tIns="0" rIns="0" bIns="0" rtlCol="0" anchor="t"/>
          <a:lstStyle/>
          <a:p>
            <a:pPr indent="0" marL="0">
              <a:buNone/>
            </a:pPr>
            <a:r>
              <a:rPr lang="en-US" sz="1400" dirty="0">
                <a:solidFill>
                  <a:srgbClr val="475569"/>
                </a:solidFill>
              </a:rPr>
              <a:t>Boosted trees given the same feedback got worse (0 of 5 seeds improved)</a:t>
            </a:r>
            <a:endParaRPr lang="en-US" sz="1400" dirty="0"/>
          </a:p>
        </p:txBody>
      </p:sp>
      <p:sp>
        <p:nvSpPr>
          <p:cNvPr id="20" name="Text 18"/>
          <p:cNvSpPr txBox="1"/>
          <p:nvPr/>
        </p:nvSpPr>
        <p:spPr>
          <a:xfrm>
            <a:off x="548640" y="5943600"/>
            <a:ext cx="10972800" cy="320040"/>
          </a:xfrm>
          <a:prstGeom prst="rect">
            <a:avLst/>
          </a:prstGeom>
          <a:noFill/>
          <a:ln/>
        </p:spPr>
        <p:txBody>
          <a:bodyPr wrap="square" lIns="0" tIns="0" rIns="0" bIns="0" rtlCol="0" anchor="t"/>
          <a:lstStyle/>
          <a:p>
            <a:pPr indent="0" marL="0">
              <a:buNone/>
            </a:pPr>
            <a:r>
              <a:rPr lang="en-US" sz="1200" dirty="0">
                <a:solidFill>
                  <a:srgbClr val="64748B"/>
                </a:solidFill>
              </a:rPr>
              <a:t>Test period t = 35–49  ·  thresholds frozen on validation  ·  feedback delay is simulated</a:t>
            </a:r>
            <a:endParaRPr lang="en-US" sz="1200" dirty="0"/>
          </a:p>
        </p:txBody>
      </p:sp>
      <p:sp>
        <p:nvSpPr>
          <p:cNvPr id="25" name="Slide Number Placeholder 0"/>
          <p:cNvSpPr>
            <a:spLocks noGrp="1"/>
          </p:cNvSpPr>
          <p:nvPr>
            <p:ph type="sldNum" sz="quarter" idx="4294967295"/>
          </p:nvPr>
        </p:nvSpPr>
        <p:spPr>
          <a:xfrm>
            <a:off x="1115568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784080" cy="868680"/>
          </a:xfrm>
          <a:prstGeom prst="rect">
            <a:avLst/>
          </a:prstGeom>
          <a:noFill/>
          <a:ln/>
        </p:spPr>
        <p:txBody>
          <a:bodyPr wrap="square" lIns="0" tIns="0" rIns="0" bIns="0" rtlCol="0" anchor="ctr"/>
          <a:lstStyle/>
          <a:p>
            <a:pPr algn="l" indent="0" marL="0">
              <a:buNone/>
            </a:pPr>
            <a:r>
              <a:rPr lang="en-US" sz="3200" b="1" dirty="0">
                <a:solidFill>
                  <a:srgbClr val="0B1220"/>
                </a:solidFill>
                <a:latin typeface="Cambria" pitchFamily="34" charset="0"/>
                <a:ea typeface="Cambria" pitchFamily="34" charset="-122"/>
                <a:cs typeface="Cambria" pitchFamily="34" charset="-120"/>
              </a:rPr>
              <a:t>Fraud drifts, and confirmed labels arrive late</a:t>
            </a:r>
            <a:endParaRPr lang="en-US" sz="3200" dirty="0"/>
          </a:p>
        </p:txBody>
      </p:sp>
      <p:sp>
        <p:nvSpPr>
          <p:cNvPr id="3" name="Shape 1"/>
          <p:cNvSpPr/>
          <p:nvPr/>
        </p:nvSpPr>
        <p:spPr>
          <a:xfrm>
            <a:off x="10561320" y="475488"/>
            <a:ext cx="1097280" cy="329184"/>
          </a:xfrm>
          <a:prstGeom prst="roundRect">
            <a:avLst>
              <a:gd name="adj" fmla="val 50000"/>
            </a:avLst>
          </a:prstGeom>
          <a:solidFill>
            <a:srgbClr val="14213D"/>
          </a:solidFill>
          <a:ln w="12700">
            <a:solidFill>
              <a:srgbClr val="14213D"/>
            </a:solidFill>
            <a:prstDash val="solid"/>
          </a:ln>
        </p:spPr>
      </p:sp>
      <p:sp>
        <p:nvSpPr>
          <p:cNvPr id="4" name="Text 2"/>
          <p:cNvSpPr txBox="1"/>
          <p:nvPr/>
        </p:nvSpPr>
        <p:spPr>
          <a:xfrm>
            <a:off x="10561320" y="475488"/>
            <a:ext cx="1097280" cy="329184"/>
          </a:xfrm>
          <a:prstGeom prst="rect">
            <a:avLst/>
          </a:prstGeom>
          <a:noFill/>
          <a:ln/>
        </p:spPr>
        <p:txBody>
          <a:bodyPr wrap="square" lIns="0" tIns="0" rIns="0" bIns="0" rtlCol="0" anchor="ctr"/>
          <a:lstStyle/>
          <a:p>
            <a:pPr algn="ctr" indent="0" marL="0">
              <a:buNone/>
            </a:pPr>
            <a:r>
              <a:rPr lang="en-US" sz="1100" b="1" dirty="0">
                <a:solidFill>
                  <a:srgbClr val="FFFFFF"/>
                </a:solidFill>
              </a:rPr>
              <a:t>Speaker A</a:t>
            </a:r>
            <a:endParaRPr lang="en-US" sz="1100" dirty="0"/>
          </a:p>
        </p:txBody>
      </p:sp>
      <p:sp>
        <p:nvSpPr>
          <p:cNvPr id="5" name="problem row 1"/>
          <p:cNvSpPr/>
          <p:nvPr/>
        </p:nvSpPr>
        <p:spPr>
          <a:xfrm>
            <a:off x="548640" y="1417320"/>
            <a:ext cx="6309360" cy="1188720"/>
          </a:xfrm>
          <a:prstGeom prst="roundRect">
            <a:avLst>
              <a:gd name="adj" fmla="val 9231"/>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6" name="Shape 4"/>
          <p:cNvSpPr/>
          <p:nvPr/>
        </p:nvSpPr>
        <p:spPr>
          <a:xfrm>
            <a:off x="777240" y="1645920"/>
            <a:ext cx="731520" cy="731520"/>
          </a:xfrm>
          <a:prstGeom prst="ellipse">
            <a:avLst/>
          </a:prstGeom>
          <a:solidFill>
            <a:srgbClr val="F43F5E"/>
          </a:solidFill>
          <a:ln w="12700">
            <a:solidFill>
              <a:srgbClr val="F43F5E"/>
            </a:solidFill>
            <a:prstDash val="solid"/>
          </a:ln>
        </p:spPr>
      </p:sp>
      <p:pic>
        <p:nvPicPr>
          <p:cNvPr id="7" name="Image 0" descr="icon">    </p:cNvPr>
          <p:cNvPicPr>
            <a:picLocks noChangeAspect="1"/>
          </p:cNvPicPr>
          <p:nvPr/>
        </p:nvPicPr>
        <p:blipFill>
          <a:blip r:embed="rId1"/>
          <a:stretch>
            <a:fillRect/>
          </a:stretch>
        </p:blipFill>
        <p:spPr>
          <a:xfrm>
            <a:off x="967435" y="1836115"/>
            <a:ext cx="351130" cy="351130"/>
          </a:xfrm>
          <a:prstGeom prst="rect">
            <a:avLst/>
          </a:prstGeom>
        </p:spPr>
      </p:pic>
      <p:sp>
        <p:nvSpPr>
          <p:cNvPr id="8" name="Text 5"/>
          <p:cNvSpPr txBox="1"/>
          <p:nvPr/>
        </p:nvSpPr>
        <p:spPr>
          <a:xfrm>
            <a:off x="1737360" y="1554480"/>
            <a:ext cx="4937760" cy="365760"/>
          </a:xfrm>
          <a:prstGeom prst="rect">
            <a:avLst/>
          </a:prstGeom>
          <a:noFill/>
          <a:ln/>
        </p:spPr>
        <p:txBody>
          <a:bodyPr wrap="square" lIns="0" tIns="0" rIns="0" bIns="0" rtlCol="0" anchor="t"/>
          <a:lstStyle/>
          <a:p>
            <a:pPr indent="0" marL="0">
              <a:buNone/>
            </a:pPr>
            <a:r>
              <a:rPr lang="en-US" sz="1900" b="1" dirty="0">
                <a:solidFill>
                  <a:srgbClr val="0B1220"/>
                </a:solidFill>
              </a:rPr>
              <a:t>Behaviour drifts</a:t>
            </a:r>
            <a:endParaRPr lang="en-US" sz="1900" dirty="0"/>
          </a:p>
        </p:txBody>
      </p:sp>
      <p:sp>
        <p:nvSpPr>
          <p:cNvPr id="9" name="Text 6"/>
          <p:cNvSpPr txBox="1"/>
          <p:nvPr/>
        </p:nvSpPr>
        <p:spPr>
          <a:xfrm>
            <a:off x="1737360" y="1947672"/>
            <a:ext cx="4937760" cy="566928"/>
          </a:xfrm>
          <a:prstGeom prst="rect">
            <a:avLst/>
          </a:prstGeom>
          <a:noFill/>
          <a:ln/>
        </p:spPr>
        <p:txBody>
          <a:bodyPr wrap="square" lIns="0" tIns="0" rIns="0" bIns="0" rtlCol="0" anchor="t"/>
          <a:lstStyle/>
          <a:p>
            <a:pPr indent="0" marL="0">
              <a:buNone/>
            </a:pPr>
            <a:r>
              <a:rPr lang="en-US" sz="1400" dirty="0">
                <a:solidFill>
                  <a:srgbClr val="475569"/>
                </a:solidFill>
              </a:rPr>
              <a:t>Illicit patterns change over time, so a model trained once decays.</a:t>
            </a:r>
            <a:endParaRPr lang="en-US" sz="1400" dirty="0"/>
          </a:p>
        </p:txBody>
      </p:sp>
      <p:sp>
        <p:nvSpPr>
          <p:cNvPr id="10" name="problem row 2"/>
          <p:cNvSpPr/>
          <p:nvPr/>
        </p:nvSpPr>
        <p:spPr>
          <a:xfrm>
            <a:off x="548640" y="2743200"/>
            <a:ext cx="6309360" cy="1188720"/>
          </a:xfrm>
          <a:prstGeom prst="roundRect">
            <a:avLst>
              <a:gd name="adj" fmla="val 9231"/>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11" name="Shape 8"/>
          <p:cNvSpPr/>
          <p:nvPr/>
        </p:nvSpPr>
        <p:spPr>
          <a:xfrm>
            <a:off x="777240" y="2971800"/>
            <a:ext cx="731520" cy="731520"/>
          </a:xfrm>
          <a:prstGeom prst="ellipse">
            <a:avLst/>
          </a:prstGeom>
          <a:solidFill>
            <a:srgbClr val="F59E0B"/>
          </a:solidFill>
          <a:ln w="12700">
            <a:solidFill>
              <a:srgbClr val="F59E0B"/>
            </a:solidFill>
            <a:prstDash val="solid"/>
          </a:ln>
        </p:spPr>
      </p:sp>
      <p:pic>
        <p:nvPicPr>
          <p:cNvPr id="12" name="Image 1" descr="icon">    </p:cNvPr>
          <p:cNvPicPr>
            <a:picLocks noChangeAspect="1"/>
          </p:cNvPicPr>
          <p:nvPr/>
        </p:nvPicPr>
        <p:blipFill>
          <a:blip r:embed="rId2"/>
          <a:stretch>
            <a:fillRect/>
          </a:stretch>
        </p:blipFill>
        <p:spPr>
          <a:xfrm>
            <a:off x="967435" y="3161995"/>
            <a:ext cx="351130" cy="351130"/>
          </a:xfrm>
          <a:prstGeom prst="rect">
            <a:avLst/>
          </a:prstGeom>
        </p:spPr>
      </p:pic>
      <p:sp>
        <p:nvSpPr>
          <p:cNvPr id="13" name="Text 9"/>
          <p:cNvSpPr txBox="1"/>
          <p:nvPr/>
        </p:nvSpPr>
        <p:spPr>
          <a:xfrm>
            <a:off x="1737360" y="2880360"/>
            <a:ext cx="4937760" cy="365760"/>
          </a:xfrm>
          <a:prstGeom prst="rect">
            <a:avLst/>
          </a:prstGeom>
          <a:noFill/>
          <a:ln/>
        </p:spPr>
        <p:txBody>
          <a:bodyPr wrap="square" lIns="0" tIns="0" rIns="0" bIns="0" rtlCol="0" anchor="t"/>
          <a:lstStyle/>
          <a:p>
            <a:pPr indent="0" marL="0">
              <a:buNone/>
            </a:pPr>
            <a:r>
              <a:rPr lang="en-US" sz="1900" b="1" dirty="0">
                <a:solidFill>
                  <a:srgbClr val="0B1220"/>
                </a:solidFill>
              </a:rPr>
              <a:t>Labels arrive late</a:t>
            </a:r>
            <a:endParaRPr lang="en-US" sz="1900" dirty="0"/>
          </a:p>
        </p:txBody>
      </p:sp>
      <p:sp>
        <p:nvSpPr>
          <p:cNvPr id="14" name="Text 10"/>
          <p:cNvSpPr txBox="1"/>
          <p:nvPr/>
        </p:nvSpPr>
        <p:spPr>
          <a:xfrm>
            <a:off x="1737360" y="3273552"/>
            <a:ext cx="4937760" cy="566928"/>
          </a:xfrm>
          <a:prstGeom prst="rect">
            <a:avLst/>
          </a:prstGeom>
          <a:noFill/>
          <a:ln/>
        </p:spPr>
        <p:txBody>
          <a:bodyPr wrap="square" lIns="0" tIns="0" rIns="0" bIns="0" rtlCol="0" anchor="t"/>
          <a:lstStyle/>
          <a:p>
            <a:pPr indent="0" marL="0">
              <a:buNone/>
            </a:pPr>
            <a:r>
              <a:rPr lang="en-US" sz="1400" dirty="0">
                <a:solidFill>
                  <a:srgbClr val="475569"/>
                </a:solidFill>
              </a:rPr>
              <a:t>Investigations confirm fraud after the fact, so feedback lags the predictions.</a:t>
            </a:r>
            <a:endParaRPr lang="en-US" sz="1400" dirty="0"/>
          </a:p>
        </p:txBody>
      </p:sp>
      <p:sp>
        <p:nvSpPr>
          <p:cNvPr id="15" name="problem row 3"/>
          <p:cNvSpPr/>
          <p:nvPr/>
        </p:nvSpPr>
        <p:spPr>
          <a:xfrm>
            <a:off x="548640" y="4069080"/>
            <a:ext cx="6309360" cy="1188720"/>
          </a:xfrm>
          <a:prstGeom prst="roundRect">
            <a:avLst>
              <a:gd name="adj" fmla="val 9231"/>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16" name="Shape 12"/>
          <p:cNvSpPr/>
          <p:nvPr/>
        </p:nvSpPr>
        <p:spPr>
          <a:xfrm>
            <a:off x="777240" y="4297680"/>
            <a:ext cx="731520" cy="731520"/>
          </a:xfrm>
          <a:prstGeom prst="ellipse">
            <a:avLst/>
          </a:prstGeom>
          <a:solidFill>
            <a:srgbClr val="06B6D4"/>
          </a:solidFill>
          <a:ln w="12700">
            <a:solidFill>
              <a:srgbClr val="06B6D4"/>
            </a:solidFill>
            <a:prstDash val="solid"/>
          </a:ln>
        </p:spPr>
      </p:sp>
      <p:pic>
        <p:nvPicPr>
          <p:cNvPr id="17" name="Image 2" descr="icon">    </p:cNvPr>
          <p:cNvPicPr>
            <a:picLocks noChangeAspect="1"/>
          </p:cNvPicPr>
          <p:nvPr/>
        </p:nvPicPr>
        <p:blipFill>
          <a:blip r:embed="rId3"/>
          <a:stretch>
            <a:fillRect/>
          </a:stretch>
        </p:blipFill>
        <p:spPr>
          <a:xfrm>
            <a:off x="967435" y="4487875"/>
            <a:ext cx="351130" cy="351130"/>
          </a:xfrm>
          <a:prstGeom prst="rect">
            <a:avLst/>
          </a:prstGeom>
        </p:spPr>
      </p:pic>
      <p:sp>
        <p:nvSpPr>
          <p:cNvPr id="18" name="Text 13"/>
          <p:cNvSpPr txBox="1"/>
          <p:nvPr/>
        </p:nvSpPr>
        <p:spPr>
          <a:xfrm>
            <a:off x="1737360" y="4206240"/>
            <a:ext cx="4937760" cy="365760"/>
          </a:xfrm>
          <a:prstGeom prst="rect">
            <a:avLst/>
          </a:prstGeom>
          <a:noFill/>
          <a:ln/>
        </p:spPr>
        <p:txBody>
          <a:bodyPr wrap="square" lIns="0" tIns="0" rIns="0" bIns="0" rtlCol="0" anchor="t"/>
          <a:lstStyle/>
          <a:p>
            <a:pPr indent="0" marL="0">
              <a:buNone/>
            </a:pPr>
            <a:r>
              <a:rPr lang="en-US" sz="1900" b="1" dirty="0">
                <a:solidFill>
                  <a:srgbClr val="0B1220"/>
                </a:solidFill>
              </a:rPr>
              <a:t>Transactions form a graph</a:t>
            </a:r>
            <a:endParaRPr lang="en-US" sz="1900" dirty="0"/>
          </a:p>
        </p:txBody>
      </p:sp>
      <p:sp>
        <p:nvSpPr>
          <p:cNvPr id="19" name="Text 14"/>
          <p:cNvSpPr txBox="1"/>
          <p:nvPr/>
        </p:nvSpPr>
        <p:spPr>
          <a:xfrm>
            <a:off x="1737360" y="4599432"/>
            <a:ext cx="4937760" cy="566928"/>
          </a:xfrm>
          <a:prstGeom prst="rect">
            <a:avLst/>
          </a:prstGeom>
          <a:noFill/>
          <a:ln/>
        </p:spPr>
        <p:txBody>
          <a:bodyPr wrap="square" lIns="0" tIns="0" rIns="0" bIns="0" rtlCol="0" anchor="t"/>
          <a:lstStyle/>
          <a:p>
            <a:pPr indent="0" marL="0">
              <a:buNone/>
            </a:pPr>
            <a:r>
              <a:rPr lang="en-US" sz="1400" dirty="0">
                <a:solidFill>
                  <a:srgbClr val="475569"/>
                </a:solidFill>
              </a:rPr>
              <a:t>Neighbouring transactions carry signal that tabular models ignore.</a:t>
            </a:r>
            <a:endParaRPr lang="en-US" sz="1400" dirty="0"/>
          </a:p>
        </p:txBody>
      </p:sp>
      <p:sp>
        <p:nvSpPr>
          <p:cNvPr id="20" name="dataset tile 1"/>
          <p:cNvSpPr/>
          <p:nvPr/>
        </p:nvSpPr>
        <p:spPr>
          <a:xfrm>
            <a:off x="7178040" y="1417320"/>
            <a:ext cx="2148840" cy="1691640"/>
          </a:xfrm>
          <a:prstGeom prst="roundRect">
            <a:avLst>
              <a:gd name="adj" fmla="val 6486"/>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21" name="Text 16"/>
          <p:cNvSpPr txBox="1"/>
          <p:nvPr/>
        </p:nvSpPr>
        <p:spPr>
          <a:xfrm>
            <a:off x="7269480" y="1737360"/>
            <a:ext cx="1965960" cy="685800"/>
          </a:xfrm>
          <a:prstGeom prst="rect">
            <a:avLst/>
          </a:prstGeom>
          <a:noFill/>
          <a:ln/>
        </p:spPr>
        <p:txBody>
          <a:bodyPr wrap="square" lIns="0" tIns="0" rIns="0" bIns="0" rtlCol="0" anchor="t"/>
          <a:lstStyle/>
          <a:p>
            <a:pPr algn="ctr" indent="0" marL="0">
              <a:buNone/>
            </a:pPr>
            <a:r>
              <a:rPr lang="en-US" sz="3600" b="1" dirty="0">
                <a:solidFill>
                  <a:srgbClr val="2563EB"/>
                </a:solidFill>
                <a:latin typeface="+mj-lt" pitchFamily="34" charset="0"/>
                <a:ea typeface="+mj-lt" pitchFamily="34" charset="-122"/>
                <a:cs typeface="+mj-lt" pitchFamily="34" charset="-120"/>
              </a:rPr>
              <a:t>203,769</a:t>
            </a:r>
            <a:endParaRPr lang="en-US" sz="3600" dirty="0"/>
          </a:p>
        </p:txBody>
      </p:sp>
      <p:sp>
        <p:nvSpPr>
          <p:cNvPr id="22" name="Text 17"/>
          <p:cNvSpPr txBox="1"/>
          <p:nvPr/>
        </p:nvSpPr>
        <p:spPr>
          <a:xfrm>
            <a:off x="7269480" y="2468880"/>
            <a:ext cx="1965960" cy="457200"/>
          </a:xfrm>
          <a:prstGeom prst="rect">
            <a:avLst/>
          </a:prstGeom>
          <a:noFill/>
          <a:ln/>
        </p:spPr>
        <p:txBody>
          <a:bodyPr wrap="square" lIns="0" tIns="0" rIns="0" bIns="0" rtlCol="0" anchor="t"/>
          <a:lstStyle/>
          <a:p>
            <a:pPr algn="ctr" indent="0" marL="0">
              <a:buNone/>
            </a:pPr>
            <a:r>
              <a:rPr lang="en-US" sz="1400" dirty="0">
                <a:solidFill>
                  <a:srgbClr val="475569"/>
                </a:solidFill>
              </a:rPr>
              <a:t>transactions</a:t>
            </a:r>
            <a:endParaRPr lang="en-US" sz="1400" dirty="0"/>
          </a:p>
        </p:txBody>
      </p:sp>
      <p:sp>
        <p:nvSpPr>
          <p:cNvPr id="23" name="dataset tile 2"/>
          <p:cNvSpPr/>
          <p:nvPr/>
        </p:nvSpPr>
        <p:spPr>
          <a:xfrm>
            <a:off x="9464040" y="1417320"/>
            <a:ext cx="2148840" cy="1691640"/>
          </a:xfrm>
          <a:prstGeom prst="roundRect">
            <a:avLst>
              <a:gd name="adj" fmla="val 6486"/>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24" name="Text 19"/>
          <p:cNvSpPr txBox="1"/>
          <p:nvPr/>
        </p:nvSpPr>
        <p:spPr>
          <a:xfrm>
            <a:off x="9555480" y="1737360"/>
            <a:ext cx="1965960" cy="685800"/>
          </a:xfrm>
          <a:prstGeom prst="rect">
            <a:avLst/>
          </a:prstGeom>
          <a:noFill/>
          <a:ln/>
        </p:spPr>
        <p:txBody>
          <a:bodyPr wrap="square" lIns="0" tIns="0" rIns="0" bIns="0" rtlCol="0" anchor="t"/>
          <a:lstStyle/>
          <a:p>
            <a:pPr algn="ctr" indent="0" marL="0">
              <a:buNone/>
            </a:pPr>
            <a:r>
              <a:rPr lang="en-US" sz="3600" b="1" dirty="0">
                <a:solidFill>
                  <a:srgbClr val="0891B2"/>
                </a:solidFill>
                <a:latin typeface="+mj-lt" pitchFamily="34" charset="0"/>
                <a:ea typeface="+mj-lt" pitchFamily="34" charset="-122"/>
                <a:cs typeface="+mj-lt" pitchFamily="34" charset="-120"/>
              </a:rPr>
              <a:t>234,355</a:t>
            </a:r>
            <a:endParaRPr lang="en-US" sz="3600" dirty="0"/>
          </a:p>
        </p:txBody>
      </p:sp>
      <p:sp>
        <p:nvSpPr>
          <p:cNvPr id="25" name="Text 20"/>
          <p:cNvSpPr txBox="1"/>
          <p:nvPr/>
        </p:nvSpPr>
        <p:spPr>
          <a:xfrm>
            <a:off x="9555480" y="2468880"/>
            <a:ext cx="1965960" cy="457200"/>
          </a:xfrm>
          <a:prstGeom prst="rect">
            <a:avLst/>
          </a:prstGeom>
          <a:noFill/>
          <a:ln/>
        </p:spPr>
        <p:txBody>
          <a:bodyPr wrap="square" lIns="0" tIns="0" rIns="0" bIns="0" rtlCol="0" anchor="t"/>
          <a:lstStyle/>
          <a:p>
            <a:pPr algn="ctr" indent="0" marL="0">
              <a:buNone/>
            </a:pPr>
            <a:r>
              <a:rPr lang="en-US" sz="1400" dirty="0">
                <a:solidFill>
                  <a:srgbClr val="475569"/>
                </a:solidFill>
              </a:rPr>
              <a:t>directed edges</a:t>
            </a:r>
            <a:endParaRPr lang="en-US" sz="1400" dirty="0"/>
          </a:p>
        </p:txBody>
      </p:sp>
      <p:sp>
        <p:nvSpPr>
          <p:cNvPr id="26" name="dataset tile 3"/>
          <p:cNvSpPr/>
          <p:nvPr/>
        </p:nvSpPr>
        <p:spPr>
          <a:xfrm>
            <a:off x="7178040" y="3291840"/>
            <a:ext cx="2148840" cy="1691640"/>
          </a:xfrm>
          <a:prstGeom prst="roundRect">
            <a:avLst>
              <a:gd name="adj" fmla="val 6486"/>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27" name="Text 22"/>
          <p:cNvSpPr txBox="1"/>
          <p:nvPr/>
        </p:nvSpPr>
        <p:spPr>
          <a:xfrm>
            <a:off x="7269480" y="3611880"/>
            <a:ext cx="1965960" cy="685800"/>
          </a:xfrm>
          <a:prstGeom prst="rect">
            <a:avLst/>
          </a:prstGeom>
          <a:noFill/>
          <a:ln/>
        </p:spPr>
        <p:txBody>
          <a:bodyPr wrap="square" lIns="0" tIns="0" rIns="0" bIns="0" rtlCol="0" anchor="t"/>
          <a:lstStyle/>
          <a:p>
            <a:pPr algn="ctr" indent="0" marL="0">
              <a:buNone/>
            </a:pPr>
            <a:r>
              <a:rPr lang="en-US" sz="3600" b="1" dirty="0">
                <a:solidFill>
                  <a:srgbClr val="6366F1"/>
                </a:solidFill>
                <a:latin typeface="+mj-lt" pitchFamily="34" charset="0"/>
                <a:ea typeface="+mj-lt" pitchFamily="34" charset="-122"/>
                <a:cs typeface="+mj-lt" pitchFamily="34" charset="-120"/>
              </a:rPr>
              <a:t>49</a:t>
            </a:r>
            <a:endParaRPr lang="en-US" sz="3600" dirty="0"/>
          </a:p>
        </p:txBody>
      </p:sp>
      <p:sp>
        <p:nvSpPr>
          <p:cNvPr id="28" name="Text 23"/>
          <p:cNvSpPr txBox="1"/>
          <p:nvPr/>
        </p:nvSpPr>
        <p:spPr>
          <a:xfrm>
            <a:off x="7269480" y="4343400"/>
            <a:ext cx="1965960" cy="457200"/>
          </a:xfrm>
          <a:prstGeom prst="rect">
            <a:avLst/>
          </a:prstGeom>
          <a:noFill/>
          <a:ln/>
        </p:spPr>
        <p:txBody>
          <a:bodyPr wrap="square" lIns="0" tIns="0" rIns="0" bIns="0" rtlCol="0" anchor="t"/>
          <a:lstStyle/>
          <a:p>
            <a:pPr algn="ctr" indent="0" marL="0">
              <a:buNone/>
            </a:pPr>
            <a:r>
              <a:rPr lang="en-US" sz="1400" dirty="0">
                <a:solidFill>
                  <a:srgbClr val="475569"/>
                </a:solidFill>
              </a:rPr>
              <a:t>time steps (snapshots)</a:t>
            </a:r>
            <a:endParaRPr lang="en-US" sz="1400" dirty="0"/>
          </a:p>
        </p:txBody>
      </p:sp>
      <p:sp>
        <p:nvSpPr>
          <p:cNvPr id="29" name="dataset tile 4"/>
          <p:cNvSpPr/>
          <p:nvPr/>
        </p:nvSpPr>
        <p:spPr>
          <a:xfrm>
            <a:off x="9464040" y="3291840"/>
            <a:ext cx="2148840" cy="1691640"/>
          </a:xfrm>
          <a:prstGeom prst="roundRect">
            <a:avLst>
              <a:gd name="adj" fmla="val 6486"/>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30" name="Text 25"/>
          <p:cNvSpPr txBox="1"/>
          <p:nvPr/>
        </p:nvSpPr>
        <p:spPr>
          <a:xfrm>
            <a:off x="9555480" y="3611880"/>
            <a:ext cx="1965960" cy="685800"/>
          </a:xfrm>
          <a:prstGeom prst="rect">
            <a:avLst/>
          </a:prstGeom>
          <a:noFill/>
          <a:ln/>
        </p:spPr>
        <p:txBody>
          <a:bodyPr wrap="square" lIns="0" tIns="0" rIns="0" bIns="0" rtlCol="0" anchor="t"/>
          <a:lstStyle/>
          <a:p>
            <a:pPr algn="ctr" indent="0" marL="0">
              <a:buNone/>
            </a:pPr>
            <a:r>
              <a:rPr lang="en-US" sz="3600" b="1" dirty="0">
                <a:solidFill>
                  <a:srgbClr val="10B981"/>
                </a:solidFill>
                <a:latin typeface="+mj-lt" pitchFamily="34" charset="0"/>
                <a:ea typeface="+mj-lt" pitchFamily="34" charset="-122"/>
                <a:cs typeface="+mj-lt" pitchFamily="34" charset="-120"/>
              </a:rPr>
              <a:t>165</a:t>
            </a:r>
            <a:endParaRPr lang="en-US" sz="3600" dirty="0"/>
          </a:p>
        </p:txBody>
      </p:sp>
      <p:sp>
        <p:nvSpPr>
          <p:cNvPr id="31" name="Text 26"/>
          <p:cNvSpPr txBox="1"/>
          <p:nvPr/>
        </p:nvSpPr>
        <p:spPr>
          <a:xfrm>
            <a:off x="9555480" y="4343400"/>
            <a:ext cx="1965960" cy="457200"/>
          </a:xfrm>
          <a:prstGeom prst="rect">
            <a:avLst/>
          </a:prstGeom>
          <a:noFill/>
          <a:ln/>
        </p:spPr>
        <p:txBody>
          <a:bodyPr wrap="square" lIns="0" tIns="0" rIns="0" bIns="0" rtlCol="0" anchor="t"/>
          <a:lstStyle/>
          <a:p>
            <a:pPr algn="ctr" indent="0" marL="0">
              <a:buNone/>
            </a:pPr>
            <a:r>
              <a:rPr lang="en-US" sz="1400" dirty="0">
                <a:solidFill>
                  <a:srgbClr val="475569"/>
                </a:solidFill>
              </a:rPr>
              <a:t>anonymised features</a:t>
            </a:r>
            <a:endParaRPr lang="en-US" sz="1400" dirty="0"/>
          </a:p>
        </p:txBody>
      </p:sp>
      <p:sp>
        <p:nvSpPr>
          <p:cNvPr id="32" name="Shape 27"/>
          <p:cNvSpPr/>
          <p:nvPr/>
        </p:nvSpPr>
        <p:spPr>
          <a:xfrm>
            <a:off x="548640" y="5440680"/>
            <a:ext cx="11091672" cy="822960"/>
          </a:xfrm>
          <a:prstGeom prst="roundRect">
            <a:avLst>
              <a:gd name="adj" fmla="val 13333"/>
            </a:avLst>
          </a:prstGeom>
          <a:solidFill>
            <a:srgbClr val="0B1220"/>
          </a:solidFill>
          <a:ln w="12700">
            <a:solidFill>
              <a:srgbClr val="0B1220"/>
            </a:solidFill>
            <a:prstDash val="solid"/>
          </a:ln>
        </p:spPr>
      </p:sp>
      <p:sp>
        <p:nvSpPr>
          <p:cNvPr id="33" name="Text 28"/>
          <p:cNvSpPr txBox="1"/>
          <p:nvPr/>
        </p:nvSpPr>
        <p:spPr>
          <a:xfrm>
            <a:off x="777240" y="5440680"/>
            <a:ext cx="10698480" cy="822960"/>
          </a:xfrm>
          <a:prstGeom prst="rect">
            <a:avLst/>
          </a:prstGeom>
          <a:noFill/>
          <a:ln/>
        </p:spPr>
        <p:txBody>
          <a:bodyPr wrap="square" lIns="0" tIns="0" rIns="0" bIns="0" rtlCol="0" anchor="ctr"/>
          <a:lstStyle/>
          <a:p>
            <a:pPr indent="0" marL="0">
              <a:buNone/>
            </a:pPr>
            <a:r>
              <a:rPr lang="en-US" sz="1700" b="1" dirty="0">
                <a:solidFill>
                  <a:srgbClr val="06B6D4"/>
                </a:solidFill>
              </a:rPr>
              <a:t>Our question  </a:t>
            </a:r>
            <a:pPr indent="0" marL="0">
              <a:buNone/>
            </a:pPr>
            <a:r>
              <a:rPr lang="en-US" sz="1700" dirty="0">
                <a:solidFill>
                  <a:srgbClr val="FFFFFF"/>
                </a:solidFill>
              </a:rPr>
              <a:t>Does fine-tuning on newly revealed labels help a graph model, and is that effect specific to graph models?</a:t>
            </a:r>
            <a:endParaRPr lang="en-US" sz="1700" dirty="0"/>
          </a:p>
        </p:txBody>
      </p:sp>
      <p:sp>
        <p:nvSpPr>
          <p:cNvPr id="25" name="Slide Number Placeholder 0"/>
          <p:cNvSpPr>
            <a:spLocks noGrp="1"/>
          </p:cNvSpPr>
          <p:nvPr>
            <p:ph type="sldNum" sz="quarter" idx="4294967295"/>
          </p:nvPr>
        </p:nvSpPr>
        <p:spPr>
          <a:xfrm>
            <a:off x="1115568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784080" cy="868680"/>
          </a:xfrm>
          <a:prstGeom prst="rect">
            <a:avLst/>
          </a:prstGeom>
          <a:noFill/>
          <a:ln/>
        </p:spPr>
        <p:txBody>
          <a:bodyPr wrap="square" lIns="0" tIns="0" rIns="0" bIns="0" rtlCol="0" anchor="ctr"/>
          <a:lstStyle/>
          <a:p>
            <a:pPr algn="l" indent="0" marL="0">
              <a:buNone/>
            </a:pPr>
            <a:r>
              <a:rPr lang="en-US" sz="3200" b="1" dirty="0">
                <a:solidFill>
                  <a:srgbClr val="0B1220"/>
                </a:solidFill>
                <a:latin typeface="Cambria" pitchFamily="34" charset="0"/>
                <a:ea typeface="Cambria" pitchFamily="34" charset="-122"/>
                <a:cs typeface="Cambria" pitchFamily="34" charset="-120"/>
              </a:rPr>
              <a:t>A chronological split keeps the future out of training</a:t>
            </a:r>
            <a:endParaRPr lang="en-US" sz="3200" dirty="0"/>
          </a:p>
        </p:txBody>
      </p:sp>
      <p:sp>
        <p:nvSpPr>
          <p:cNvPr id="3" name="Shape 1"/>
          <p:cNvSpPr/>
          <p:nvPr/>
        </p:nvSpPr>
        <p:spPr>
          <a:xfrm>
            <a:off x="10561320" y="475488"/>
            <a:ext cx="1097280" cy="329184"/>
          </a:xfrm>
          <a:prstGeom prst="roundRect">
            <a:avLst>
              <a:gd name="adj" fmla="val 50000"/>
            </a:avLst>
          </a:prstGeom>
          <a:solidFill>
            <a:srgbClr val="14213D"/>
          </a:solidFill>
          <a:ln w="12700">
            <a:solidFill>
              <a:srgbClr val="14213D"/>
            </a:solidFill>
            <a:prstDash val="solid"/>
          </a:ln>
        </p:spPr>
      </p:sp>
      <p:sp>
        <p:nvSpPr>
          <p:cNvPr id="4" name="Text 2"/>
          <p:cNvSpPr txBox="1"/>
          <p:nvPr/>
        </p:nvSpPr>
        <p:spPr>
          <a:xfrm>
            <a:off x="10561320" y="475488"/>
            <a:ext cx="1097280" cy="329184"/>
          </a:xfrm>
          <a:prstGeom prst="rect">
            <a:avLst/>
          </a:prstGeom>
          <a:noFill/>
          <a:ln/>
        </p:spPr>
        <p:txBody>
          <a:bodyPr wrap="square" lIns="0" tIns="0" rIns="0" bIns="0" rtlCol="0" anchor="ctr"/>
          <a:lstStyle/>
          <a:p>
            <a:pPr algn="ctr" indent="0" marL="0">
              <a:buNone/>
            </a:pPr>
            <a:r>
              <a:rPr lang="en-US" sz="1100" b="1" dirty="0">
                <a:solidFill>
                  <a:srgbClr val="FFFFFF"/>
                </a:solidFill>
              </a:rPr>
              <a:t>Speaker A</a:t>
            </a:r>
            <a:endParaRPr lang="en-US" sz="1100" dirty="0"/>
          </a:p>
        </p:txBody>
      </p:sp>
      <p:sp>
        <p:nvSpPr>
          <p:cNvPr id="5" name="split chart card"/>
          <p:cNvSpPr/>
          <p:nvPr/>
        </p:nvSpPr>
        <p:spPr>
          <a:xfrm>
            <a:off x="548640" y="1371600"/>
            <a:ext cx="7589520" cy="4434840"/>
          </a:xfrm>
          <a:prstGeom prst="roundRect">
            <a:avLst>
              <a:gd name="adj" fmla="val 2474"/>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graphicFrame>
        <p:nvGraphicFramePr>
          <p:cNvPr id="6" name="Chart 0" descr=""/>
          <p:cNvGraphicFramePr/>
          <p:nvPr/>
        </p:nvGraphicFramePr>
        <p:xfrm>
          <a:off x="685800" y="1463040"/>
          <a:ext cx="7315200" cy="4206240"/>
        </p:xfrm>
        <a:graphic xmlns:a="http://schemas.openxmlformats.org/drawingml/2006/main">
          <a:graphicData uri="http://schemas.openxmlformats.org/drawingml/2006/chart">
            <c:chart xmlns:c="http://schemas.openxmlformats.org/drawingml/2006/chart" r:id="rId1"/>
          </a:graphicData>
        </a:graphic>
      </p:graphicFrame>
      <p:sp>
        <p:nvSpPr>
          <p:cNvPr id="7" name="split card 1"/>
          <p:cNvSpPr/>
          <p:nvPr/>
        </p:nvSpPr>
        <p:spPr>
          <a:xfrm>
            <a:off x="8412480" y="1371600"/>
            <a:ext cx="3227832"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8" name="Shape 5"/>
          <p:cNvSpPr/>
          <p:nvPr/>
        </p:nvSpPr>
        <p:spPr>
          <a:xfrm>
            <a:off x="8613648" y="1572768"/>
            <a:ext cx="182880" cy="182880"/>
          </a:xfrm>
          <a:prstGeom prst="ellipse">
            <a:avLst/>
          </a:prstGeom>
          <a:solidFill>
            <a:srgbClr val="94A3B8"/>
          </a:solidFill>
          <a:ln w="12700">
            <a:solidFill>
              <a:srgbClr val="94A3B8"/>
            </a:solidFill>
            <a:prstDash val="solid"/>
          </a:ln>
        </p:spPr>
      </p:sp>
      <p:sp>
        <p:nvSpPr>
          <p:cNvPr id="9" name="Text 6"/>
          <p:cNvSpPr txBox="1"/>
          <p:nvPr/>
        </p:nvSpPr>
        <p:spPr>
          <a:xfrm>
            <a:off x="8887968" y="1481328"/>
            <a:ext cx="2697480" cy="365760"/>
          </a:xfrm>
          <a:prstGeom prst="rect">
            <a:avLst/>
          </a:prstGeom>
          <a:noFill/>
          <a:ln/>
        </p:spPr>
        <p:txBody>
          <a:bodyPr wrap="square" lIns="0" tIns="0" rIns="0" bIns="0" rtlCol="0" anchor="t"/>
          <a:lstStyle/>
          <a:p>
            <a:pPr indent="0" marL="0">
              <a:buNone/>
            </a:pPr>
            <a:r>
              <a:rPr lang="en-US" sz="1600" b="1" dirty="0">
                <a:solidFill>
                  <a:srgbClr val="0B1220"/>
                </a:solidFill>
              </a:rPr>
              <a:t>Train  t = 1–29</a:t>
            </a:r>
            <a:endParaRPr lang="en-US" sz="1600" dirty="0"/>
          </a:p>
        </p:txBody>
      </p:sp>
      <p:sp>
        <p:nvSpPr>
          <p:cNvPr id="10" name="Text 7"/>
          <p:cNvSpPr txBox="1"/>
          <p:nvPr/>
        </p:nvSpPr>
        <p:spPr>
          <a:xfrm>
            <a:off x="8613648" y="1901952"/>
            <a:ext cx="2880360" cy="822960"/>
          </a:xfrm>
          <a:prstGeom prst="rect">
            <a:avLst/>
          </a:prstGeom>
          <a:noFill/>
          <a:ln/>
        </p:spPr>
        <p:txBody>
          <a:bodyPr wrap="square" lIns="0" tIns="0" rIns="0" bIns="0" rtlCol="0" anchor="t"/>
          <a:lstStyle/>
          <a:p>
            <a:pPr indent="0" marL="0">
              <a:buNone/>
            </a:pPr>
            <a:r>
              <a:rPr lang="en-US" sz="1300" dirty="0">
                <a:solidFill>
                  <a:srgbClr val="475569"/>
                </a:solidFill>
              </a:rPr>
              <a:t>Models are fitted here, and class weights are computed here only.</a:t>
            </a:r>
            <a:endParaRPr lang="en-US" sz="1300" dirty="0"/>
          </a:p>
        </p:txBody>
      </p:sp>
      <p:sp>
        <p:nvSpPr>
          <p:cNvPr id="11" name="split card 2"/>
          <p:cNvSpPr/>
          <p:nvPr/>
        </p:nvSpPr>
        <p:spPr>
          <a:xfrm>
            <a:off x="8412480" y="2926080"/>
            <a:ext cx="3227832"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12" name="Shape 9"/>
          <p:cNvSpPr/>
          <p:nvPr/>
        </p:nvSpPr>
        <p:spPr>
          <a:xfrm>
            <a:off x="8613648" y="3127248"/>
            <a:ext cx="182880" cy="182880"/>
          </a:xfrm>
          <a:prstGeom prst="ellipse">
            <a:avLst/>
          </a:prstGeom>
          <a:solidFill>
            <a:srgbClr val="F59E0B"/>
          </a:solidFill>
          <a:ln w="12700">
            <a:solidFill>
              <a:srgbClr val="F59E0B"/>
            </a:solidFill>
            <a:prstDash val="solid"/>
          </a:ln>
        </p:spPr>
      </p:sp>
      <p:sp>
        <p:nvSpPr>
          <p:cNvPr id="13" name="Text 10"/>
          <p:cNvSpPr txBox="1"/>
          <p:nvPr/>
        </p:nvSpPr>
        <p:spPr>
          <a:xfrm>
            <a:off x="8887968" y="3035808"/>
            <a:ext cx="2697480" cy="365760"/>
          </a:xfrm>
          <a:prstGeom prst="rect">
            <a:avLst/>
          </a:prstGeom>
          <a:noFill/>
          <a:ln/>
        </p:spPr>
        <p:txBody>
          <a:bodyPr wrap="square" lIns="0" tIns="0" rIns="0" bIns="0" rtlCol="0" anchor="t"/>
          <a:lstStyle/>
          <a:p>
            <a:pPr indent="0" marL="0">
              <a:buNone/>
            </a:pPr>
            <a:r>
              <a:rPr lang="en-US" sz="1600" b="1" dirty="0">
                <a:solidFill>
                  <a:srgbClr val="0B1220"/>
                </a:solidFill>
              </a:rPr>
              <a:t>Validation  t = 30–34</a:t>
            </a:r>
            <a:endParaRPr lang="en-US" sz="1600" dirty="0"/>
          </a:p>
        </p:txBody>
      </p:sp>
      <p:sp>
        <p:nvSpPr>
          <p:cNvPr id="14" name="Text 11"/>
          <p:cNvSpPr txBox="1"/>
          <p:nvPr/>
        </p:nvSpPr>
        <p:spPr>
          <a:xfrm>
            <a:off x="8613648" y="3456432"/>
            <a:ext cx="2880360" cy="822960"/>
          </a:xfrm>
          <a:prstGeom prst="rect">
            <a:avLst/>
          </a:prstGeom>
          <a:noFill/>
          <a:ln/>
        </p:spPr>
        <p:txBody>
          <a:bodyPr wrap="square" lIns="0" tIns="0" rIns="0" bIns="0" rtlCol="0" anchor="t"/>
          <a:lstStyle/>
          <a:p>
            <a:pPr indent="0" marL="0">
              <a:buNone/>
            </a:pPr>
            <a:r>
              <a:rPr lang="en-US" sz="1300" dirty="0">
                <a:solidFill>
                  <a:srgbClr val="475569"/>
                </a:solidFill>
              </a:rPr>
              <a:t>Thresholds and hyperparameters are chosen here, then frozen.</a:t>
            </a:r>
            <a:endParaRPr lang="en-US" sz="1300" dirty="0"/>
          </a:p>
        </p:txBody>
      </p:sp>
      <p:sp>
        <p:nvSpPr>
          <p:cNvPr id="15" name="split card 3"/>
          <p:cNvSpPr/>
          <p:nvPr/>
        </p:nvSpPr>
        <p:spPr>
          <a:xfrm>
            <a:off x="8412480" y="4480560"/>
            <a:ext cx="3227832"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16" name="Shape 13"/>
          <p:cNvSpPr/>
          <p:nvPr/>
        </p:nvSpPr>
        <p:spPr>
          <a:xfrm>
            <a:off x="8613648" y="4681728"/>
            <a:ext cx="182880" cy="182880"/>
          </a:xfrm>
          <a:prstGeom prst="ellipse">
            <a:avLst/>
          </a:prstGeom>
          <a:solidFill>
            <a:srgbClr val="2563EB"/>
          </a:solidFill>
          <a:ln w="12700">
            <a:solidFill>
              <a:srgbClr val="2563EB"/>
            </a:solidFill>
            <a:prstDash val="solid"/>
          </a:ln>
        </p:spPr>
      </p:sp>
      <p:sp>
        <p:nvSpPr>
          <p:cNvPr id="17" name="Text 14"/>
          <p:cNvSpPr txBox="1"/>
          <p:nvPr/>
        </p:nvSpPr>
        <p:spPr>
          <a:xfrm>
            <a:off x="8887968" y="4590288"/>
            <a:ext cx="2697480" cy="365760"/>
          </a:xfrm>
          <a:prstGeom prst="rect">
            <a:avLst/>
          </a:prstGeom>
          <a:noFill/>
          <a:ln/>
        </p:spPr>
        <p:txBody>
          <a:bodyPr wrap="square" lIns="0" tIns="0" rIns="0" bIns="0" rtlCol="0" anchor="t"/>
          <a:lstStyle/>
          <a:p>
            <a:pPr indent="0" marL="0">
              <a:buNone/>
            </a:pPr>
            <a:r>
              <a:rPr lang="en-US" sz="1600" b="1" dirty="0">
                <a:solidFill>
                  <a:srgbClr val="0B1220"/>
                </a:solidFill>
              </a:rPr>
              <a:t>Test  t = 35–49</a:t>
            </a:r>
            <a:endParaRPr lang="en-US" sz="1600" dirty="0"/>
          </a:p>
        </p:txBody>
      </p:sp>
      <p:sp>
        <p:nvSpPr>
          <p:cNvPr id="18" name="Text 15"/>
          <p:cNvSpPr txBox="1"/>
          <p:nvPr/>
        </p:nvSpPr>
        <p:spPr>
          <a:xfrm>
            <a:off x="8613648" y="5010912"/>
            <a:ext cx="2880360" cy="822960"/>
          </a:xfrm>
          <a:prstGeom prst="rect">
            <a:avLst/>
          </a:prstGeom>
          <a:noFill/>
          <a:ln/>
        </p:spPr>
        <p:txBody>
          <a:bodyPr wrap="square" lIns="0" tIns="0" rIns="0" bIns="0" rtlCol="0" anchor="t"/>
          <a:lstStyle/>
          <a:p>
            <a:pPr indent="0" marL="0">
              <a:buNone/>
            </a:pPr>
            <a:r>
              <a:rPr lang="en-US" sz="1300" dirty="0">
                <a:solidFill>
                  <a:srgbClr val="475569"/>
                </a:solidFill>
              </a:rPr>
              <a:t>16,670 labelled nodes, 1,083 illicit. Never used for selection.</a:t>
            </a:r>
            <a:endParaRPr lang="en-US" sz="1300" dirty="0"/>
          </a:p>
        </p:txBody>
      </p:sp>
      <p:sp>
        <p:nvSpPr>
          <p:cNvPr id="19" name="Text 16"/>
          <p:cNvSpPr txBox="1"/>
          <p:nvPr/>
        </p:nvSpPr>
        <p:spPr>
          <a:xfrm>
            <a:off x="548640" y="5943600"/>
            <a:ext cx="11064240" cy="365760"/>
          </a:xfrm>
          <a:prstGeom prst="rect">
            <a:avLst/>
          </a:prstGeom>
          <a:noFill/>
          <a:ln/>
        </p:spPr>
        <p:txBody>
          <a:bodyPr wrap="square" lIns="0" tIns="0" rIns="0" bIns="0" rtlCol="0" anchor="t"/>
          <a:lstStyle/>
          <a:p>
            <a:pPr indent="0" marL="0">
              <a:buNone/>
            </a:pPr>
            <a:r>
              <a:rPr lang="en-US" sz="1200" dirty="0">
                <a:solidFill>
                  <a:srgbClr val="64748B"/>
                </a:solidFill>
              </a:rPr>
              <a:t>Unknown labels stay in the graph for message passing but never enter the loss or any metric. Illicit prevalence swings widely and drops sharply after t = 43.</a:t>
            </a:r>
            <a:endParaRPr lang="en-US" sz="1200" dirty="0"/>
          </a:p>
        </p:txBody>
      </p:sp>
      <p:sp>
        <p:nvSpPr>
          <p:cNvPr id="25" name="Slide Number Placeholder 0"/>
          <p:cNvSpPr>
            <a:spLocks noGrp="1"/>
          </p:cNvSpPr>
          <p:nvPr>
            <p:ph type="sldNum" sz="quarter" idx="4294967295"/>
          </p:nvPr>
        </p:nvSpPr>
        <p:spPr>
          <a:xfrm>
            <a:off x="1115568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784080" cy="868680"/>
          </a:xfrm>
          <a:prstGeom prst="rect">
            <a:avLst/>
          </a:prstGeom>
          <a:noFill/>
          <a:ln/>
        </p:spPr>
        <p:txBody>
          <a:bodyPr wrap="square" lIns="0" tIns="0" rIns="0" bIns="0" rtlCol="0" anchor="ctr"/>
          <a:lstStyle/>
          <a:p>
            <a:pPr algn="l" indent="0" marL="0">
              <a:buNone/>
            </a:pPr>
            <a:r>
              <a:rPr lang="en-US" sz="3200" b="1" dirty="0">
                <a:solidFill>
                  <a:srgbClr val="0B1220"/>
                </a:solidFill>
                <a:latin typeface="Cambria" pitchFamily="34" charset="0"/>
                <a:ea typeface="Cambria" pitchFamily="34" charset="-122"/>
                <a:cs typeface="Cambria" pitchFamily="34" charset="-120"/>
              </a:rPr>
              <a:t>Leakage-safe by design, checked by 147 tests</a:t>
            </a:r>
            <a:endParaRPr lang="en-US" sz="3200" dirty="0"/>
          </a:p>
        </p:txBody>
      </p:sp>
      <p:sp>
        <p:nvSpPr>
          <p:cNvPr id="3" name="Shape 1"/>
          <p:cNvSpPr/>
          <p:nvPr/>
        </p:nvSpPr>
        <p:spPr>
          <a:xfrm>
            <a:off x="10561320" y="475488"/>
            <a:ext cx="1097280" cy="329184"/>
          </a:xfrm>
          <a:prstGeom prst="roundRect">
            <a:avLst>
              <a:gd name="adj" fmla="val 50000"/>
            </a:avLst>
          </a:prstGeom>
          <a:solidFill>
            <a:srgbClr val="14213D"/>
          </a:solidFill>
          <a:ln w="12700">
            <a:solidFill>
              <a:srgbClr val="14213D"/>
            </a:solidFill>
            <a:prstDash val="solid"/>
          </a:ln>
        </p:spPr>
      </p:sp>
      <p:sp>
        <p:nvSpPr>
          <p:cNvPr id="4" name="Text 2"/>
          <p:cNvSpPr txBox="1"/>
          <p:nvPr/>
        </p:nvSpPr>
        <p:spPr>
          <a:xfrm>
            <a:off x="10561320" y="475488"/>
            <a:ext cx="1097280" cy="329184"/>
          </a:xfrm>
          <a:prstGeom prst="rect">
            <a:avLst/>
          </a:prstGeom>
          <a:noFill/>
          <a:ln/>
        </p:spPr>
        <p:txBody>
          <a:bodyPr wrap="square" lIns="0" tIns="0" rIns="0" bIns="0" rtlCol="0" anchor="ctr"/>
          <a:lstStyle/>
          <a:p>
            <a:pPr algn="ctr" indent="0" marL="0">
              <a:buNone/>
            </a:pPr>
            <a:r>
              <a:rPr lang="en-US" sz="1100" b="1" dirty="0">
                <a:solidFill>
                  <a:srgbClr val="FFFFFF"/>
                </a:solidFill>
              </a:rPr>
              <a:t>Speaker B</a:t>
            </a:r>
            <a:endParaRPr lang="en-US" sz="1100" dirty="0"/>
          </a:p>
        </p:txBody>
      </p:sp>
      <p:sp>
        <p:nvSpPr>
          <p:cNvPr id="5" name="pipeline card 1"/>
          <p:cNvSpPr/>
          <p:nvPr/>
        </p:nvSpPr>
        <p:spPr>
          <a:xfrm>
            <a:off x="548640" y="1417320"/>
            <a:ext cx="2606040" cy="3657600"/>
          </a:xfrm>
          <a:prstGeom prst="roundRect">
            <a:avLst>
              <a:gd name="adj" fmla="val 4211"/>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6" name="Shape 4"/>
          <p:cNvSpPr/>
          <p:nvPr/>
        </p:nvSpPr>
        <p:spPr>
          <a:xfrm>
            <a:off x="822960" y="1691640"/>
            <a:ext cx="777240" cy="777240"/>
          </a:xfrm>
          <a:prstGeom prst="ellipse">
            <a:avLst/>
          </a:prstGeom>
          <a:solidFill>
            <a:srgbClr val="2563EB"/>
          </a:solidFill>
          <a:ln w="12700">
            <a:solidFill>
              <a:srgbClr val="2563EB"/>
            </a:solidFill>
            <a:prstDash val="solid"/>
          </a:ln>
        </p:spPr>
      </p:sp>
      <p:pic>
        <p:nvPicPr>
          <p:cNvPr id="7" name="Image 0" descr="icon">    </p:cNvPr>
          <p:cNvPicPr>
            <a:picLocks noChangeAspect="1"/>
          </p:cNvPicPr>
          <p:nvPr/>
        </p:nvPicPr>
        <p:blipFill>
          <a:blip r:embed="rId1"/>
          <a:stretch>
            <a:fillRect/>
          </a:stretch>
        </p:blipFill>
        <p:spPr>
          <a:xfrm>
            <a:off x="1025042" y="1893722"/>
            <a:ext cx="373075" cy="373075"/>
          </a:xfrm>
          <a:prstGeom prst="rect">
            <a:avLst/>
          </a:prstGeom>
        </p:spPr>
      </p:pic>
      <p:sp>
        <p:nvSpPr>
          <p:cNvPr id="8" name="Text 5"/>
          <p:cNvSpPr txBox="1"/>
          <p:nvPr/>
        </p:nvSpPr>
        <p:spPr>
          <a:xfrm>
            <a:off x="1737360" y="1874520"/>
            <a:ext cx="1280160" cy="365760"/>
          </a:xfrm>
          <a:prstGeom prst="rect">
            <a:avLst/>
          </a:prstGeom>
          <a:noFill/>
          <a:ln/>
        </p:spPr>
        <p:txBody>
          <a:bodyPr wrap="square" lIns="0" tIns="0" rIns="0" bIns="0" rtlCol="0" anchor="t"/>
          <a:lstStyle/>
          <a:p>
            <a:pPr indent="0" marL="0">
              <a:buNone/>
            </a:pPr>
            <a:r>
              <a:rPr lang="en-US" sz="1200" b="1" spc="200" kern="0" dirty="0">
                <a:solidFill>
                  <a:srgbClr val="64748B"/>
                </a:solidFill>
              </a:rPr>
              <a:t>STEP 1</a:t>
            </a:r>
            <a:endParaRPr lang="en-US" sz="1200" dirty="0"/>
          </a:p>
        </p:txBody>
      </p:sp>
      <p:sp>
        <p:nvSpPr>
          <p:cNvPr id="9" name="Text 6"/>
          <p:cNvSpPr txBox="1"/>
          <p:nvPr/>
        </p:nvSpPr>
        <p:spPr>
          <a:xfrm>
            <a:off x="822960" y="2743200"/>
            <a:ext cx="2148840" cy="731520"/>
          </a:xfrm>
          <a:prstGeom prst="rect">
            <a:avLst/>
          </a:prstGeom>
          <a:noFill/>
          <a:ln/>
        </p:spPr>
        <p:txBody>
          <a:bodyPr wrap="square" lIns="0" tIns="0" rIns="0" bIns="0" rtlCol="0" anchor="t"/>
          <a:lstStyle/>
          <a:p>
            <a:pPr indent="0" marL="0">
              <a:buNone/>
            </a:pPr>
            <a:r>
              <a:rPr lang="en-US" sz="2000" b="1" dirty="0">
                <a:solidFill>
                  <a:srgbClr val="0B1220"/>
                </a:solidFill>
              </a:rPr>
              <a:t>Split by time</a:t>
            </a:r>
            <a:endParaRPr lang="en-US" sz="2000" dirty="0"/>
          </a:p>
        </p:txBody>
      </p:sp>
      <p:sp>
        <p:nvSpPr>
          <p:cNvPr id="10" name="Text 7"/>
          <p:cNvSpPr txBox="1"/>
          <p:nvPr/>
        </p:nvSpPr>
        <p:spPr>
          <a:xfrm>
            <a:off x="822960" y="3520440"/>
            <a:ext cx="2148840" cy="1463040"/>
          </a:xfrm>
          <a:prstGeom prst="rect">
            <a:avLst/>
          </a:prstGeom>
          <a:noFill/>
          <a:ln/>
        </p:spPr>
        <p:txBody>
          <a:bodyPr wrap="square" lIns="0" tIns="0" rIns="0" bIns="0" rtlCol="0" anchor="t"/>
          <a:lstStyle/>
          <a:p>
            <a:pPr indent="0" marL="0">
              <a:buNone/>
            </a:pPr>
            <a:r>
              <a:rPr lang="en-US" sz="1600" dirty="0">
                <a:solidFill>
                  <a:srgbClr val="475569"/>
                </a:solidFill>
              </a:rPr>
              <a:t>Train, validation and test are consecutive blocks. Edges never cross time steps.</a:t>
            </a:r>
            <a:endParaRPr lang="en-US" sz="1600" dirty="0"/>
          </a:p>
        </p:txBody>
      </p:sp>
      <p:sp>
        <p:nvSpPr>
          <p:cNvPr id="11" name="pipeline card 2"/>
          <p:cNvSpPr/>
          <p:nvPr/>
        </p:nvSpPr>
        <p:spPr>
          <a:xfrm>
            <a:off x="3374136" y="1417320"/>
            <a:ext cx="2606040" cy="3657600"/>
          </a:xfrm>
          <a:prstGeom prst="roundRect">
            <a:avLst>
              <a:gd name="adj" fmla="val 4211"/>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12" name="Shape 9"/>
          <p:cNvSpPr/>
          <p:nvPr/>
        </p:nvSpPr>
        <p:spPr>
          <a:xfrm>
            <a:off x="3648456" y="1691640"/>
            <a:ext cx="777240" cy="777240"/>
          </a:xfrm>
          <a:prstGeom prst="ellipse">
            <a:avLst/>
          </a:prstGeom>
          <a:solidFill>
            <a:srgbClr val="F59E0B"/>
          </a:solidFill>
          <a:ln w="12700">
            <a:solidFill>
              <a:srgbClr val="F59E0B"/>
            </a:solidFill>
            <a:prstDash val="solid"/>
          </a:ln>
        </p:spPr>
      </p:sp>
      <p:pic>
        <p:nvPicPr>
          <p:cNvPr id="13" name="Image 1" descr="icon">    </p:cNvPr>
          <p:cNvPicPr>
            <a:picLocks noChangeAspect="1"/>
          </p:cNvPicPr>
          <p:nvPr/>
        </p:nvPicPr>
        <p:blipFill>
          <a:blip r:embed="rId2"/>
          <a:stretch>
            <a:fillRect/>
          </a:stretch>
        </p:blipFill>
        <p:spPr>
          <a:xfrm>
            <a:off x="3850538" y="1893722"/>
            <a:ext cx="373075" cy="373075"/>
          </a:xfrm>
          <a:prstGeom prst="rect">
            <a:avLst/>
          </a:prstGeom>
        </p:spPr>
      </p:pic>
      <p:sp>
        <p:nvSpPr>
          <p:cNvPr id="14" name="Text 10"/>
          <p:cNvSpPr txBox="1"/>
          <p:nvPr/>
        </p:nvSpPr>
        <p:spPr>
          <a:xfrm>
            <a:off x="4562856" y="1874520"/>
            <a:ext cx="1280160" cy="365760"/>
          </a:xfrm>
          <a:prstGeom prst="rect">
            <a:avLst/>
          </a:prstGeom>
          <a:noFill/>
          <a:ln/>
        </p:spPr>
        <p:txBody>
          <a:bodyPr wrap="square" lIns="0" tIns="0" rIns="0" bIns="0" rtlCol="0" anchor="t"/>
          <a:lstStyle/>
          <a:p>
            <a:pPr indent="0" marL="0">
              <a:buNone/>
            </a:pPr>
            <a:r>
              <a:rPr lang="en-US" sz="1200" b="1" spc="200" kern="0" dirty="0">
                <a:solidFill>
                  <a:srgbClr val="64748B"/>
                </a:solidFill>
              </a:rPr>
              <a:t>STEP 2</a:t>
            </a:r>
            <a:endParaRPr lang="en-US" sz="1200" dirty="0"/>
          </a:p>
        </p:txBody>
      </p:sp>
      <p:sp>
        <p:nvSpPr>
          <p:cNvPr id="15" name="Text 11"/>
          <p:cNvSpPr txBox="1"/>
          <p:nvPr/>
        </p:nvSpPr>
        <p:spPr>
          <a:xfrm>
            <a:off x="3648456" y="2743200"/>
            <a:ext cx="2148840" cy="731520"/>
          </a:xfrm>
          <a:prstGeom prst="rect">
            <a:avLst/>
          </a:prstGeom>
          <a:noFill/>
          <a:ln/>
        </p:spPr>
        <p:txBody>
          <a:bodyPr wrap="square" lIns="0" tIns="0" rIns="0" bIns="0" rtlCol="0" anchor="t"/>
          <a:lstStyle/>
          <a:p>
            <a:pPr indent="0" marL="0">
              <a:buNone/>
            </a:pPr>
            <a:r>
              <a:rPr lang="en-US" sz="2000" b="1" dirty="0">
                <a:solidFill>
                  <a:srgbClr val="0B1220"/>
                </a:solidFill>
              </a:rPr>
              <a:t>Tune on validation only</a:t>
            </a:r>
            <a:endParaRPr lang="en-US" sz="2000" dirty="0"/>
          </a:p>
        </p:txBody>
      </p:sp>
      <p:sp>
        <p:nvSpPr>
          <p:cNvPr id="16" name="Text 12"/>
          <p:cNvSpPr txBox="1"/>
          <p:nvPr/>
        </p:nvSpPr>
        <p:spPr>
          <a:xfrm>
            <a:off x="3648456" y="3520440"/>
            <a:ext cx="2148840" cy="1463040"/>
          </a:xfrm>
          <a:prstGeom prst="rect">
            <a:avLst/>
          </a:prstGeom>
          <a:noFill/>
          <a:ln/>
        </p:spPr>
        <p:txBody>
          <a:bodyPr wrap="square" lIns="0" tIns="0" rIns="0" bIns="0" rtlCol="0" anchor="t"/>
          <a:lstStyle/>
          <a:p>
            <a:pPr indent="0" marL="0">
              <a:buNone/>
            </a:pPr>
            <a:r>
              <a:rPr lang="en-US" sz="1600" dirty="0">
                <a:solidFill>
                  <a:srgbClr val="475569"/>
                </a:solidFill>
              </a:rPr>
              <a:t>The decision threshold maximises F1 on validation, then is frozen for test.</a:t>
            </a:r>
            <a:endParaRPr lang="en-US" sz="1600" dirty="0"/>
          </a:p>
        </p:txBody>
      </p:sp>
      <p:sp>
        <p:nvSpPr>
          <p:cNvPr id="17" name="pipeline card 3"/>
          <p:cNvSpPr/>
          <p:nvPr/>
        </p:nvSpPr>
        <p:spPr>
          <a:xfrm>
            <a:off x="6199632" y="1417320"/>
            <a:ext cx="2606040" cy="3657600"/>
          </a:xfrm>
          <a:prstGeom prst="roundRect">
            <a:avLst>
              <a:gd name="adj" fmla="val 4211"/>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18" name="Shape 14"/>
          <p:cNvSpPr/>
          <p:nvPr/>
        </p:nvSpPr>
        <p:spPr>
          <a:xfrm>
            <a:off x="6473952" y="1691640"/>
            <a:ext cx="777240" cy="777240"/>
          </a:xfrm>
          <a:prstGeom prst="ellipse">
            <a:avLst/>
          </a:prstGeom>
          <a:solidFill>
            <a:srgbClr val="6366F1"/>
          </a:solidFill>
          <a:ln w="12700">
            <a:solidFill>
              <a:srgbClr val="6366F1"/>
            </a:solidFill>
            <a:prstDash val="solid"/>
          </a:ln>
        </p:spPr>
      </p:sp>
      <p:pic>
        <p:nvPicPr>
          <p:cNvPr id="19" name="Image 2" descr="icon">    </p:cNvPr>
          <p:cNvPicPr>
            <a:picLocks noChangeAspect="1"/>
          </p:cNvPicPr>
          <p:nvPr/>
        </p:nvPicPr>
        <p:blipFill>
          <a:blip r:embed="rId3"/>
          <a:stretch>
            <a:fillRect/>
          </a:stretch>
        </p:blipFill>
        <p:spPr>
          <a:xfrm>
            <a:off x="6676034" y="1893722"/>
            <a:ext cx="373075" cy="373075"/>
          </a:xfrm>
          <a:prstGeom prst="rect">
            <a:avLst/>
          </a:prstGeom>
        </p:spPr>
      </p:pic>
      <p:sp>
        <p:nvSpPr>
          <p:cNvPr id="20" name="Text 15"/>
          <p:cNvSpPr txBox="1"/>
          <p:nvPr/>
        </p:nvSpPr>
        <p:spPr>
          <a:xfrm>
            <a:off x="7388352" y="1874520"/>
            <a:ext cx="1280160" cy="365760"/>
          </a:xfrm>
          <a:prstGeom prst="rect">
            <a:avLst/>
          </a:prstGeom>
          <a:noFill/>
          <a:ln/>
        </p:spPr>
        <p:txBody>
          <a:bodyPr wrap="square" lIns="0" tIns="0" rIns="0" bIns="0" rtlCol="0" anchor="t"/>
          <a:lstStyle/>
          <a:p>
            <a:pPr indent="0" marL="0">
              <a:buNone/>
            </a:pPr>
            <a:r>
              <a:rPr lang="en-US" sz="1200" b="1" spc="200" kern="0" dirty="0">
                <a:solidFill>
                  <a:srgbClr val="64748B"/>
                </a:solidFill>
              </a:rPr>
              <a:t>STEP 3</a:t>
            </a:r>
            <a:endParaRPr lang="en-US" sz="1200" dirty="0"/>
          </a:p>
        </p:txBody>
      </p:sp>
      <p:sp>
        <p:nvSpPr>
          <p:cNvPr id="21" name="Text 16"/>
          <p:cNvSpPr txBox="1"/>
          <p:nvPr/>
        </p:nvSpPr>
        <p:spPr>
          <a:xfrm>
            <a:off x="6473952" y="2743200"/>
            <a:ext cx="2148840" cy="731520"/>
          </a:xfrm>
          <a:prstGeom prst="rect">
            <a:avLst/>
          </a:prstGeom>
          <a:noFill/>
          <a:ln/>
        </p:spPr>
        <p:txBody>
          <a:bodyPr wrap="square" lIns="0" tIns="0" rIns="0" bIns="0" rtlCol="0" anchor="t"/>
          <a:lstStyle/>
          <a:p>
            <a:pPr indent="0" marL="0">
              <a:buNone/>
            </a:pPr>
            <a:r>
              <a:rPr lang="en-US" sz="2000" b="1" dirty="0">
                <a:solidFill>
                  <a:srgbClr val="0B1220"/>
                </a:solidFill>
              </a:rPr>
              <a:t>Exclude unknown labels</a:t>
            </a:r>
            <a:endParaRPr lang="en-US" sz="2000" dirty="0"/>
          </a:p>
        </p:txBody>
      </p:sp>
      <p:sp>
        <p:nvSpPr>
          <p:cNvPr id="22" name="Text 17"/>
          <p:cNvSpPr txBox="1"/>
          <p:nvPr/>
        </p:nvSpPr>
        <p:spPr>
          <a:xfrm>
            <a:off x="6473952" y="3520440"/>
            <a:ext cx="2148840" cy="1463040"/>
          </a:xfrm>
          <a:prstGeom prst="rect">
            <a:avLst/>
          </a:prstGeom>
          <a:noFill/>
          <a:ln/>
        </p:spPr>
        <p:txBody>
          <a:bodyPr wrap="square" lIns="0" tIns="0" rIns="0" bIns="0" rtlCol="0" anchor="t"/>
          <a:lstStyle/>
          <a:p>
            <a:pPr indent="0" marL="0">
              <a:buNone/>
            </a:pPr>
            <a:r>
              <a:rPr lang="en-US" sz="1600" dirty="0">
                <a:solidFill>
                  <a:srgbClr val="475569"/>
                </a:solidFill>
              </a:rPr>
              <a:t>Unlabelled nodes join message passing but never the loss or metrics.</a:t>
            </a:r>
            <a:endParaRPr lang="en-US" sz="1600" dirty="0"/>
          </a:p>
        </p:txBody>
      </p:sp>
      <p:sp>
        <p:nvSpPr>
          <p:cNvPr id="23" name="pipeline card 4"/>
          <p:cNvSpPr/>
          <p:nvPr/>
        </p:nvSpPr>
        <p:spPr>
          <a:xfrm>
            <a:off x="9025128" y="1417320"/>
            <a:ext cx="2606040" cy="3657600"/>
          </a:xfrm>
          <a:prstGeom prst="roundRect">
            <a:avLst>
              <a:gd name="adj" fmla="val 4211"/>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24" name="Shape 19"/>
          <p:cNvSpPr/>
          <p:nvPr/>
        </p:nvSpPr>
        <p:spPr>
          <a:xfrm>
            <a:off x="9299448" y="1691640"/>
            <a:ext cx="777240" cy="777240"/>
          </a:xfrm>
          <a:prstGeom prst="ellipse">
            <a:avLst/>
          </a:prstGeom>
          <a:solidFill>
            <a:srgbClr val="06B6D4"/>
          </a:solidFill>
          <a:ln w="12700">
            <a:solidFill>
              <a:srgbClr val="06B6D4"/>
            </a:solidFill>
            <a:prstDash val="solid"/>
          </a:ln>
        </p:spPr>
      </p:sp>
      <p:pic>
        <p:nvPicPr>
          <p:cNvPr id="25" name="Image 3" descr="icon">    </p:cNvPr>
          <p:cNvPicPr>
            <a:picLocks noChangeAspect="1"/>
          </p:cNvPicPr>
          <p:nvPr/>
        </p:nvPicPr>
        <p:blipFill>
          <a:blip r:embed="rId4"/>
          <a:stretch>
            <a:fillRect/>
          </a:stretch>
        </p:blipFill>
        <p:spPr>
          <a:xfrm>
            <a:off x="9501530" y="1893722"/>
            <a:ext cx="373075" cy="373075"/>
          </a:xfrm>
          <a:prstGeom prst="rect">
            <a:avLst/>
          </a:prstGeom>
        </p:spPr>
      </p:pic>
      <p:sp>
        <p:nvSpPr>
          <p:cNvPr id="26" name="Text 20"/>
          <p:cNvSpPr txBox="1"/>
          <p:nvPr/>
        </p:nvSpPr>
        <p:spPr>
          <a:xfrm>
            <a:off x="10213848" y="1874520"/>
            <a:ext cx="1280160" cy="365760"/>
          </a:xfrm>
          <a:prstGeom prst="rect">
            <a:avLst/>
          </a:prstGeom>
          <a:noFill/>
          <a:ln/>
        </p:spPr>
        <p:txBody>
          <a:bodyPr wrap="square" lIns="0" tIns="0" rIns="0" bIns="0" rtlCol="0" anchor="t"/>
          <a:lstStyle/>
          <a:p>
            <a:pPr indent="0" marL="0">
              <a:buNone/>
            </a:pPr>
            <a:r>
              <a:rPr lang="en-US" sz="1200" b="1" spc="200" kern="0" dirty="0">
                <a:solidFill>
                  <a:srgbClr val="64748B"/>
                </a:solidFill>
              </a:rPr>
              <a:t>STEP 4</a:t>
            </a:r>
            <a:endParaRPr lang="en-US" sz="1200" dirty="0"/>
          </a:p>
        </p:txBody>
      </p:sp>
      <p:sp>
        <p:nvSpPr>
          <p:cNvPr id="27" name="Text 21"/>
          <p:cNvSpPr txBox="1"/>
          <p:nvPr/>
        </p:nvSpPr>
        <p:spPr>
          <a:xfrm>
            <a:off x="9299448" y="2743200"/>
            <a:ext cx="2148840" cy="731520"/>
          </a:xfrm>
          <a:prstGeom prst="rect">
            <a:avLst/>
          </a:prstGeom>
          <a:noFill/>
          <a:ln/>
        </p:spPr>
        <p:txBody>
          <a:bodyPr wrap="square" lIns="0" tIns="0" rIns="0" bIns="0" rtlCol="0" anchor="t"/>
          <a:lstStyle/>
          <a:p>
            <a:pPr indent="0" marL="0">
              <a:buNone/>
            </a:pPr>
            <a:r>
              <a:rPr lang="en-US" sz="2000" b="1" dirty="0">
                <a:solidFill>
                  <a:srgbClr val="0B1220"/>
                </a:solidFill>
              </a:rPr>
              <a:t>Predict, then freeze</a:t>
            </a:r>
            <a:endParaRPr lang="en-US" sz="2000" dirty="0"/>
          </a:p>
        </p:txBody>
      </p:sp>
      <p:sp>
        <p:nvSpPr>
          <p:cNvPr id="28" name="Text 22"/>
          <p:cNvSpPr txBox="1"/>
          <p:nvPr/>
        </p:nvSpPr>
        <p:spPr>
          <a:xfrm>
            <a:off x="9299448" y="3520440"/>
            <a:ext cx="2148840" cy="1463040"/>
          </a:xfrm>
          <a:prstGeom prst="rect">
            <a:avLst/>
          </a:prstGeom>
          <a:noFill/>
          <a:ln/>
        </p:spPr>
        <p:txBody>
          <a:bodyPr wrap="square" lIns="0" tIns="0" rIns="0" bIns="0" rtlCol="0" anchor="t"/>
          <a:lstStyle/>
          <a:p>
            <a:pPr indent="0" marL="0">
              <a:buNone/>
            </a:pPr>
            <a:r>
              <a:rPr lang="en-US" sz="1600" dirty="0">
                <a:solidFill>
                  <a:srgbClr val="475569"/>
                </a:solidFill>
              </a:rPr>
              <a:t>Each prediction is logged before its labels are revealed, never revisited.</a:t>
            </a:r>
            <a:endParaRPr lang="en-US" sz="1600" dirty="0"/>
          </a:p>
        </p:txBody>
      </p:sp>
      <p:sp>
        <p:nvSpPr>
          <p:cNvPr id="29" name="caveat"/>
          <p:cNvSpPr/>
          <p:nvPr/>
        </p:nvSpPr>
        <p:spPr>
          <a:xfrm>
            <a:off x="548640" y="5303520"/>
            <a:ext cx="11091672" cy="914400"/>
          </a:xfrm>
          <a:prstGeom prst="roundRect">
            <a:avLst>
              <a:gd name="adj" fmla="val 12000"/>
            </a:avLst>
          </a:prstGeom>
          <a:solidFill>
            <a:srgbClr val="FFF7E6"/>
          </a:solidFill>
          <a:ln w="12700">
            <a:solidFill>
              <a:srgbClr val="FFF7E6"/>
            </a:solidFill>
            <a:prstDash val="solid"/>
          </a:ln>
        </p:spPr>
      </p:sp>
      <p:sp>
        <p:nvSpPr>
          <p:cNvPr id="30" name="Text 24"/>
          <p:cNvSpPr txBox="1"/>
          <p:nvPr/>
        </p:nvSpPr>
        <p:spPr>
          <a:xfrm>
            <a:off x="777240" y="5303520"/>
            <a:ext cx="10652760" cy="914400"/>
          </a:xfrm>
          <a:prstGeom prst="rect">
            <a:avLst/>
          </a:prstGeom>
          <a:noFill/>
          <a:ln/>
        </p:spPr>
        <p:txBody>
          <a:bodyPr wrap="square" lIns="0" tIns="0" rIns="0" bIns="0" rtlCol="0" anchor="ctr"/>
          <a:lstStyle/>
          <a:p>
            <a:pPr indent="0" marL="0">
              <a:buNone/>
            </a:pPr>
            <a:r>
              <a:rPr lang="en-US" sz="1400" b="1" dirty="0">
                <a:solidFill>
                  <a:srgbClr val="B45309"/>
                </a:solidFill>
              </a:rPr>
              <a:t>Honest caveat  </a:t>
            </a:r>
            <a:pPr indent="0" marL="0">
              <a:buNone/>
            </a:pPr>
            <a:r>
              <a:rPr lang="en-US" sz="1400" dirty="0">
                <a:solidFill>
                  <a:srgbClr val="0B1220"/>
                </a:solidFill>
              </a:rPr>
              <a:t>The released features are globally standardised and we cannot verify whether the statistics used future time steps. Our pipeline adds no leakage, but upstream residue cannot be ruled out.</a:t>
            </a:r>
            <a:endParaRPr lang="en-US" sz="1400" dirty="0"/>
          </a:p>
        </p:txBody>
      </p:sp>
      <p:sp>
        <p:nvSpPr>
          <p:cNvPr id="25" name="Slide Number Placeholder 0"/>
          <p:cNvSpPr>
            <a:spLocks noGrp="1"/>
          </p:cNvSpPr>
          <p:nvPr>
            <p:ph type="sldNum" sz="quarter" idx="4294967295"/>
          </p:nvPr>
        </p:nvSpPr>
        <p:spPr>
          <a:xfrm>
            <a:off x="1115568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784080" cy="868680"/>
          </a:xfrm>
          <a:prstGeom prst="rect">
            <a:avLst/>
          </a:prstGeom>
          <a:noFill/>
          <a:ln/>
        </p:spPr>
        <p:txBody>
          <a:bodyPr wrap="square" lIns="0" tIns="0" rIns="0" bIns="0" rtlCol="0" anchor="ctr"/>
          <a:lstStyle/>
          <a:p>
            <a:pPr algn="l" indent="0" marL="0">
              <a:buNone/>
            </a:pPr>
            <a:r>
              <a:rPr lang="en-US" sz="3200" b="1" dirty="0">
                <a:solidFill>
                  <a:srgbClr val="0B1220"/>
                </a:solidFill>
                <a:latin typeface="Cambria" pitchFamily="34" charset="0"/>
                <a:ea typeface="Cambria" pitchFamily="34" charset="-122"/>
                <a:cs typeface="Cambria" pitchFamily="34" charset="-120"/>
              </a:rPr>
              <a:t>Adaptive means online fine-tuning, nothing more</a:t>
            </a:r>
            <a:endParaRPr lang="en-US" sz="3200" dirty="0"/>
          </a:p>
        </p:txBody>
      </p:sp>
      <p:sp>
        <p:nvSpPr>
          <p:cNvPr id="3" name="Shape 1"/>
          <p:cNvSpPr/>
          <p:nvPr/>
        </p:nvSpPr>
        <p:spPr>
          <a:xfrm>
            <a:off x="10561320" y="475488"/>
            <a:ext cx="1097280" cy="329184"/>
          </a:xfrm>
          <a:prstGeom prst="roundRect">
            <a:avLst>
              <a:gd name="adj" fmla="val 50000"/>
            </a:avLst>
          </a:prstGeom>
          <a:solidFill>
            <a:srgbClr val="14213D"/>
          </a:solidFill>
          <a:ln w="12700">
            <a:solidFill>
              <a:srgbClr val="14213D"/>
            </a:solidFill>
            <a:prstDash val="solid"/>
          </a:ln>
        </p:spPr>
      </p:sp>
      <p:sp>
        <p:nvSpPr>
          <p:cNvPr id="4" name="Text 2"/>
          <p:cNvSpPr txBox="1"/>
          <p:nvPr/>
        </p:nvSpPr>
        <p:spPr>
          <a:xfrm>
            <a:off x="10561320" y="475488"/>
            <a:ext cx="1097280" cy="329184"/>
          </a:xfrm>
          <a:prstGeom prst="rect">
            <a:avLst/>
          </a:prstGeom>
          <a:noFill/>
          <a:ln/>
        </p:spPr>
        <p:txBody>
          <a:bodyPr wrap="square" lIns="0" tIns="0" rIns="0" bIns="0" rtlCol="0" anchor="ctr"/>
          <a:lstStyle/>
          <a:p>
            <a:pPr algn="ctr" indent="0" marL="0">
              <a:buNone/>
            </a:pPr>
            <a:r>
              <a:rPr lang="en-US" sz="1100" b="1" dirty="0">
                <a:solidFill>
                  <a:srgbClr val="FFFFFF"/>
                </a:solidFill>
              </a:rPr>
              <a:t>Speaker B</a:t>
            </a:r>
            <a:endParaRPr lang="en-US" sz="1100" dirty="0"/>
          </a:p>
        </p:txBody>
      </p:sp>
      <p:sp>
        <p:nvSpPr>
          <p:cNvPr id="5" name="loop step 1"/>
          <p:cNvSpPr/>
          <p:nvPr/>
        </p:nvSpPr>
        <p:spPr>
          <a:xfrm>
            <a:off x="548640" y="1417320"/>
            <a:ext cx="2331720" cy="1783080"/>
          </a:xfrm>
          <a:prstGeom prst="roundRect">
            <a:avLst>
              <a:gd name="adj" fmla="val 6154"/>
            </a:avLst>
          </a:prstGeom>
          <a:solidFill>
            <a:srgbClr val="0B1220"/>
          </a:solidFill>
          <a:ln w="12700">
            <a:solidFill>
              <a:srgbClr val="0B1220"/>
            </a:solidFill>
            <a:prstDash val="solid"/>
          </a:ln>
          <a:effectLst>
            <a:outerShdw sx="100000" sy="100000" kx="0" ky="0" algn="bl" rotWithShape="0" blurRad="127000" dist="38100" dir="5400000">
              <a:srgbClr val="0B1220">
                <a:alpha val="14000"/>
              </a:srgbClr>
            </a:outerShdw>
          </a:effectLst>
        </p:spPr>
      </p:sp>
      <p:sp>
        <p:nvSpPr>
          <p:cNvPr id="6" name="Text 4"/>
          <p:cNvSpPr txBox="1"/>
          <p:nvPr/>
        </p:nvSpPr>
        <p:spPr>
          <a:xfrm>
            <a:off x="731520" y="1481328"/>
            <a:ext cx="548640" cy="548640"/>
          </a:xfrm>
          <a:prstGeom prst="rect">
            <a:avLst/>
          </a:prstGeom>
          <a:noFill/>
          <a:ln/>
        </p:spPr>
        <p:txBody>
          <a:bodyPr wrap="square" lIns="0" tIns="0" rIns="0" bIns="0" rtlCol="0" anchor="t"/>
          <a:lstStyle/>
          <a:p>
            <a:pPr indent="0" marL="0">
              <a:buNone/>
            </a:pPr>
            <a:r>
              <a:rPr lang="en-US" sz="3000" b="1" dirty="0">
                <a:solidFill>
                  <a:srgbClr val="FFFFFF"/>
                </a:solidFill>
                <a:latin typeface="+mj-lt" pitchFamily="34" charset="0"/>
                <a:ea typeface="+mj-lt" pitchFamily="34" charset="-122"/>
                <a:cs typeface="+mj-lt" pitchFamily="34" charset="-120"/>
              </a:rPr>
              <a:t>1</a:t>
            </a:r>
            <a:endParaRPr lang="en-US" sz="3000" dirty="0"/>
          </a:p>
        </p:txBody>
      </p:sp>
      <p:sp>
        <p:nvSpPr>
          <p:cNvPr id="7" name="Text 5"/>
          <p:cNvSpPr txBox="1"/>
          <p:nvPr/>
        </p:nvSpPr>
        <p:spPr>
          <a:xfrm>
            <a:off x="731520" y="2011680"/>
            <a:ext cx="2011680" cy="365760"/>
          </a:xfrm>
          <a:prstGeom prst="rect">
            <a:avLst/>
          </a:prstGeom>
          <a:noFill/>
          <a:ln/>
        </p:spPr>
        <p:txBody>
          <a:bodyPr wrap="square" lIns="0" tIns="0" rIns="0" bIns="0" rtlCol="0" anchor="t"/>
          <a:lstStyle/>
          <a:p>
            <a:pPr indent="0" marL="0">
              <a:buNone/>
            </a:pPr>
            <a:r>
              <a:rPr lang="en-US" sz="1700" b="1" dirty="0">
                <a:solidFill>
                  <a:srgbClr val="FFFFFF"/>
                </a:solidFill>
              </a:rPr>
              <a:t>Predict step t</a:t>
            </a:r>
            <a:endParaRPr lang="en-US" sz="1700" dirty="0"/>
          </a:p>
        </p:txBody>
      </p:sp>
      <p:sp>
        <p:nvSpPr>
          <p:cNvPr id="8" name="Text 6"/>
          <p:cNvSpPr txBox="1"/>
          <p:nvPr/>
        </p:nvSpPr>
        <p:spPr>
          <a:xfrm>
            <a:off x="731520" y="2395728"/>
            <a:ext cx="2011680" cy="731520"/>
          </a:xfrm>
          <a:prstGeom prst="rect">
            <a:avLst/>
          </a:prstGeom>
          <a:noFill/>
          <a:ln/>
        </p:spPr>
        <p:txBody>
          <a:bodyPr wrap="square" lIns="0" tIns="0" rIns="0" bIns="0" rtlCol="0" anchor="t"/>
          <a:lstStyle/>
          <a:p>
            <a:pPr indent="0" marL="0">
              <a:buNone/>
            </a:pPr>
            <a:r>
              <a:rPr lang="en-US" sz="1300" dirty="0">
                <a:solidFill>
                  <a:srgbClr val="E2E8F0"/>
                </a:solidFill>
              </a:rPr>
              <a:t>Use the current model on the new snapshot.</a:t>
            </a:r>
            <a:endParaRPr lang="en-US" sz="1300" dirty="0"/>
          </a:p>
        </p:txBody>
      </p:sp>
      <p:sp>
        <p:nvSpPr>
          <p:cNvPr id="9" name="Shape 7"/>
          <p:cNvSpPr/>
          <p:nvPr/>
        </p:nvSpPr>
        <p:spPr>
          <a:xfrm>
            <a:off x="2944368" y="2148840"/>
            <a:ext cx="411480" cy="320040"/>
          </a:xfrm>
          <a:prstGeom prst="rightArrow">
            <a:avLst/>
          </a:prstGeom>
          <a:solidFill>
            <a:srgbClr val="475569"/>
          </a:solidFill>
          <a:ln w="12700">
            <a:solidFill>
              <a:srgbClr val="475569"/>
            </a:solidFill>
            <a:prstDash val="solid"/>
          </a:ln>
        </p:spPr>
      </p:sp>
      <p:sp>
        <p:nvSpPr>
          <p:cNvPr id="10" name="loop step 2"/>
          <p:cNvSpPr/>
          <p:nvPr/>
        </p:nvSpPr>
        <p:spPr>
          <a:xfrm>
            <a:off x="3419856" y="1417320"/>
            <a:ext cx="2331720" cy="1783080"/>
          </a:xfrm>
          <a:prstGeom prst="roundRect">
            <a:avLst>
              <a:gd name="adj" fmla="val 6154"/>
            </a:avLst>
          </a:prstGeom>
          <a:solidFill>
            <a:srgbClr val="14213D"/>
          </a:solidFill>
          <a:ln w="12700">
            <a:solidFill>
              <a:srgbClr val="14213D"/>
            </a:solidFill>
            <a:prstDash val="solid"/>
          </a:ln>
          <a:effectLst>
            <a:outerShdw sx="100000" sy="100000" kx="0" ky="0" algn="bl" rotWithShape="0" blurRad="127000" dist="38100" dir="5400000">
              <a:srgbClr val="0B1220">
                <a:alpha val="14000"/>
              </a:srgbClr>
            </a:outerShdw>
          </a:effectLst>
        </p:spPr>
      </p:sp>
      <p:sp>
        <p:nvSpPr>
          <p:cNvPr id="11" name="Text 9"/>
          <p:cNvSpPr txBox="1"/>
          <p:nvPr/>
        </p:nvSpPr>
        <p:spPr>
          <a:xfrm>
            <a:off x="3602736" y="1481328"/>
            <a:ext cx="548640" cy="548640"/>
          </a:xfrm>
          <a:prstGeom prst="rect">
            <a:avLst/>
          </a:prstGeom>
          <a:noFill/>
          <a:ln/>
        </p:spPr>
        <p:txBody>
          <a:bodyPr wrap="square" lIns="0" tIns="0" rIns="0" bIns="0" rtlCol="0" anchor="t"/>
          <a:lstStyle/>
          <a:p>
            <a:pPr indent="0" marL="0">
              <a:buNone/>
            </a:pPr>
            <a:r>
              <a:rPr lang="en-US" sz="3000" b="1" dirty="0">
                <a:solidFill>
                  <a:srgbClr val="FFFFFF"/>
                </a:solidFill>
                <a:latin typeface="+mj-lt" pitchFamily="34" charset="0"/>
                <a:ea typeface="+mj-lt" pitchFamily="34" charset="-122"/>
                <a:cs typeface="+mj-lt" pitchFamily="34" charset="-120"/>
              </a:rPr>
              <a:t>2</a:t>
            </a:r>
            <a:endParaRPr lang="en-US" sz="3000" dirty="0"/>
          </a:p>
        </p:txBody>
      </p:sp>
      <p:sp>
        <p:nvSpPr>
          <p:cNvPr id="12" name="Text 10"/>
          <p:cNvSpPr txBox="1"/>
          <p:nvPr/>
        </p:nvSpPr>
        <p:spPr>
          <a:xfrm>
            <a:off x="3602736" y="2011680"/>
            <a:ext cx="2011680" cy="365760"/>
          </a:xfrm>
          <a:prstGeom prst="rect">
            <a:avLst/>
          </a:prstGeom>
          <a:noFill/>
          <a:ln/>
        </p:spPr>
        <p:txBody>
          <a:bodyPr wrap="square" lIns="0" tIns="0" rIns="0" bIns="0" rtlCol="0" anchor="t"/>
          <a:lstStyle/>
          <a:p>
            <a:pPr indent="0" marL="0">
              <a:buNone/>
            </a:pPr>
            <a:r>
              <a:rPr lang="en-US" sz="1700" b="1" dirty="0">
                <a:solidFill>
                  <a:srgbClr val="FFFFFF"/>
                </a:solidFill>
              </a:rPr>
              <a:t>Freeze it</a:t>
            </a:r>
            <a:endParaRPr lang="en-US" sz="1700" dirty="0"/>
          </a:p>
        </p:txBody>
      </p:sp>
      <p:sp>
        <p:nvSpPr>
          <p:cNvPr id="13" name="Text 11"/>
          <p:cNvSpPr txBox="1"/>
          <p:nvPr/>
        </p:nvSpPr>
        <p:spPr>
          <a:xfrm>
            <a:off x="3602736" y="2395728"/>
            <a:ext cx="2011680" cy="731520"/>
          </a:xfrm>
          <a:prstGeom prst="rect">
            <a:avLst/>
          </a:prstGeom>
          <a:noFill/>
          <a:ln/>
        </p:spPr>
        <p:txBody>
          <a:bodyPr wrap="square" lIns="0" tIns="0" rIns="0" bIns="0" rtlCol="0" anchor="t"/>
          <a:lstStyle/>
          <a:p>
            <a:pPr indent="0" marL="0">
              <a:buNone/>
            </a:pPr>
            <a:r>
              <a:rPr lang="en-US" sz="1300" dirty="0">
                <a:solidFill>
                  <a:srgbClr val="E2E8F0"/>
                </a:solidFill>
              </a:rPr>
              <a:t>Log the predictions; they are never rewritten.</a:t>
            </a:r>
            <a:endParaRPr lang="en-US" sz="1300" dirty="0"/>
          </a:p>
        </p:txBody>
      </p:sp>
      <p:sp>
        <p:nvSpPr>
          <p:cNvPr id="14" name="Shape 12"/>
          <p:cNvSpPr/>
          <p:nvPr/>
        </p:nvSpPr>
        <p:spPr>
          <a:xfrm>
            <a:off x="5815584" y="2148840"/>
            <a:ext cx="411480" cy="320040"/>
          </a:xfrm>
          <a:prstGeom prst="rightArrow">
            <a:avLst/>
          </a:prstGeom>
          <a:solidFill>
            <a:srgbClr val="475569"/>
          </a:solidFill>
          <a:ln w="12700">
            <a:solidFill>
              <a:srgbClr val="475569"/>
            </a:solidFill>
            <a:prstDash val="solid"/>
          </a:ln>
        </p:spPr>
      </p:sp>
      <p:sp>
        <p:nvSpPr>
          <p:cNvPr id="15" name="loop step 3"/>
          <p:cNvSpPr/>
          <p:nvPr/>
        </p:nvSpPr>
        <p:spPr>
          <a:xfrm>
            <a:off x="6291072" y="1417320"/>
            <a:ext cx="2331720" cy="1783080"/>
          </a:xfrm>
          <a:prstGeom prst="roundRect">
            <a:avLst>
              <a:gd name="adj" fmla="val 6154"/>
            </a:avLst>
          </a:prstGeom>
          <a:solidFill>
            <a:srgbClr val="0E7490"/>
          </a:solidFill>
          <a:ln w="12700">
            <a:solidFill>
              <a:srgbClr val="0E7490"/>
            </a:solidFill>
            <a:prstDash val="solid"/>
          </a:ln>
          <a:effectLst>
            <a:outerShdw sx="100000" sy="100000" kx="0" ky="0" algn="bl" rotWithShape="0" blurRad="127000" dist="38100" dir="5400000">
              <a:srgbClr val="0B1220">
                <a:alpha val="14000"/>
              </a:srgbClr>
            </a:outerShdw>
          </a:effectLst>
        </p:spPr>
      </p:sp>
      <p:sp>
        <p:nvSpPr>
          <p:cNvPr id="16" name="Text 14"/>
          <p:cNvSpPr txBox="1"/>
          <p:nvPr/>
        </p:nvSpPr>
        <p:spPr>
          <a:xfrm>
            <a:off x="6473952" y="1481328"/>
            <a:ext cx="548640" cy="548640"/>
          </a:xfrm>
          <a:prstGeom prst="rect">
            <a:avLst/>
          </a:prstGeom>
          <a:noFill/>
          <a:ln/>
        </p:spPr>
        <p:txBody>
          <a:bodyPr wrap="square" lIns="0" tIns="0" rIns="0" bIns="0" rtlCol="0" anchor="t"/>
          <a:lstStyle/>
          <a:p>
            <a:pPr indent="0" marL="0">
              <a:buNone/>
            </a:pPr>
            <a:r>
              <a:rPr lang="en-US" sz="3000" b="1" dirty="0">
                <a:solidFill>
                  <a:srgbClr val="FFFFFF"/>
                </a:solidFill>
                <a:latin typeface="+mj-lt" pitchFamily="34" charset="0"/>
                <a:ea typeface="+mj-lt" pitchFamily="34" charset="-122"/>
                <a:cs typeface="+mj-lt" pitchFamily="34" charset="-120"/>
              </a:rPr>
              <a:t>3</a:t>
            </a:r>
            <a:endParaRPr lang="en-US" sz="3000" dirty="0"/>
          </a:p>
        </p:txBody>
      </p:sp>
      <p:sp>
        <p:nvSpPr>
          <p:cNvPr id="17" name="Text 15"/>
          <p:cNvSpPr txBox="1"/>
          <p:nvPr/>
        </p:nvSpPr>
        <p:spPr>
          <a:xfrm>
            <a:off x="6473952" y="2011680"/>
            <a:ext cx="2011680" cy="365760"/>
          </a:xfrm>
          <a:prstGeom prst="rect">
            <a:avLst/>
          </a:prstGeom>
          <a:noFill/>
          <a:ln/>
        </p:spPr>
        <p:txBody>
          <a:bodyPr wrap="square" lIns="0" tIns="0" rIns="0" bIns="0" rtlCol="0" anchor="t"/>
          <a:lstStyle/>
          <a:p>
            <a:pPr indent="0" marL="0">
              <a:buNone/>
            </a:pPr>
            <a:r>
              <a:rPr lang="en-US" sz="1700" b="1" dirty="0">
                <a:solidFill>
                  <a:srgbClr val="FFFFFF"/>
                </a:solidFill>
              </a:rPr>
              <a:t>Reveal labels</a:t>
            </a:r>
            <a:endParaRPr lang="en-US" sz="1700" dirty="0"/>
          </a:p>
        </p:txBody>
      </p:sp>
      <p:sp>
        <p:nvSpPr>
          <p:cNvPr id="18" name="Text 16"/>
          <p:cNvSpPr txBox="1"/>
          <p:nvPr/>
        </p:nvSpPr>
        <p:spPr>
          <a:xfrm>
            <a:off x="6473952" y="2395728"/>
            <a:ext cx="2011680" cy="731520"/>
          </a:xfrm>
          <a:prstGeom prst="rect">
            <a:avLst/>
          </a:prstGeom>
          <a:noFill/>
          <a:ln/>
        </p:spPr>
        <p:txBody>
          <a:bodyPr wrap="square" lIns="0" tIns="0" rIns="0" bIns="0" rtlCol="0" anchor="t"/>
          <a:lstStyle/>
          <a:p>
            <a:pPr indent="0" marL="0">
              <a:buNone/>
            </a:pPr>
            <a:r>
              <a:rPr lang="en-US" sz="1300" dirty="0">
                <a:solidFill>
                  <a:srgbClr val="E2E8F0"/>
                </a:solidFill>
              </a:rPr>
              <a:t>Simulated delay of one step (k = 1).</a:t>
            </a:r>
            <a:endParaRPr lang="en-US" sz="1300" dirty="0"/>
          </a:p>
        </p:txBody>
      </p:sp>
      <p:sp>
        <p:nvSpPr>
          <p:cNvPr id="19" name="Shape 17"/>
          <p:cNvSpPr/>
          <p:nvPr/>
        </p:nvSpPr>
        <p:spPr>
          <a:xfrm>
            <a:off x="8686800" y="2148840"/>
            <a:ext cx="411480" cy="320040"/>
          </a:xfrm>
          <a:prstGeom prst="rightArrow">
            <a:avLst/>
          </a:prstGeom>
          <a:solidFill>
            <a:srgbClr val="475569"/>
          </a:solidFill>
          <a:ln w="12700">
            <a:solidFill>
              <a:srgbClr val="475569"/>
            </a:solidFill>
            <a:prstDash val="solid"/>
          </a:ln>
        </p:spPr>
      </p:sp>
      <p:sp>
        <p:nvSpPr>
          <p:cNvPr id="20" name="loop step 4"/>
          <p:cNvSpPr/>
          <p:nvPr/>
        </p:nvSpPr>
        <p:spPr>
          <a:xfrm>
            <a:off x="9162288" y="1417320"/>
            <a:ext cx="2331720" cy="1783080"/>
          </a:xfrm>
          <a:prstGeom prst="roundRect">
            <a:avLst>
              <a:gd name="adj" fmla="val 6154"/>
            </a:avLst>
          </a:prstGeom>
          <a:solidFill>
            <a:srgbClr val="06B6D4"/>
          </a:solidFill>
          <a:ln w="12700">
            <a:solidFill>
              <a:srgbClr val="06B6D4"/>
            </a:solidFill>
            <a:prstDash val="solid"/>
          </a:ln>
          <a:effectLst>
            <a:outerShdw sx="100000" sy="100000" kx="0" ky="0" algn="bl" rotWithShape="0" blurRad="127000" dist="38100" dir="5400000">
              <a:srgbClr val="0B1220">
                <a:alpha val="14000"/>
              </a:srgbClr>
            </a:outerShdw>
          </a:effectLst>
        </p:spPr>
      </p:sp>
      <p:sp>
        <p:nvSpPr>
          <p:cNvPr id="21" name="Text 19"/>
          <p:cNvSpPr txBox="1"/>
          <p:nvPr/>
        </p:nvSpPr>
        <p:spPr>
          <a:xfrm>
            <a:off x="9345168" y="1481328"/>
            <a:ext cx="548640" cy="548640"/>
          </a:xfrm>
          <a:prstGeom prst="rect">
            <a:avLst/>
          </a:prstGeom>
          <a:noFill/>
          <a:ln/>
        </p:spPr>
        <p:txBody>
          <a:bodyPr wrap="square" lIns="0" tIns="0" rIns="0" bIns="0" rtlCol="0" anchor="t"/>
          <a:lstStyle/>
          <a:p>
            <a:pPr indent="0" marL="0">
              <a:buNone/>
            </a:pPr>
            <a:r>
              <a:rPr lang="en-US" sz="3000" b="1" dirty="0">
                <a:solidFill>
                  <a:srgbClr val="FFFFFF"/>
                </a:solidFill>
                <a:latin typeface="+mj-lt" pitchFamily="34" charset="0"/>
                <a:ea typeface="+mj-lt" pitchFamily="34" charset="-122"/>
                <a:cs typeface="+mj-lt" pitchFamily="34" charset="-120"/>
              </a:rPr>
              <a:t>4</a:t>
            </a:r>
            <a:endParaRPr lang="en-US" sz="3000" dirty="0"/>
          </a:p>
        </p:txBody>
      </p:sp>
      <p:sp>
        <p:nvSpPr>
          <p:cNvPr id="22" name="Text 20"/>
          <p:cNvSpPr txBox="1"/>
          <p:nvPr/>
        </p:nvSpPr>
        <p:spPr>
          <a:xfrm>
            <a:off x="9345168" y="2011680"/>
            <a:ext cx="2011680" cy="365760"/>
          </a:xfrm>
          <a:prstGeom prst="rect">
            <a:avLst/>
          </a:prstGeom>
          <a:noFill/>
          <a:ln/>
        </p:spPr>
        <p:txBody>
          <a:bodyPr wrap="square" lIns="0" tIns="0" rIns="0" bIns="0" rtlCol="0" anchor="t"/>
          <a:lstStyle/>
          <a:p>
            <a:pPr indent="0" marL="0">
              <a:buNone/>
            </a:pPr>
            <a:r>
              <a:rPr lang="en-US" sz="1700" b="1" dirty="0">
                <a:solidFill>
                  <a:srgbClr val="FFFFFF"/>
                </a:solidFill>
              </a:rPr>
              <a:t>Fine-tune</a:t>
            </a:r>
            <a:endParaRPr lang="en-US" sz="1700" dirty="0"/>
          </a:p>
        </p:txBody>
      </p:sp>
      <p:sp>
        <p:nvSpPr>
          <p:cNvPr id="23" name="Text 21"/>
          <p:cNvSpPr txBox="1"/>
          <p:nvPr/>
        </p:nvSpPr>
        <p:spPr>
          <a:xfrm>
            <a:off x="9345168" y="2395728"/>
            <a:ext cx="2011680" cy="731520"/>
          </a:xfrm>
          <a:prstGeom prst="rect">
            <a:avLst/>
          </a:prstGeom>
          <a:noFill/>
          <a:ln/>
        </p:spPr>
        <p:txBody>
          <a:bodyPr wrap="square" lIns="0" tIns="0" rIns="0" bIns="0" rtlCol="0" anchor="t"/>
          <a:lstStyle/>
          <a:p>
            <a:pPr indent="0" marL="0">
              <a:buNone/>
            </a:pPr>
            <a:r>
              <a:rPr lang="en-US" sz="1300" dirty="0">
                <a:solidFill>
                  <a:srgbClr val="0B1220"/>
                </a:solidFill>
              </a:rPr>
              <a:t>One gradient step, learning rate 0.001, no replay.</a:t>
            </a:r>
            <a:endParaRPr lang="en-US" sz="1300" dirty="0"/>
          </a:p>
        </p:txBody>
      </p:sp>
      <p:sp>
        <p:nvSpPr>
          <p:cNvPr id="24" name="Text 22"/>
          <p:cNvSpPr txBox="1"/>
          <p:nvPr/>
        </p:nvSpPr>
        <p:spPr>
          <a:xfrm>
            <a:off x="548640" y="3310128"/>
            <a:ext cx="11064240" cy="365760"/>
          </a:xfrm>
          <a:prstGeom prst="rect">
            <a:avLst/>
          </a:prstGeom>
          <a:noFill/>
          <a:ln/>
        </p:spPr>
        <p:txBody>
          <a:bodyPr wrap="square" lIns="0" tIns="0" rIns="0" bIns="0" rtlCol="0" anchor="t"/>
          <a:lstStyle/>
          <a:p>
            <a:pPr indent="0" marL="0">
              <a:buNone/>
            </a:pPr>
            <a:r>
              <a:rPr lang="en-US" sz="1400" dirty="0">
                <a:solidFill>
                  <a:srgbClr val="64748B"/>
                </a:solidFill>
              </a:rPr>
              <a:t>Then predict t + 1, and repeat through t = 49.</a:t>
            </a:r>
            <a:endParaRPr lang="en-US" sz="1400" dirty="0"/>
          </a:p>
        </p:txBody>
      </p:sp>
      <p:sp>
        <p:nvSpPr>
          <p:cNvPr id="25" name="It is card"/>
          <p:cNvSpPr/>
          <p:nvPr/>
        </p:nvSpPr>
        <p:spPr>
          <a:xfrm>
            <a:off x="548640" y="3794760"/>
            <a:ext cx="5468112" cy="2423160"/>
          </a:xfrm>
          <a:prstGeom prst="roundRect">
            <a:avLst>
              <a:gd name="adj" fmla="val 4528"/>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26" name="Shape 24"/>
          <p:cNvSpPr/>
          <p:nvPr/>
        </p:nvSpPr>
        <p:spPr>
          <a:xfrm>
            <a:off x="777240" y="3977640"/>
            <a:ext cx="457200" cy="457200"/>
          </a:xfrm>
          <a:prstGeom prst="ellipse">
            <a:avLst/>
          </a:prstGeom>
          <a:solidFill>
            <a:srgbClr val="10B981"/>
          </a:solidFill>
          <a:ln w="12700">
            <a:solidFill>
              <a:srgbClr val="10B981"/>
            </a:solidFill>
            <a:prstDash val="solid"/>
          </a:ln>
        </p:spPr>
      </p:sp>
      <p:pic>
        <p:nvPicPr>
          <p:cNvPr id="27" name="Image 0" descr="icon">    </p:cNvPr>
          <p:cNvPicPr>
            <a:picLocks noChangeAspect="1"/>
          </p:cNvPicPr>
          <p:nvPr/>
        </p:nvPicPr>
        <p:blipFill>
          <a:blip r:embed="rId1"/>
          <a:stretch>
            <a:fillRect/>
          </a:stretch>
        </p:blipFill>
        <p:spPr>
          <a:xfrm>
            <a:off x="896112" y="4096512"/>
            <a:ext cx="219456" cy="219456"/>
          </a:xfrm>
          <a:prstGeom prst="rect">
            <a:avLst/>
          </a:prstGeom>
        </p:spPr>
      </p:pic>
      <p:sp>
        <p:nvSpPr>
          <p:cNvPr id="28" name="Text 25"/>
          <p:cNvSpPr txBox="1"/>
          <p:nvPr/>
        </p:nvSpPr>
        <p:spPr>
          <a:xfrm>
            <a:off x="1371600" y="4005072"/>
            <a:ext cx="3657600" cy="411480"/>
          </a:xfrm>
          <a:prstGeom prst="rect">
            <a:avLst/>
          </a:prstGeom>
          <a:noFill/>
          <a:ln/>
        </p:spPr>
        <p:txBody>
          <a:bodyPr wrap="square" lIns="0" tIns="0" rIns="0" bIns="0" rtlCol="0" anchor="t"/>
          <a:lstStyle/>
          <a:p>
            <a:pPr indent="0" marL="0">
              <a:buNone/>
            </a:pPr>
            <a:r>
              <a:rPr lang="en-US" sz="1900" b="1" dirty="0">
                <a:solidFill>
                  <a:srgbClr val="0B1220"/>
                </a:solidFill>
              </a:rPr>
              <a:t>It is</a:t>
            </a:r>
            <a:endParaRPr lang="en-US" sz="1900" dirty="0"/>
          </a:p>
        </p:txBody>
      </p:sp>
      <p:sp>
        <p:nvSpPr>
          <p:cNvPr id="29" name="Text 26"/>
          <p:cNvSpPr txBox="1"/>
          <p:nvPr/>
        </p:nvSpPr>
        <p:spPr>
          <a:xfrm>
            <a:off x="822960" y="4572000"/>
            <a:ext cx="4937760" cy="15544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475569"/>
                </a:solidFill>
              </a:rPr>
              <a:t>Plain online fine-tuning on revealed labels</a:t>
            </a:r>
            <a:endParaRPr lang="en-US" sz="1600" dirty="0"/>
          </a:p>
          <a:p>
            <a:pPr marL="342900" indent="-342900">
              <a:spcAft>
                <a:spcPts val="800"/>
              </a:spcAft>
              <a:buSzPct val="100000"/>
              <a:buChar char="•"/>
            </a:pPr>
            <a:r>
              <a:rPr lang="en-US" sz="1600" dirty="0">
                <a:solidFill>
                  <a:srgbClr val="475569"/>
                </a:solidFill>
              </a:rPr>
              <a:t>Class weight computed once from training data</a:t>
            </a:r>
            <a:endParaRPr lang="en-US" sz="1600" dirty="0"/>
          </a:p>
          <a:p>
            <a:pPr marL="342900" indent="-342900">
              <a:spcAft>
                <a:spcPts val="800"/>
              </a:spcAft>
              <a:buSzPct val="100000"/>
              <a:buChar char="•"/>
            </a:pPr>
            <a:r>
              <a:rPr lang="en-US" sz="1600" dirty="0">
                <a:solidFill>
                  <a:srgbClr val="475569"/>
                </a:solidFill>
              </a:rPr>
              <a:t>A simulated delay: k = 1, with k = 3 as a sensitivity check</a:t>
            </a:r>
            <a:endParaRPr lang="en-US" sz="1600" dirty="0"/>
          </a:p>
        </p:txBody>
      </p:sp>
      <p:sp>
        <p:nvSpPr>
          <p:cNvPr id="30" name="It is not card"/>
          <p:cNvSpPr/>
          <p:nvPr/>
        </p:nvSpPr>
        <p:spPr>
          <a:xfrm>
            <a:off x="6172200" y="3794760"/>
            <a:ext cx="5468112" cy="2423160"/>
          </a:xfrm>
          <a:prstGeom prst="roundRect">
            <a:avLst>
              <a:gd name="adj" fmla="val 4528"/>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31" name="Shape 28"/>
          <p:cNvSpPr/>
          <p:nvPr/>
        </p:nvSpPr>
        <p:spPr>
          <a:xfrm>
            <a:off x="6400800" y="3977640"/>
            <a:ext cx="457200" cy="457200"/>
          </a:xfrm>
          <a:prstGeom prst="ellipse">
            <a:avLst/>
          </a:prstGeom>
          <a:solidFill>
            <a:srgbClr val="F43F5E"/>
          </a:solidFill>
          <a:ln w="12700">
            <a:solidFill>
              <a:srgbClr val="F43F5E"/>
            </a:solidFill>
            <a:prstDash val="solid"/>
          </a:ln>
        </p:spPr>
      </p:sp>
      <p:pic>
        <p:nvPicPr>
          <p:cNvPr id="32" name="Image 1" descr="icon">    </p:cNvPr>
          <p:cNvPicPr>
            <a:picLocks noChangeAspect="1"/>
          </p:cNvPicPr>
          <p:nvPr/>
        </p:nvPicPr>
        <p:blipFill>
          <a:blip r:embed="rId2"/>
          <a:stretch>
            <a:fillRect/>
          </a:stretch>
        </p:blipFill>
        <p:spPr>
          <a:xfrm>
            <a:off x="6519672" y="4096512"/>
            <a:ext cx="219456" cy="219456"/>
          </a:xfrm>
          <a:prstGeom prst="rect">
            <a:avLst/>
          </a:prstGeom>
        </p:spPr>
      </p:pic>
      <p:sp>
        <p:nvSpPr>
          <p:cNvPr id="33" name="Text 29"/>
          <p:cNvSpPr txBox="1"/>
          <p:nvPr/>
        </p:nvSpPr>
        <p:spPr>
          <a:xfrm>
            <a:off x="6995160" y="4005072"/>
            <a:ext cx="3657600" cy="411480"/>
          </a:xfrm>
          <a:prstGeom prst="rect">
            <a:avLst/>
          </a:prstGeom>
          <a:noFill/>
          <a:ln/>
        </p:spPr>
        <p:txBody>
          <a:bodyPr wrap="square" lIns="0" tIns="0" rIns="0" bIns="0" rtlCol="0" anchor="t"/>
          <a:lstStyle/>
          <a:p>
            <a:pPr indent="0" marL="0">
              <a:buNone/>
            </a:pPr>
            <a:r>
              <a:rPr lang="en-US" sz="1900" b="1" dirty="0">
                <a:solidFill>
                  <a:srgbClr val="0B1220"/>
                </a:solidFill>
              </a:rPr>
              <a:t>It is not</a:t>
            </a:r>
            <a:endParaRPr lang="en-US" sz="1900" dirty="0"/>
          </a:p>
        </p:txBody>
      </p:sp>
      <p:sp>
        <p:nvSpPr>
          <p:cNvPr id="34" name="Text 30"/>
          <p:cNvSpPr txBox="1"/>
          <p:nvPr/>
        </p:nvSpPr>
        <p:spPr>
          <a:xfrm>
            <a:off x="6446520" y="4572000"/>
            <a:ext cx="4937760" cy="15544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475569"/>
                </a:solidFill>
              </a:rPr>
              <a:t>Reinforcement learning or meta-learning</a:t>
            </a:r>
            <a:endParaRPr lang="en-US" sz="1600" dirty="0"/>
          </a:p>
          <a:p>
            <a:pPr marL="342900" indent="-342900">
              <a:spcAft>
                <a:spcPts val="800"/>
              </a:spcAft>
              <a:buSzPct val="100000"/>
              <a:buChar char="•"/>
            </a:pPr>
            <a:r>
              <a:rPr lang="en-US" sz="1600" dirty="0">
                <a:solidFill>
                  <a:srgbClr val="475569"/>
                </a:solidFill>
              </a:rPr>
              <a:t>A real feedback delay: the data has no label-arrival times</a:t>
            </a:r>
            <a:endParaRPr lang="en-US" sz="1600" dirty="0"/>
          </a:p>
          <a:p>
            <a:pPr marL="342900" indent="-342900">
              <a:spcAft>
                <a:spcPts val="800"/>
              </a:spcAft>
              <a:buSzPct val="100000"/>
              <a:buChar char="•"/>
            </a:pPr>
            <a:r>
              <a:rPr lang="en-US" sz="1600" dirty="0">
                <a:solidFill>
                  <a:srgbClr val="475569"/>
                </a:solidFill>
              </a:rPr>
              <a:t>Tuned on the test period</a:t>
            </a:r>
            <a:endParaRPr lang="en-US" sz="1600" dirty="0"/>
          </a:p>
        </p:txBody>
      </p:sp>
      <p:sp>
        <p:nvSpPr>
          <p:cNvPr id="25" name="Slide Number Placeholder 0"/>
          <p:cNvSpPr>
            <a:spLocks noGrp="1"/>
          </p:cNvSpPr>
          <p:nvPr>
            <p:ph type="sldNum" sz="quarter" idx="4294967295"/>
          </p:nvPr>
        </p:nvSpPr>
        <p:spPr>
          <a:xfrm>
            <a:off x="1115568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784080" cy="868680"/>
          </a:xfrm>
          <a:prstGeom prst="rect">
            <a:avLst/>
          </a:prstGeom>
          <a:noFill/>
          <a:ln/>
        </p:spPr>
        <p:txBody>
          <a:bodyPr wrap="square" lIns="0" tIns="0" rIns="0" bIns="0" rtlCol="0" anchor="ctr"/>
          <a:lstStyle/>
          <a:p>
            <a:pPr algn="l" indent="0" marL="0">
              <a:buNone/>
            </a:pPr>
            <a:r>
              <a:rPr lang="en-US" sz="3200" b="1" dirty="0">
                <a:solidFill>
                  <a:srgbClr val="0B1220"/>
                </a:solidFill>
                <a:latin typeface="Cambria" pitchFamily="34" charset="0"/>
                <a:ea typeface="Cambria" pitchFamily="34" charset="-122"/>
                <a:cs typeface="Cambria" pitchFamily="34" charset="-120"/>
              </a:rPr>
              <a:t>Five finalists, one honest comparison</a:t>
            </a:r>
            <a:endParaRPr lang="en-US" sz="3200" dirty="0"/>
          </a:p>
        </p:txBody>
      </p:sp>
      <p:sp>
        <p:nvSpPr>
          <p:cNvPr id="3" name="Shape 1"/>
          <p:cNvSpPr/>
          <p:nvPr/>
        </p:nvSpPr>
        <p:spPr>
          <a:xfrm>
            <a:off x="10561320" y="475488"/>
            <a:ext cx="1097280" cy="329184"/>
          </a:xfrm>
          <a:prstGeom prst="roundRect">
            <a:avLst>
              <a:gd name="adj" fmla="val 50000"/>
            </a:avLst>
          </a:prstGeom>
          <a:solidFill>
            <a:srgbClr val="14213D"/>
          </a:solidFill>
          <a:ln w="12700">
            <a:solidFill>
              <a:srgbClr val="14213D"/>
            </a:solidFill>
            <a:prstDash val="solid"/>
          </a:ln>
        </p:spPr>
      </p:sp>
      <p:sp>
        <p:nvSpPr>
          <p:cNvPr id="4" name="Text 2"/>
          <p:cNvSpPr txBox="1"/>
          <p:nvPr/>
        </p:nvSpPr>
        <p:spPr>
          <a:xfrm>
            <a:off x="10561320" y="475488"/>
            <a:ext cx="1097280" cy="329184"/>
          </a:xfrm>
          <a:prstGeom prst="rect">
            <a:avLst/>
          </a:prstGeom>
          <a:noFill/>
          <a:ln/>
        </p:spPr>
        <p:txBody>
          <a:bodyPr wrap="square" lIns="0" tIns="0" rIns="0" bIns="0" rtlCol="0" anchor="ctr"/>
          <a:lstStyle/>
          <a:p>
            <a:pPr algn="ctr" indent="0" marL="0">
              <a:buNone/>
            </a:pPr>
            <a:r>
              <a:rPr lang="en-US" sz="1100" b="1" dirty="0">
                <a:solidFill>
                  <a:srgbClr val="FFFFFF"/>
                </a:solidFill>
              </a:rPr>
              <a:t>Speaker B</a:t>
            </a:r>
            <a:endParaRPr lang="en-US" sz="1100" dirty="0"/>
          </a:p>
        </p:txBody>
      </p:sp>
      <p:sp>
        <p:nvSpPr>
          <p:cNvPr id="5" name="model card 1"/>
          <p:cNvSpPr/>
          <p:nvPr/>
        </p:nvSpPr>
        <p:spPr>
          <a:xfrm>
            <a:off x="548640" y="1417320"/>
            <a:ext cx="2103120" cy="3886200"/>
          </a:xfrm>
          <a:prstGeom prst="roundRect">
            <a:avLst>
              <a:gd name="adj" fmla="val 5217"/>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6" name="Shape 4"/>
          <p:cNvSpPr/>
          <p:nvPr/>
        </p:nvSpPr>
        <p:spPr>
          <a:xfrm>
            <a:off x="749808" y="1645920"/>
            <a:ext cx="594360" cy="594360"/>
          </a:xfrm>
          <a:prstGeom prst="ellipse">
            <a:avLst/>
          </a:prstGeom>
          <a:solidFill>
            <a:srgbClr val="94A3B8"/>
          </a:solidFill>
          <a:ln w="12700">
            <a:solidFill>
              <a:srgbClr val="94A3B8"/>
            </a:solidFill>
            <a:prstDash val="solid"/>
          </a:ln>
        </p:spPr>
      </p:sp>
      <p:pic>
        <p:nvPicPr>
          <p:cNvPr id="7" name="Image 0" descr="icon">    </p:cNvPr>
          <p:cNvPicPr>
            <a:picLocks noChangeAspect="1"/>
          </p:cNvPicPr>
          <p:nvPr/>
        </p:nvPicPr>
        <p:blipFill>
          <a:blip r:embed="rId1"/>
          <a:stretch>
            <a:fillRect/>
          </a:stretch>
        </p:blipFill>
        <p:spPr>
          <a:xfrm>
            <a:off x="904342" y="1800454"/>
            <a:ext cx="285293" cy="285293"/>
          </a:xfrm>
          <a:prstGeom prst="rect">
            <a:avLst/>
          </a:prstGeom>
        </p:spPr>
      </p:pic>
      <p:sp>
        <p:nvSpPr>
          <p:cNvPr id="8" name="Text 5"/>
          <p:cNvSpPr txBox="1"/>
          <p:nvPr/>
        </p:nvSpPr>
        <p:spPr>
          <a:xfrm>
            <a:off x="685800" y="2331720"/>
            <a:ext cx="1828800" cy="274320"/>
          </a:xfrm>
          <a:prstGeom prst="rect">
            <a:avLst/>
          </a:prstGeom>
          <a:noFill/>
          <a:ln/>
        </p:spPr>
        <p:txBody>
          <a:bodyPr wrap="square" lIns="0" tIns="0" rIns="0" bIns="0" rtlCol="0" anchor="t"/>
          <a:lstStyle/>
          <a:p>
            <a:pPr indent="0" marL="0">
              <a:buNone/>
            </a:pPr>
            <a:r>
              <a:rPr lang="en-US" sz="1100" b="1" spc="100" kern="0" dirty="0">
                <a:solidFill>
                  <a:srgbClr val="64748B"/>
                </a:solidFill>
              </a:rPr>
              <a:t>BASELINE</a:t>
            </a:r>
            <a:endParaRPr lang="en-US" sz="1100" dirty="0"/>
          </a:p>
        </p:txBody>
      </p:sp>
      <p:sp>
        <p:nvSpPr>
          <p:cNvPr id="9" name="Text 6"/>
          <p:cNvSpPr txBox="1"/>
          <p:nvPr/>
        </p:nvSpPr>
        <p:spPr>
          <a:xfrm>
            <a:off x="685800" y="2606040"/>
            <a:ext cx="1828800" cy="685800"/>
          </a:xfrm>
          <a:prstGeom prst="rect">
            <a:avLst/>
          </a:prstGeom>
          <a:noFill/>
          <a:ln/>
        </p:spPr>
        <p:txBody>
          <a:bodyPr wrap="square" lIns="0" tIns="0" rIns="0" bIns="0" rtlCol="0" anchor="t"/>
          <a:lstStyle/>
          <a:p>
            <a:pPr indent="0" marL="0">
              <a:buNone/>
            </a:pPr>
            <a:r>
              <a:rPr lang="en-US" sz="1600" b="1" dirty="0">
                <a:solidFill>
                  <a:srgbClr val="0B1220"/>
                </a:solidFill>
              </a:rPr>
              <a:t>Logistic Regression</a:t>
            </a:r>
            <a:endParaRPr lang="en-US" sz="1600" dirty="0"/>
          </a:p>
        </p:txBody>
      </p:sp>
      <p:sp>
        <p:nvSpPr>
          <p:cNvPr id="10" name="Text 7"/>
          <p:cNvSpPr txBox="1"/>
          <p:nvPr/>
        </p:nvSpPr>
        <p:spPr>
          <a:xfrm>
            <a:off x="685800" y="3291840"/>
            <a:ext cx="1828800" cy="914400"/>
          </a:xfrm>
          <a:prstGeom prst="rect">
            <a:avLst/>
          </a:prstGeom>
          <a:noFill/>
          <a:ln/>
        </p:spPr>
        <p:txBody>
          <a:bodyPr wrap="square" lIns="0" tIns="0" rIns="0" bIns="0" rtlCol="0" anchor="t"/>
          <a:lstStyle/>
          <a:p>
            <a:pPr indent="0" marL="0">
              <a:buNone/>
            </a:pPr>
            <a:r>
              <a:rPr lang="en-US" sz="1300" dirty="0">
                <a:solidFill>
                  <a:srgbClr val="475569"/>
                </a:solidFill>
              </a:rPr>
              <a:t>Linear, class-weighted. The simple reference.</a:t>
            </a:r>
            <a:endParaRPr lang="en-US" sz="1300" dirty="0"/>
          </a:p>
        </p:txBody>
      </p:sp>
      <p:sp>
        <p:nvSpPr>
          <p:cNvPr id="11" name="Text 8"/>
          <p:cNvSpPr txBox="1"/>
          <p:nvPr/>
        </p:nvSpPr>
        <p:spPr>
          <a:xfrm>
            <a:off x="685800" y="4251960"/>
            <a:ext cx="1828800" cy="548640"/>
          </a:xfrm>
          <a:prstGeom prst="rect">
            <a:avLst/>
          </a:prstGeom>
          <a:noFill/>
          <a:ln/>
        </p:spPr>
        <p:txBody>
          <a:bodyPr wrap="square" lIns="0" tIns="0" rIns="0" bIns="0" rtlCol="0" anchor="t"/>
          <a:lstStyle/>
          <a:p>
            <a:pPr indent="0" marL="0">
              <a:buNone/>
            </a:pPr>
            <a:r>
              <a:rPr lang="en-US" sz="2800" b="1" dirty="0">
                <a:solidFill>
                  <a:srgbClr val="475569"/>
                </a:solidFill>
                <a:latin typeface="+mj-lt" pitchFamily="34" charset="0"/>
                <a:ea typeface="+mj-lt" pitchFamily="34" charset="-122"/>
                <a:cs typeface="+mj-lt" pitchFamily="34" charset="-120"/>
              </a:rPr>
              <a:t>0.32</a:t>
            </a:r>
            <a:endParaRPr lang="en-US" sz="2800" dirty="0"/>
          </a:p>
        </p:txBody>
      </p:sp>
      <p:sp>
        <p:nvSpPr>
          <p:cNvPr id="12" name="Text 9"/>
          <p:cNvSpPr txBox="1"/>
          <p:nvPr/>
        </p:nvSpPr>
        <p:spPr>
          <a:xfrm>
            <a:off x="685800" y="4773168"/>
            <a:ext cx="1828800" cy="274320"/>
          </a:xfrm>
          <a:prstGeom prst="rect">
            <a:avLst/>
          </a:prstGeom>
          <a:noFill/>
          <a:ln/>
        </p:spPr>
        <p:txBody>
          <a:bodyPr wrap="square" lIns="0" tIns="0" rIns="0" bIns="0" rtlCol="0" anchor="t"/>
          <a:lstStyle/>
          <a:p>
            <a:pPr indent="0" marL="0">
              <a:buNone/>
            </a:pPr>
            <a:r>
              <a:rPr lang="en-US" sz="1100" dirty="0">
                <a:solidFill>
                  <a:srgbClr val="64748B"/>
                </a:solidFill>
              </a:rPr>
              <a:t>test F1</a:t>
            </a:r>
            <a:endParaRPr lang="en-US" sz="1100" dirty="0"/>
          </a:p>
        </p:txBody>
      </p:sp>
      <p:sp>
        <p:nvSpPr>
          <p:cNvPr id="13" name="model card 2"/>
          <p:cNvSpPr/>
          <p:nvPr/>
        </p:nvSpPr>
        <p:spPr>
          <a:xfrm>
            <a:off x="2788920" y="1417320"/>
            <a:ext cx="2103120" cy="3886200"/>
          </a:xfrm>
          <a:prstGeom prst="roundRect">
            <a:avLst>
              <a:gd name="adj" fmla="val 5217"/>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14" name="Shape 11"/>
          <p:cNvSpPr/>
          <p:nvPr/>
        </p:nvSpPr>
        <p:spPr>
          <a:xfrm>
            <a:off x="2990088" y="1645920"/>
            <a:ext cx="594360" cy="594360"/>
          </a:xfrm>
          <a:prstGeom prst="ellipse">
            <a:avLst/>
          </a:prstGeom>
          <a:solidFill>
            <a:srgbClr val="10B981"/>
          </a:solidFill>
          <a:ln w="12700">
            <a:solidFill>
              <a:srgbClr val="10B981"/>
            </a:solidFill>
            <a:prstDash val="solid"/>
          </a:ln>
        </p:spPr>
      </p:sp>
      <p:pic>
        <p:nvPicPr>
          <p:cNvPr id="15" name="Image 1" descr="icon">    </p:cNvPr>
          <p:cNvPicPr>
            <a:picLocks noChangeAspect="1"/>
          </p:cNvPicPr>
          <p:nvPr/>
        </p:nvPicPr>
        <p:blipFill>
          <a:blip r:embed="rId2"/>
          <a:stretch>
            <a:fillRect/>
          </a:stretch>
        </p:blipFill>
        <p:spPr>
          <a:xfrm>
            <a:off x="3144622" y="1800454"/>
            <a:ext cx="285293" cy="285293"/>
          </a:xfrm>
          <a:prstGeom prst="rect">
            <a:avLst/>
          </a:prstGeom>
        </p:spPr>
      </p:pic>
      <p:sp>
        <p:nvSpPr>
          <p:cNvPr id="16" name="Text 12"/>
          <p:cNvSpPr txBox="1"/>
          <p:nvPr/>
        </p:nvSpPr>
        <p:spPr>
          <a:xfrm>
            <a:off x="2926080" y="2331720"/>
            <a:ext cx="1828800" cy="274320"/>
          </a:xfrm>
          <a:prstGeom prst="rect">
            <a:avLst/>
          </a:prstGeom>
          <a:noFill/>
          <a:ln/>
        </p:spPr>
        <p:txBody>
          <a:bodyPr wrap="square" lIns="0" tIns="0" rIns="0" bIns="0" rtlCol="0" anchor="t"/>
          <a:lstStyle/>
          <a:p>
            <a:pPr indent="0" marL="0">
              <a:buNone/>
            </a:pPr>
            <a:r>
              <a:rPr lang="en-US" sz="1100" b="1" spc="100" kern="0" dirty="0">
                <a:solidFill>
                  <a:srgbClr val="10B981"/>
                </a:solidFill>
              </a:rPr>
              <a:t>BENCHMARK</a:t>
            </a:r>
            <a:endParaRPr lang="en-US" sz="1100" dirty="0"/>
          </a:p>
        </p:txBody>
      </p:sp>
      <p:sp>
        <p:nvSpPr>
          <p:cNvPr id="17" name="Text 13"/>
          <p:cNvSpPr txBox="1"/>
          <p:nvPr/>
        </p:nvSpPr>
        <p:spPr>
          <a:xfrm>
            <a:off x="2926080" y="2606040"/>
            <a:ext cx="1828800" cy="685800"/>
          </a:xfrm>
          <a:prstGeom prst="rect">
            <a:avLst/>
          </a:prstGeom>
          <a:noFill/>
          <a:ln/>
        </p:spPr>
        <p:txBody>
          <a:bodyPr wrap="square" lIns="0" tIns="0" rIns="0" bIns="0" rtlCol="0" anchor="t"/>
          <a:lstStyle/>
          <a:p>
            <a:pPr indent="0" marL="0">
              <a:buNone/>
            </a:pPr>
            <a:r>
              <a:rPr lang="en-US" sz="1600" b="1" dirty="0">
                <a:solidFill>
                  <a:srgbClr val="0B1220"/>
                </a:solidFill>
              </a:rPr>
              <a:t>Random Forest</a:t>
            </a:r>
            <a:endParaRPr lang="en-US" sz="1600" dirty="0"/>
          </a:p>
        </p:txBody>
      </p:sp>
      <p:sp>
        <p:nvSpPr>
          <p:cNvPr id="18" name="Text 14"/>
          <p:cNvSpPr txBox="1"/>
          <p:nvPr/>
        </p:nvSpPr>
        <p:spPr>
          <a:xfrm>
            <a:off x="2926080" y="3291840"/>
            <a:ext cx="1828800" cy="914400"/>
          </a:xfrm>
          <a:prstGeom prst="rect">
            <a:avLst/>
          </a:prstGeom>
          <a:noFill/>
          <a:ln/>
        </p:spPr>
        <p:txBody>
          <a:bodyPr wrap="square" lIns="0" tIns="0" rIns="0" bIns="0" rtlCol="0" anchor="t"/>
          <a:lstStyle/>
          <a:p>
            <a:pPr indent="0" marL="0">
              <a:buNone/>
            </a:pPr>
            <a:r>
              <a:rPr lang="en-US" sz="1300" dirty="0">
                <a:solidFill>
                  <a:srgbClr val="475569"/>
                </a:solidFill>
              </a:rPr>
              <a:t>300 trees, class-weighted, no graph information.</a:t>
            </a:r>
            <a:endParaRPr lang="en-US" sz="1300" dirty="0"/>
          </a:p>
        </p:txBody>
      </p:sp>
      <p:sp>
        <p:nvSpPr>
          <p:cNvPr id="19" name="Text 15"/>
          <p:cNvSpPr txBox="1"/>
          <p:nvPr/>
        </p:nvSpPr>
        <p:spPr>
          <a:xfrm>
            <a:off x="2926080" y="4251960"/>
            <a:ext cx="1828800" cy="548640"/>
          </a:xfrm>
          <a:prstGeom prst="rect">
            <a:avLst/>
          </a:prstGeom>
          <a:noFill/>
          <a:ln/>
        </p:spPr>
        <p:txBody>
          <a:bodyPr wrap="square" lIns="0" tIns="0" rIns="0" bIns="0" rtlCol="0" anchor="t"/>
          <a:lstStyle/>
          <a:p>
            <a:pPr indent="0" marL="0">
              <a:buNone/>
            </a:pPr>
            <a:r>
              <a:rPr lang="en-US" sz="2800" b="1" dirty="0">
                <a:solidFill>
                  <a:srgbClr val="10B981"/>
                </a:solidFill>
                <a:latin typeface="+mj-lt" pitchFamily="34" charset="0"/>
                <a:ea typeface="+mj-lt" pitchFamily="34" charset="-122"/>
                <a:cs typeface="+mj-lt" pitchFamily="34" charset="-120"/>
              </a:rPr>
              <a:t>0.79</a:t>
            </a:r>
            <a:endParaRPr lang="en-US" sz="2800" dirty="0"/>
          </a:p>
        </p:txBody>
      </p:sp>
      <p:sp>
        <p:nvSpPr>
          <p:cNvPr id="20" name="Text 16"/>
          <p:cNvSpPr txBox="1"/>
          <p:nvPr/>
        </p:nvSpPr>
        <p:spPr>
          <a:xfrm>
            <a:off x="2926080" y="4773168"/>
            <a:ext cx="1828800" cy="274320"/>
          </a:xfrm>
          <a:prstGeom prst="rect">
            <a:avLst/>
          </a:prstGeom>
          <a:noFill/>
          <a:ln/>
        </p:spPr>
        <p:txBody>
          <a:bodyPr wrap="square" lIns="0" tIns="0" rIns="0" bIns="0" rtlCol="0" anchor="t"/>
          <a:lstStyle/>
          <a:p>
            <a:pPr indent="0" marL="0">
              <a:buNone/>
            </a:pPr>
            <a:r>
              <a:rPr lang="en-US" sz="1100" dirty="0">
                <a:solidFill>
                  <a:srgbClr val="64748B"/>
                </a:solidFill>
              </a:rPr>
              <a:t>test F1</a:t>
            </a:r>
            <a:endParaRPr lang="en-US" sz="1100" dirty="0"/>
          </a:p>
        </p:txBody>
      </p:sp>
      <p:sp>
        <p:nvSpPr>
          <p:cNvPr id="21" name="model card 3"/>
          <p:cNvSpPr/>
          <p:nvPr/>
        </p:nvSpPr>
        <p:spPr>
          <a:xfrm>
            <a:off x="5029200" y="1417320"/>
            <a:ext cx="2103120" cy="3886200"/>
          </a:xfrm>
          <a:prstGeom prst="roundRect">
            <a:avLst>
              <a:gd name="adj" fmla="val 5217"/>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22" name="Shape 18"/>
          <p:cNvSpPr/>
          <p:nvPr/>
        </p:nvSpPr>
        <p:spPr>
          <a:xfrm>
            <a:off x="5230368" y="1645920"/>
            <a:ext cx="594360" cy="594360"/>
          </a:xfrm>
          <a:prstGeom prst="ellipse">
            <a:avLst/>
          </a:prstGeom>
          <a:solidFill>
            <a:srgbClr val="6366F1"/>
          </a:solidFill>
          <a:ln w="12700">
            <a:solidFill>
              <a:srgbClr val="6366F1"/>
            </a:solidFill>
            <a:prstDash val="solid"/>
          </a:ln>
        </p:spPr>
      </p:sp>
      <p:pic>
        <p:nvPicPr>
          <p:cNvPr id="23" name="Image 2" descr="icon">    </p:cNvPr>
          <p:cNvPicPr>
            <a:picLocks noChangeAspect="1"/>
          </p:cNvPicPr>
          <p:nvPr/>
        </p:nvPicPr>
        <p:blipFill>
          <a:blip r:embed="rId3"/>
          <a:stretch>
            <a:fillRect/>
          </a:stretch>
        </p:blipFill>
        <p:spPr>
          <a:xfrm>
            <a:off x="5384902" y="1800454"/>
            <a:ext cx="285293" cy="285293"/>
          </a:xfrm>
          <a:prstGeom prst="rect">
            <a:avLst/>
          </a:prstGeom>
        </p:spPr>
      </p:pic>
      <p:sp>
        <p:nvSpPr>
          <p:cNvPr id="24" name="Text 19"/>
          <p:cNvSpPr txBox="1"/>
          <p:nvPr/>
        </p:nvSpPr>
        <p:spPr>
          <a:xfrm>
            <a:off x="5166360" y="2331720"/>
            <a:ext cx="1828800" cy="274320"/>
          </a:xfrm>
          <a:prstGeom prst="rect">
            <a:avLst/>
          </a:prstGeom>
          <a:noFill/>
          <a:ln/>
        </p:spPr>
        <p:txBody>
          <a:bodyPr wrap="square" lIns="0" tIns="0" rIns="0" bIns="0" rtlCol="0" anchor="t"/>
          <a:lstStyle/>
          <a:p>
            <a:pPr indent="0" marL="0">
              <a:buNone/>
            </a:pPr>
            <a:r>
              <a:rPr lang="en-US" sz="1100" b="1" spc="100" kern="0" dirty="0">
                <a:solidFill>
                  <a:srgbClr val="6366F1"/>
                </a:solidFill>
              </a:rPr>
              <a:t>GRAPH MODEL</a:t>
            </a:r>
            <a:endParaRPr lang="en-US" sz="1100" dirty="0"/>
          </a:p>
        </p:txBody>
      </p:sp>
      <p:sp>
        <p:nvSpPr>
          <p:cNvPr id="25" name="Text 20"/>
          <p:cNvSpPr txBox="1"/>
          <p:nvPr/>
        </p:nvSpPr>
        <p:spPr>
          <a:xfrm>
            <a:off x="5166360" y="2606040"/>
            <a:ext cx="1828800" cy="685800"/>
          </a:xfrm>
          <a:prstGeom prst="rect">
            <a:avLst/>
          </a:prstGeom>
          <a:noFill/>
          <a:ln/>
        </p:spPr>
        <p:txBody>
          <a:bodyPr wrap="square" lIns="0" tIns="0" rIns="0" bIns="0" rtlCol="0" anchor="t"/>
          <a:lstStyle/>
          <a:p>
            <a:pPr indent="0" marL="0">
              <a:buNone/>
            </a:pPr>
            <a:r>
              <a:rPr lang="en-US" sz="1600" b="1" dirty="0">
                <a:solidFill>
                  <a:srgbClr val="0B1220"/>
                </a:solidFill>
              </a:rPr>
              <a:t>Static GraphSAGE</a:t>
            </a:r>
            <a:endParaRPr lang="en-US" sz="1600" dirty="0"/>
          </a:p>
        </p:txBody>
      </p:sp>
      <p:sp>
        <p:nvSpPr>
          <p:cNvPr id="26" name="Text 21"/>
          <p:cNvSpPr txBox="1"/>
          <p:nvPr/>
        </p:nvSpPr>
        <p:spPr>
          <a:xfrm>
            <a:off x="5166360" y="3291840"/>
            <a:ext cx="1828800" cy="914400"/>
          </a:xfrm>
          <a:prstGeom prst="rect">
            <a:avLst/>
          </a:prstGeom>
          <a:noFill/>
          <a:ln/>
        </p:spPr>
        <p:txBody>
          <a:bodyPr wrap="square" lIns="0" tIns="0" rIns="0" bIns="0" rtlCol="0" anchor="t"/>
          <a:lstStyle/>
          <a:p>
            <a:pPr indent="0" marL="0">
              <a:buNone/>
            </a:pPr>
            <a:r>
              <a:rPr lang="en-US" sz="1300" dirty="0">
                <a:solidFill>
                  <a:srgbClr val="475569"/>
                </a:solidFill>
              </a:rPr>
              <a:t>Two layers, 128 hidden, frozen after training.</a:t>
            </a:r>
            <a:endParaRPr lang="en-US" sz="1300" dirty="0"/>
          </a:p>
        </p:txBody>
      </p:sp>
      <p:sp>
        <p:nvSpPr>
          <p:cNvPr id="27" name="Text 22"/>
          <p:cNvSpPr txBox="1"/>
          <p:nvPr/>
        </p:nvSpPr>
        <p:spPr>
          <a:xfrm>
            <a:off x="5166360" y="4251960"/>
            <a:ext cx="1828800" cy="548640"/>
          </a:xfrm>
          <a:prstGeom prst="rect">
            <a:avLst/>
          </a:prstGeom>
          <a:noFill/>
          <a:ln/>
        </p:spPr>
        <p:txBody>
          <a:bodyPr wrap="square" lIns="0" tIns="0" rIns="0" bIns="0" rtlCol="0" anchor="t"/>
          <a:lstStyle/>
          <a:p>
            <a:pPr indent="0" marL="0">
              <a:buNone/>
            </a:pPr>
            <a:r>
              <a:rPr lang="en-US" sz="2800" b="1" dirty="0">
                <a:solidFill>
                  <a:srgbClr val="6366F1"/>
                </a:solidFill>
                <a:latin typeface="+mj-lt" pitchFamily="34" charset="0"/>
                <a:ea typeface="+mj-lt" pitchFamily="34" charset="-122"/>
                <a:cs typeface="+mj-lt" pitchFamily="34" charset="-120"/>
              </a:rPr>
              <a:t>0.49</a:t>
            </a:r>
            <a:endParaRPr lang="en-US" sz="2800" dirty="0"/>
          </a:p>
        </p:txBody>
      </p:sp>
      <p:sp>
        <p:nvSpPr>
          <p:cNvPr id="28" name="Text 23"/>
          <p:cNvSpPr txBox="1"/>
          <p:nvPr/>
        </p:nvSpPr>
        <p:spPr>
          <a:xfrm>
            <a:off x="5166360" y="4773168"/>
            <a:ext cx="1828800" cy="274320"/>
          </a:xfrm>
          <a:prstGeom prst="rect">
            <a:avLst/>
          </a:prstGeom>
          <a:noFill/>
          <a:ln/>
        </p:spPr>
        <p:txBody>
          <a:bodyPr wrap="square" lIns="0" tIns="0" rIns="0" bIns="0" rtlCol="0" anchor="t"/>
          <a:lstStyle/>
          <a:p>
            <a:pPr indent="0" marL="0">
              <a:buNone/>
            </a:pPr>
            <a:r>
              <a:rPr lang="en-US" sz="1100" dirty="0">
                <a:solidFill>
                  <a:srgbClr val="64748B"/>
                </a:solidFill>
              </a:rPr>
              <a:t>test F1</a:t>
            </a:r>
            <a:endParaRPr lang="en-US" sz="1100" dirty="0"/>
          </a:p>
        </p:txBody>
      </p:sp>
      <p:sp>
        <p:nvSpPr>
          <p:cNvPr id="29" name="model card 4"/>
          <p:cNvSpPr/>
          <p:nvPr/>
        </p:nvSpPr>
        <p:spPr>
          <a:xfrm>
            <a:off x="7269480" y="1417320"/>
            <a:ext cx="2103120" cy="3886200"/>
          </a:xfrm>
          <a:prstGeom prst="roundRect">
            <a:avLst>
              <a:gd name="adj" fmla="val 5217"/>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30" name="Shape 25"/>
          <p:cNvSpPr/>
          <p:nvPr/>
        </p:nvSpPr>
        <p:spPr>
          <a:xfrm>
            <a:off x="7470648" y="1645920"/>
            <a:ext cx="594360" cy="594360"/>
          </a:xfrm>
          <a:prstGeom prst="ellipse">
            <a:avLst/>
          </a:prstGeom>
          <a:solidFill>
            <a:srgbClr val="06B6D4"/>
          </a:solidFill>
          <a:ln w="12700">
            <a:solidFill>
              <a:srgbClr val="06B6D4"/>
            </a:solidFill>
            <a:prstDash val="solid"/>
          </a:ln>
        </p:spPr>
      </p:sp>
      <p:pic>
        <p:nvPicPr>
          <p:cNvPr id="31" name="Image 3" descr="icon">    </p:cNvPr>
          <p:cNvPicPr>
            <a:picLocks noChangeAspect="1"/>
          </p:cNvPicPr>
          <p:nvPr/>
        </p:nvPicPr>
        <p:blipFill>
          <a:blip r:embed="rId4"/>
          <a:stretch>
            <a:fillRect/>
          </a:stretch>
        </p:blipFill>
        <p:spPr>
          <a:xfrm>
            <a:off x="7625182" y="1800454"/>
            <a:ext cx="285293" cy="285293"/>
          </a:xfrm>
          <a:prstGeom prst="rect">
            <a:avLst/>
          </a:prstGeom>
        </p:spPr>
      </p:pic>
      <p:sp>
        <p:nvSpPr>
          <p:cNvPr id="32" name="Text 26"/>
          <p:cNvSpPr txBox="1"/>
          <p:nvPr/>
        </p:nvSpPr>
        <p:spPr>
          <a:xfrm>
            <a:off x="7406640" y="2331720"/>
            <a:ext cx="1828800" cy="274320"/>
          </a:xfrm>
          <a:prstGeom prst="rect">
            <a:avLst/>
          </a:prstGeom>
          <a:noFill/>
          <a:ln/>
        </p:spPr>
        <p:txBody>
          <a:bodyPr wrap="square" lIns="0" tIns="0" rIns="0" bIns="0" rtlCol="0" anchor="t"/>
          <a:lstStyle/>
          <a:p>
            <a:pPr indent="0" marL="0">
              <a:buNone/>
            </a:pPr>
            <a:r>
              <a:rPr lang="en-US" sz="1100" b="1" spc="100" kern="0" dirty="0">
                <a:solidFill>
                  <a:srgbClr val="0891B2"/>
                </a:solidFill>
              </a:rPr>
              <a:t>STUDIED METHOD</a:t>
            </a:r>
            <a:endParaRPr lang="en-US" sz="1100" dirty="0"/>
          </a:p>
        </p:txBody>
      </p:sp>
      <p:sp>
        <p:nvSpPr>
          <p:cNvPr id="33" name="Text 27"/>
          <p:cNvSpPr txBox="1"/>
          <p:nvPr/>
        </p:nvSpPr>
        <p:spPr>
          <a:xfrm>
            <a:off x="7406640" y="2606040"/>
            <a:ext cx="1828800" cy="685800"/>
          </a:xfrm>
          <a:prstGeom prst="rect">
            <a:avLst/>
          </a:prstGeom>
          <a:noFill/>
          <a:ln/>
        </p:spPr>
        <p:txBody>
          <a:bodyPr wrap="square" lIns="0" tIns="0" rIns="0" bIns="0" rtlCol="0" anchor="t"/>
          <a:lstStyle/>
          <a:p>
            <a:pPr indent="0" marL="0">
              <a:buNone/>
            </a:pPr>
            <a:r>
              <a:rPr lang="en-US" sz="1600" b="1" dirty="0">
                <a:solidFill>
                  <a:srgbClr val="0B1220"/>
                </a:solidFill>
              </a:rPr>
              <a:t>Adaptive GraphSAGE</a:t>
            </a:r>
            <a:endParaRPr lang="en-US" sz="1600" dirty="0"/>
          </a:p>
        </p:txBody>
      </p:sp>
      <p:sp>
        <p:nvSpPr>
          <p:cNvPr id="34" name="Text 28"/>
          <p:cNvSpPr txBox="1"/>
          <p:nvPr/>
        </p:nvSpPr>
        <p:spPr>
          <a:xfrm>
            <a:off x="7406640" y="3291840"/>
            <a:ext cx="1828800" cy="914400"/>
          </a:xfrm>
          <a:prstGeom prst="rect">
            <a:avLst/>
          </a:prstGeom>
          <a:noFill/>
          <a:ln/>
        </p:spPr>
        <p:txBody>
          <a:bodyPr wrap="square" lIns="0" tIns="0" rIns="0" bIns="0" rtlCol="0" anchor="t"/>
          <a:lstStyle/>
          <a:p>
            <a:pPr indent="0" marL="0">
              <a:buNone/>
            </a:pPr>
            <a:r>
              <a:rPr lang="en-US" sz="1300" dirty="0">
                <a:solidFill>
                  <a:srgbClr val="475569"/>
                </a:solidFill>
              </a:rPr>
              <a:t>Same weights plus online fine-tuning on revealed labels.</a:t>
            </a:r>
            <a:endParaRPr lang="en-US" sz="1300" dirty="0"/>
          </a:p>
        </p:txBody>
      </p:sp>
      <p:sp>
        <p:nvSpPr>
          <p:cNvPr id="35" name="Text 29"/>
          <p:cNvSpPr txBox="1"/>
          <p:nvPr/>
        </p:nvSpPr>
        <p:spPr>
          <a:xfrm>
            <a:off x="7406640" y="4251960"/>
            <a:ext cx="1828800" cy="548640"/>
          </a:xfrm>
          <a:prstGeom prst="rect">
            <a:avLst/>
          </a:prstGeom>
          <a:noFill/>
          <a:ln/>
        </p:spPr>
        <p:txBody>
          <a:bodyPr wrap="square" lIns="0" tIns="0" rIns="0" bIns="0" rtlCol="0" anchor="t"/>
          <a:lstStyle/>
          <a:p>
            <a:pPr indent="0" marL="0">
              <a:buNone/>
            </a:pPr>
            <a:r>
              <a:rPr lang="en-US" sz="2800" b="1" dirty="0">
                <a:solidFill>
                  <a:srgbClr val="0891B2"/>
                </a:solidFill>
                <a:latin typeface="+mj-lt" pitchFamily="34" charset="0"/>
                <a:ea typeface="+mj-lt" pitchFamily="34" charset="-122"/>
                <a:cs typeface="+mj-lt" pitchFamily="34" charset="-120"/>
              </a:rPr>
              <a:t>0.57</a:t>
            </a:r>
            <a:endParaRPr lang="en-US" sz="2800" dirty="0"/>
          </a:p>
        </p:txBody>
      </p:sp>
      <p:sp>
        <p:nvSpPr>
          <p:cNvPr id="36" name="Text 30"/>
          <p:cNvSpPr txBox="1"/>
          <p:nvPr/>
        </p:nvSpPr>
        <p:spPr>
          <a:xfrm>
            <a:off x="7406640" y="4773168"/>
            <a:ext cx="1828800" cy="274320"/>
          </a:xfrm>
          <a:prstGeom prst="rect">
            <a:avLst/>
          </a:prstGeom>
          <a:noFill/>
          <a:ln/>
        </p:spPr>
        <p:txBody>
          <a:bodyPr wrap="square" lIns="0" tIns="0" rIns="0" bIns="0" rtlCol="0" anchor="t"/>
          <a:lstStyle/>
          <a:p>
            <a:pPr indent="0" marL="0">
              <a:buNone/>
            </a:pPr>
            <a:r>
              <a:rPr lang="en-US" sz="1100" dirty="0">
                <a:solidFill>
                  <a:srgbClr val="64748B"/>
                </a:solidFill>
              </a:rPr>
              <a:t>test F1</a:t>
            </a:r>
            <a:endParaRPr lang="en-US" sz="1100" dirty="0"/>
          </a:p>
        </p:txBody>
      </p:sp>
      <p:sp>
        <p:nvSpPr>
          <p:cNvPr id="37" name="model card 5"/>
          <p:cNvSpPr/>
          <p:nvPr/>
        </p:nvSpPr>
        <p:spPr>
          <a:xfrm>
            <a:off x="9509760" y="1417320"/>
            <a:ext cx="2103120" cy="3886200"/>
          </a:xfrm>
          <a:prstGeom prst="roundRect">
            <a:avLst>
              <a:gd name="adj" fmla="val 5217"/>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38" name="Shape 32"/>
          <p:cNvSpPr/>
          <p:nvPr/>
        </p:nvSpPr>
        <p:spPr>
          <a:xfrm>
            <a:off x="9710928" y="1645920"/>
            <a:ext cx="594360" cy="594360"/>
          </a:xfrm>
          <a:prstGeom prst="ellipse">
            <a:avLst/>
          </a:prstGeom>
          <a:solidFill>
            <a:srgbClr val="F43F5E"/>
          </a:solidFill>
          <a:ln w="12700">
            <a:solidFill>
              <a:srgbClr val="F43F5E"/>
            </a:solidFill>
            <a:prstDash val="solid"/>
          </a:ln>
        </p:spPr>
      </p:sp>
      <p:pic>
        <p:nvPicPr>
          <p:cNvPr id="39" name="Image 4" descr="icon">    </p:cNvPr>
          <p:cNvPicPr>
            <a:picLocks noChangeAspect="1"/>
          </p:cNvPicPr>
          <p:nvPr/>
        </p:nvPicPr>
        <p:blipFill>
          <a:blip r:embed="rId5"/>
          <a:stretch>
            <a:fillRect/>
          </a:stretch>
        </p:blipFill>
        <p:spPr>
          <a:xfrm>
            <a:off x="9865462" y="1800454"/>
            <a:ext cx="285293" cy="285293"/>
          </a:xfrm>
          <a:prstGeom prst="rect">
            <a:avLst/>
          </a:prstGeom>
        </p:spPr>
      </p:pic>
      <p:sp>
        <p:nvSpPr>
          <p:cNvPr id="40" name="Text 33"/>
          <p:cNvSpPr txBox="1"/>
          <p:nvPr/>
        </p:nvSpPr>
        <p:spPr>
          <a:xfrm>
            <a:off x="9646920" y="2331720"/>
            <a:ext cx="1828800" cy="274320"/>
          </a:xfrm>
          <a:prstGeom prst="rect">
            <a:avLst/>
          </a:prstGeom>
          <a:noFill/>
          <a:ln/>
        </p:spPr>
        <p:txBody>
          <a:bodyPr wrap="square" lIns="0" tIns="0" rIns="0" bIns="0" rtlCol="0" anchor="t"/>
          <a:lstStyle/>
          <a:p>
            <a:pPr indent="0" marL="0">
              <a:buNone/>
            </a:pPr>
            <a:r>
              <a:rPr lang="en-US" sz="1100" b="1" spc="100" kern="0" dirty="0">
                <a:solidFill>
                  <a:srgbClr val="F43F5E"/>
                </a:solidFill>
              </a:rPr>
              <a:t>CONTEXT</a:t>
            </a:r>
            <a:endParaRPr lang="en-US" sz="1100" dirty="0"/>
          </a:p>
        </p:txBody>
      </p:sp>
      <p:sp>
        <p:nvSpPr>
          <p:cNvPr id="41" name="Text 34"/>
          <p:cNvSpPr txBox="1"/>
          <p:nvPr/>
        </p:nvSpPr>
        <p:spPr>
          <a:xfrm>
            <a:off x="9646920" y="2606040"/>
            <a:ext cx="1828800" cy="685800"/>
          </a:xfrm>
          <a:prstGeom prst="rect">
            <a:avLst/>
          </a:prstGeom>
          <a:noFill/>
          <a:ln/>
        </p:spPr>
        <p:txBody>
          <a:bodyPr wrap="square" lIns="0" tIns="0" rIns="0" bIns="0" rtlCol="0" anchor="t"/>
          <a:lstStyle/>
          <a:p>
            <a:pPr indent="0" marL="0">
              <a:buNone/>
            </a:pPr>
            <a:r>
              <a:rPr lang="en-US" sz="1600" b="1" dirty="0">
                <a:solidFill>
                  <a:srgbClr val="0B1220"/>
                </a:solidFill>
              </a:rPr>
              <a:t>Static / Adaptive HGB</a:t>
            </a:r>
            <a:endParaRPr lang="en-US" sz="1600" dirty="0"/>
          </a:p>
        </p:txBody>
      </p:sp>
      <p:sp>
        <p:nvSpPr>
          <p:cNvPr id="42" name="Text 35"/>
          <p:cNvSpPr txBox="1"/>
          <p:nvPr/>
        </p:nvSpPr>
        <p:spPr>
          <a:xfrm>
            <a:off x="9646920" y="3291840"/>
            <a:ext cx="1828800" cy="914400"/>
          </a:xfrm>
          <a:prstGeom prst="rect">
            <a:avLst/>
          </a:prstGeom>
          <a:noFill/>
          <a:ln/>
        </p:spPr>
        <p:txBody>
          <a:bodyPr wrap="square" lIns="0" tIns="0" rIns="0" bIns="0" rtlCol="0" anchor="t"/>
          <a:lstStyle/>
          <a:p>
            <a:pPr indent="0" marL="0">
              <a:buNone/>
            </a:pPr>
            <a:r>
              <a:rPr lang="en-US" sz="1300" dirty="0">
                <a:solidFill>
                  <a:srgbClr val="475569"/>
                </a:solidFill>
              </a:rPr>
              <a:t>Gradient-boosted trees, with and without warm-start updates.</a:t>
            </a:r>
            <a:endParaRPr lang="en-US" sz="1300" dirty="0"/>
          </a:p>
        </p:txBody>
      </p:sp>
      <p:sp>
        <p:nvSpPr>
          <p:cNvPr id="43" name="Text 36"/>
          <p:cNvSpPr txBox="1"/>
          <p:nvPr/>
        </p:nvSpPr>
        <p:spPr>
          <a:xfrm>
            <a:off x="9646920" y="4251960"/>
            <a:ext cx="1828800" cy="548640"/>
          </a:xfrm>
          <a:prstGeom prst="rect">
            <a:avLst/>
          </a:prstGeom>
          <a:noFill/>
          <a:ln/>
        </p:spPr>
        <p:txBody>
          <a:bodyPr wrap="square" lIns="0" tIns="0" rIns="0" bIns="0" rtlCol="0" anchor="t"/>
          <a:lstStyle/>
          <a:p>
            <a:pPr indent="0" marL="0">
              <a:buNone/>
            </a:pPr>
            <a:r>
              <a:rPr lang="en-US" sz="2000" b="1" dirty="0">
                <a:solidFill>
                  <a:srgbClr val="F43F5E"/>
                </a:solidFill>
                <a:latin typeface="+mj-lt" pitchFamily="34" charset="0"/>
                <a:ea typeface="+mj-lt" pitchFamily="34" charset="-122"/>
                <a:cs typeface="+mj-lt" pitchFamily="34" charset="-120"/>
              </a:rPr>
              <a:t>0.79 → 0.47</a:t>
            </a:r>
            <a:endParaRPr lang="en-US" sz="2000" dirty="0"/>
          </a:p>
        </p:txBody>
      </p:sp>
      <p:sp>
        <p:nvSpPr>
          <p:cNvPr id="44" name="Text 37"/>
          <p:cNvSpPr txBox="1"/>
          <p:nvPr/>
        </p:nvSpPr>
        <p:spPr>
          <a:xfrm>
            <a:off x="9646920" y="4773168"/>
            <a:ext cx="1828800" cy="274320"/>
          </a:xfrm>
          <a:prstGeom prst="rect">
            <a:avLst/>
          </a:prstGeom>
          <a:noFill/>
          <a:ln/>
        </p:spPr>
        <p:txBody>
          <a:bodyPr wrap="square" lIns="0" tIns="0" rIns="0" bIns="0" rtlCol="0" anchor="t"/>
          <a:lstStyle/>
          <a:p>
            <a:pPr indent="0" marL="0">
              <a:buNone/>
            </a:pPr>
            <a:r>
              <a:rPr lang="en-US" sz="1100" dirty="0">
                <a:solidFill>
                  <a:srgbClr val="64748B"/>
                </a:solidFill>
              </a:rPr>
              <a:t>test F1</a:t>
            </a:r>
            <a:endParaRPr lang="en-US" sz="1100" dirty="0"/>
          </a:p>
        </p:txBody>
      </p:sp>
      <p:sp>
        <p:nvSpPr>
          <p:cNvPr id="45" name="diagnostics note"/>
          <p:cNvSpPr/>
          <p:nvPr/>
        </p:nvSpPr>
        <p:spPr>
          <a:xfrm>
            <a:off x="548640" y="5532120"/>
            <a:ext cx="11091672" cy="685800"/>
          </a:xfrm>
          <a:prstGeom prst="roundRect">
            <a:avLst>
              <a:gd name="adj" fmla="val 16000"/>
            </a:avLst>
          </a:prstGeom>
          <a:solidFill>
            <a:srgbClr val="FFFFFF"/>
          </a:solidFill>
          <a:ln w="12700">
            <a:solidFill>
              <a:srgbClr val="CBD5E1"/>
            </a:solidFill>
            <a:prstDash val="solid"/>
          </a:ln>
        </p:spPr>
      </p:sp>
      <p:sp>
        <p:nvSpPr>
          <p:cNvPr id="46" name="Text 39"/>
          <p:cNvSpPr txBox="1"/>
          <p:nvPr/>
        </p:nvSpPr>
        <p:spPr>
          <a:xfrm>
            <a:off x="777240" y="5532120"/>
            <a:ext cx="10698480" cy="685800"/>
          </a:xfrm>
          <a:prstGeom prst="rect">
            <a:avLst/>
          </a:prstGeom>
          <a:noFill/>
          <a:ln/>
        </p:spPr>
        <p:txBody>
          <a:bodyPr wrap="square" lIns="0" tIns="0" rIns="0" bIns="0" rtlCol="0" anchor="ctr"/>
          <a:lstStyle/>
          <a:p>
            <a:pPr indent="0" marL="0">
              <a:buNone/>
            </a:pPr>
            <a:r>
              <a:rPr lang="en-US" sz="1400" dirty="0">
                <a:solidFill>
                  <a:srgbClr val="475569"/>
                </a:solidFill>
              </a:rPr>
              <a:t>Diagnostics only, not finalists: GCN, MLP control, direction-aware GraphSAGE, engineered graph features, graph-score smoothing.</a:t>
            </a:r>
            <a:endParaRPr lang="en-US" sz="1400" dirty="0"/>
          </a:p>
        </p:txBody>
      </p:sp>
      <p:sp>
        <p:nvSpPr>
          <p:cNvPr id="25" name="Slide Number Placeholder 0"/>
          <p:cNvSpPr>
            <a:spLocks noGrp="1"/>
          </p:cNvSpPr>
          <p:nvPr>
            <p:ph type="sldNum" sz="quarter" idx="4294967295"/>
          </p:nvPr>
        </p:nvSpPr>
        <p:spPr>
          <a:xfrm>
            <a:off x="1115568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784080" cy="868680"/>
          </a:xfrm>
          <a:prstGeom prst="rect">
            <a:avLst/>
          </a:prstGeom>
          <a:noFill/>
          <a:ln/>
        </p:spPr>
        <p:txBody>
          <a:bodyPr wrap="square" lIns="0" tIns="0" rIns="0" bIns="0" rtlCol="0" anchor="ctr"/>
          <a:lstStyle/>
          <a:p>
            <a:pPr algn="l" indent="0" marL="0">
              <a:buNone/>
            </a:pPr>
            <a:r>
              <a:rPr lang="en-US" sz="3200" b="1" dirty="0">
                <a:solidFill>
                  <a:srgbClr val="0B1220"/>
                </a:solidFill>
                <a:latin typeface="Cambria" pitchFamily="34" charset="0"/>
                <a:ea typeface="Cambria" pitchFamily="34" charset="-122"/>
                <a:cs typeface="Cambria" pitchFamily="34" charset="-120"/>
              </a:rPr>
              <a:t>Trees lead; adaptation lifts GraphSAGE</a:t>
            </a:r>
            <a:endParaRPr lang="en-US" sz="3200" dirty="0"/>
          </a:p>
        </p:txBody>
      </p:sp>
      <p:sp>
        <p:nvSpPr>
          <p:cNvPr id="3" name="Shape 1"/>
          <p:cNvSpPr/>
          <p:nvPr/>
        </p:nvSpPr>
        <p:spPr>
          <a:xfrm>
            <a:off x="10561320" y="475488"/>
            <a:ext cx="1097280" cy="329184"/>
          </a:xfrm>
          <a:prstGeom prst="roundRect">
            <a:avLst>
              <a:gd name="adj" fmla="val 50000"/>
            </a:avLst>
          </a:prstGeom>
          <a:solidFill>
            <a:srgbClr val="14213D"/>
          </a:solidFill>
          <a:ln w="12700">
            <a:solidFill>
              <a:srgbClr val="14213D"/>
            </a:solidFill>
            <a:prstDash val="solid"/>
          </a:ln>
        </p:spPr>
      </p:sp>
      <p:sp>
        <p:nvSpPr>
          <p:cNvPr id="4" name="Text 2"/>
          <p:cNvSpPr txBox="1"/>
          <p:nvPr/>
        </p:nvSpPr>
        <p:spPr>
          <a:xfrm>
            <a:off x="10561320" y="475488"/>
            <a:ext cx="1097280" cy="329184"/>
          </a:xfrm>
          <a:prstGeom prst="rect">
            <a:avLst/>
          </a:prstGeom>
          <a:noFill/>
          <a:ln/>
        </p:spPr>
        <p:txBody>
          <a:bodyPr wrap="square" lIns="0" tIns="0" rIns="0" bIns="0" rtlCol="0" anchor="ctr"/>
          <a:lstStyle/>
          <a:p>
            <a:pPr algn="ctr" indent="0" marL="0">
              <a:buNone/>
            </a:pPr>
            <a:r>
              <a:rPr lang="en-US" sz="1100" b="1" dirty="0">
                <a:solidFill>
                  <a:srgbClr val="FFFFFF"/>
                </a:solidFill>
              </a:rPr>
              <a:t>Speaker C</a:t>
            </a:r>
            <a:endParaRPr lang="en-US" sz="1100" dirty="0"/>
          </a:p>
        </p:txBody>
      </p:sp>
      <p:sp>
        <p:nvSpPr>
          <p:cNvPr id="5" name="results chart card"/>
          <p:cNvSpPr/>
          <p:nvPr/>
        </p:nvSpPr>
        <p:spPr>
          <a:xfrm>
            <a:off x="548640" y="1371600"/>
            <a:ext cx="7680960" cy="4434840"/>
          </a:xfrm>
          <a:prstGeom prst="roundRect">
            <a:avLst>
              <a:gd name="adj" fmla="val 2474"/>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graphicFrame>
        <p:nvGraphicFramePr>
          <p:cNvPr id="6" name="Chart 0" descr=""/>
          <p:cNvGraphicFramePr/>
          <p:nvPr/>
        </p:nvGraphicFramePr>
        <p:xfrm>
          <a:off x="685800" y="1508760"/>
          <a:ext cx="7406640" cy="4251960"/>
        </p:xfrm>
        <a:graphic xmlns:a="http://schemas.openxmlformats.org/drawingml/2006/main">
          <a:graphicData uri="http://schemas.openxmlformats.org/drawingml/2006/chart">
            <c:chart xmlns:c="http://schemas.openxmlformats.org/drawingml/2006/chart" r:id="rId1"/>
          </a:graphicData>
        </a:graphic>
      </p:graphicFrame>
      <p:sp>
        <p:nvSpPr>
          <p:cNvPr id="7" name="takeaway 1"/>
          <p:cNvSpPr/>
          <p:nvPr/>
        </p:nvSpPr>
        <p:spPr>
          <a:xfrm>
            <a:off x="8458200" y="1371600"/>
            <a:ext cx="3182112"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8" name="Shape 5"/>
          <p:cNvSpPr/>
          <p:nvPr/>
        </p:nvSpPr>
        <p:spPr>
          <a:xfrm>
            <a:off x="8659368" y="1554480"/>
            <a:ext cx="182880" cy="182880"/>
          </a:xfrm>
          <a:prstGeom prst="ellipse">
            <a:avLst/>
          </a:prstGeom>
          <a:solidFill>
            <a:srgbClr val="10B981"/>
          </a:solidFill>
          <a:ln w="12700">
            <a:solidFill>
              <a:srgbClr val="10B981"/>
            </a:solidFill>
            <a:prstDash val="solid"/>
          </a:ln>
        </p:spPr>
      </p:sp>
      <p:sp>
        <p:nvSpPr>
          <p:cNvPr id="9" name="Text 6"/>
          <p:cNvSpPr txBox="1"/>
          <p:nvPr/>
        </p:nvSpPr>
        <p:spPr>
          <a:xfrm>
            <a:off x="8933688" y="1463040"/>
            <a:ext cx="2651760" cy="365760"/>
          </a:xfrm>
          <a:prstGeom prst="rect">
            <a:avLst/>
          </a:prstGeom>
          <a:noFill/>
          <a:ln/>
        </p:spPr>
        <p:txBody>
          <a:bodyPr wrap="square" lIns="0" tIns="0" rIns="0" bIns="0" rtlCol="0" anchor="t"/>
          <a:lstStyle/>
          <a:p>
            <a:pPr indent="0" marL="0">
              <a:buNone/>
            </a:pPr>
            <a:r>
              <a:rPr lang="en-US" sz="1600" b="1" dirty="0">
                <a:solidFill>
                  <a:srgbClr val="10B981"/>
                </a:solidFill>
              </a:rPr>
              <a:t>Trees lead</a:t>
            </a:r>
            <a:endParaRPr lang="en-US" sz="1600" dirty="0"/>
          </a:p>
        </p:txBody>
      </p:sp>
      <p:sp>
        <p:nvSpPr>
          <p:cNvPr id="10" name="Text 7"/>
          <p:cNvSpPr txBox="1"/>
          <p:nvPr/>
        </p:nvSpPr>
        <p:spPr>
          <a:xfrm>
            <a:off x="8659368" y="1874520"/>
            <a:ext cx="2834640" cy="868680"/>
          </a:xfrm>
          <a:prstGeom prst="rect">
            <a:avLst/>
          </a:prstGeom>
          <a:noFill/>
          <a:ln/>
        </p:spPr>
        <p:txBody>
          <a:bodyPr wrap="square" lIns="0" tIns="0" rIns="0" bIns="0" rtlCol="0" anchor="t"/>
          <a:lstStyle/>
          <a:p>
            <a:pPr indent="0" marL="0">
              <a:buNone/>
            </a:pPr>
            <a:r>
              <a:rPr lang="en-US" sz="1300" dirty="0">
                <a:solidFill>
                  <a:srgbClr val="475569"/>
                </a:solidFill>
              </a:rPr>
              <a:t>Random Forest 0.790 and Static HGB 0.787 beat every graph model.</a:t>
            </a:r>
            <a:endParaRPr lang="en-US" sz="1300" dirty="0"/>
          </a:p>
        </p:txBody>
      </p:sp>
      <p:sp>
        <p:nvSpPr>
          <p:cNvPr id="11" name="takeaway 2"/>
          <p:cNvSpPr/>
          <p:nvPr/>
        </p:nvSpPr>
        <p:spPr>
          <a:xfrm>
            <a:off x="8458200" y="2926080"/>
            <a:ext cx="3182112"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12" name="Shape 9"/>
          <p:cNvSpPr/>
          <p:nvPr/>
        </p:nvSpPr>
        <p:spPr>
          <a:xfrm>
            <a:off x="8659368" y="3108960"/>
            <a:ext cx="182880" cy="182880"/>
          </a:xfrm>
          <a:prstGeom prst="ellipse">
            <a:avLst/>
          </a:prstGeom>
          <a:solidFill>
            <a:srgbClr val="0891B2"/>
          </a:solidFill>
          <a:ln w="12700">
            <a:solidFill>
              <a:srgbClr val="0891B2"/>
            </a:solidFill>
            <a:prstDash val="solid"/>
          </a:ln>
        </p:spPr>
      </p:sp>
      <p:sp>
        <p:nvSpPr>
          <p:cNvPr id="13" name="Text 10"/>
          <p:cNvSpPr txBox="1"/>
          <p:nvPr/>
        </p:nvSpPr>
        <p:spPr>
          <a:xfrm>
            <a:off x="8933688" y="3017520"/>
            <a:ext cx="2651760" cy="365760"/>
          </a:xfrm>
          <a:prstGeom prst="rect">
            <a:avLst/>
          </a:prstGeom>
          <a:noFill/>
          <a:ln/>
        </p:spPr>
        <p:txBody>
          <a:bodyPr wrap="square" lIns="0" tIns="0" rIns="0" bIns="0" rtlCol="0" anchor="t"/>
          <a:lstStyle/>
          <a:p>
            <a:pPr indent="0" marL="0">
              <a:buNone/>
            </a:pPr>
            <a:r>
              <a:rPr lang="en-US" sz="1600" b="1" dirty="0">
                <a:solidFill>
                  <a:srgbClr val="0891B2"/>
                </a:solidFill>
              </a:rPr>
              <a:t>Adaptation helps</a:t>
            </a:r>
            <a:endParaRPr lang="en-US" sz="1600" dirty="0"/>
          </a:p>
        </p:txBody>
      </p:sp>
      <p:sp>
        <p:nvSpPr>
          <p:cNvPr id="14" name="Text 11"/>
          <p:cNvSpPr txBox="1"/>
          <p:nvPr/>
        </p:nvSpPr>
        <p:spPr>
          <a:xfrm>
            <a:off x="8659368" y="3429000"/>
            <a:ext cx="2834640" cy="868680"/>
          </a:xfrm>
          <a:prstGeom prst="rect">
            <a:avLst/>
          </a:prstGeom>
          <a:noFill/>
          <a:ln/>
        </p:spPr>
        <p:txBody>
          <a:bodyPr wrap="square" lIns="0" tIns="0" rIns="0" bIns="0" rtlCol="0" anchor="t"/>
          <a:lstStyle/>
          <a:p>
            <a:pPr indent="0" marL="0">
              <a:buNone/>
            </a:pPr>
            <a:r>
              <a:rPr lang="en-US" sz="1300" dirty="0">
                <a:solidFill>
                  <a:srgbClr val="475569"/>
                </a:solidFill>
              </a:rPr>
              <a:t>Adaptive GraphSAGE 0.566 vs static 0.494, with PR-AUC 0.553 vs 0.462.</a:t>
            </a:r>
            <a:endParaRPr lang="en-US" sz="1300" dirty="0"/>
          </a:p>
        </p:txBody>
      </p:sp>
      <p:sp>
        <p:nvSpPr>
          <p:cNvPr id="15" name="takeaway 3"/>
          <p:cNvSpPr/>
          <p:nvPr/>
        </p:nvSpPr>
        <p:spPr>
          <a:xfrm>
            <a:off x="8458200" y="4480560"/>
            <a:ext cx="3182112"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16" name="Shape 13"/>
          <p:cNvSpPr/>
          <p:nvPr/>
        </p:nvSpPr>
        <p:spPr>
          <a:xfrm>
            <a:off x="8659368" y="4663440"/>
            <a:ext cx="182880" cy="182880"/>
          </a:xfrm>
          <a:prstGeom prst="ellipse">
            <a:avLst/>
          </a:prstGeom>
          <a:solidFill>
            <a:srgbClr val="F43F5E"/>
          </a:solidFill>
          <a:ln w="12700">
            <a:solidFill>
              <a:srgbClr val="F43F5E"/>
            </a:solidFill>
            <a:prstDash val="solid"/>
          </a:ln>
        </p:spPr>
      </p:sp>
      <p:sp>
        <p:nvSpPr>
          <p:cNvPr id="17" name="Text 14"/>
          <p:cNvSpPr txBox="1"/>
          <p:nvPr/>
        </p:nvSpPr>
        <p:spPr>
          <a:xfrm>
            <a:off x="8933688" y="4572000"/>
            <a:ext cx="2651760" cy="365760"/>
          </a:xfrm>
          <a:prstGeom prst="rect">
            <a:avLst/>
          </a:prstGeom>
          <a:noFill/>
          <a:ln/>
        </p:spPr>
        <p:txBody>
          <a:bodyPr wrap="square" lIns="0" tIns="0" rIns="0" bIns="0" rtlCol="0" anchor="t"/>
          <a:lstStyle/>
          <a:p>
            <a:pPr indent="0" marL="0">
              <a:buNone/>
            </a:pPr>
            <a:r>
              <a:rPr lang="en-US" sz="1600" b="1" dirty="0">
                <a:solidFill>
                  <a:srgbClr val="F43F5E"/>
                </a:solidFill>
              </a:rPr>
              <a:t>Adaptation can hurt</a:t>
            </a:r>
            <a:endParaRPr lang="en-US" sz="1600" dirty="0"/>
          </a:p>
        </p:txBody>
      </p:sp>
      <p:sp>
        <p:nvSpPr>
          <p:cNvPr id="18" name="Text 15"/>
          <p:cNvSpPr txBox="1"/>
          <p:nvPr/>
        </p:nvSpPr>
        <p:spPr>
          <a:xfrm>
            <a:off x="8659368" y="4983480"/>
            <a:ext cx="2834640" cy="868680"/>
          </a:xfrm>
          <a:prstGeom prst="rect">
            <a:avLst/>
          </a:prstGeom>
          <a:noFill/>
          <a:ln/>
        </p:spPr>
        <p:txBody>
          <a:bodyPr wrap="square" lIns="0" tIns="0" rIns="0" bIns="0" rtlCol="0" anchor="t"/>
          <a:lstStyle/>
          <a:p>
            <a:pPr indent="0" marL="0">
              <a:buNone/>
            </a:pPr>
            <a:r>
              <a:rPr lang="en-US" sz="1300" dirty="0">
                <a:solidFill>
                  <a:srgbClr val="475569"/>
                </a:solidFill>
              </a:rPr>
              <a:t>Adaptive HGB falls to 0.469 with PR-AUC 0.205.</a:t>
            </a:r>
            <a:endParaRPr lang="en-US" sz="1300" dirty="0"/>
          </a:p>
        </p:txBody>
      </p:sp>
      <p:sp>
        <p:nvSpPr>
          <p:cNvPr id="19" name="Text 16"/>
          <p:cNvSpPr txBox="1"/>
          <p:nvPr/>
        </p:nvSpPr>
        <p:spPr>
          <a:xfrm>
            <a:off x="548640" y="5943600"/>
            <a:ext cx="11064240" cy="365760"/>
          </a:xfrm>
          <a:prstGeom prst="rect">
            <a:avLst/>
          </a:prstGeom>
          <a:noFill/>
          <a:ln/>
        </p:spPr>
        <p:txBody>
          <a:bodyPr wrap="square" lIns="0" tIns="0" rIns="0" bIns="0" rtlCol="0" anchor="t"/>
          <a:lstStyle/>
          <a:p>
            <a:pPr indent="0" marL="0">
              <a:buNone/>
            </a:pPr>
            <a:r>
              <a:rPr lang="en-US" sz="1200" dirty="0">
                <a:solidFill>
                  <a:srgbClr val="64748B"/>
                </a:solidFill>
              </a:rPr>
              <a:t>5-seed means except Logistic Regression and Random Forest (single runs). Thresholds frozen on validation. Adaptive results assume a simulated one-step label delay.</a:t>
            </a:r>
            <a:endParaRPr lang="en-US" sz="1200" dirty="0"/>
          </a:p>
        </p:txBody>
      </p:sp>
      <p:sp>
        <p:nvSpPr>
          <p:cNvPr id="25" name="Slide Number Placeholder 0"/>
          <p:cNvSpPr>
            <a:spLocks noGrp="1"/>
          </p:cNvSpPr>
          <p:nvPr>
            <p:ph type="sldNum" sz="quarter" idx="4294967295"/>
          </p:nvPr>
        </p:nvSpPr>
        <p:spPr>
          <a:xfrm>
            <a:off x="1115568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784080" cy="868680"/>
          </a:xfrm>
          <a:prstGeom prst="rect">
            <a:avLst/>
          </a:prstGeom>
          <a:noFill/>
          <a:ln/>
        </p:spPr>
        <p:txBody>
          <a:bodyPr wrap="square" lIns="0" tIns="0" rIns="0" bIns="0" rtlCol="0" anchor="ctr"/>
          <a:lstStyle/>
          <a:p>
            <a:pPr algn="l" indent="0" marL="0">
              <a:buNone/>
            </a:pPr>
            <a:r>
              <a:rPr lang="en-US" sz="3200" b="1" dirty="0">
                <a:solidFill>
                  <a:srgbClr val="0B1220"/>
                </a:solidFill>
                <a:latin typeface="Cambria" pitchFamily="34" charset="0"/>
                <a:ea typeface="Cambria" pitchFamily="34" charset="-122"/>
                <a:cs typeface="Cambria" pitchFamily="34" charset="-120"/>
              </a:rPr>
              <a:t>Adaptation helped GraphSAGE in 5 of 5 seeds</a:t>
            </a:r>
            <a:endParaRPr lang="en-US" sz="3200" dirty="0"/>
          </a:p>
        </p:txBody>
      </p:sp>
      <p:sp>
        <p:nvSpPr>
          <p:cNvPr id="3" name="Shape 1"/>
          <p:cNvSpPr/>
          <p:nvPr/>
        </p:nvSpPr>
        <p:spPr>
          <a:xfrm>
            <a:off x="10561320" y="475488"/>
            <a:ext cx="1097280" cy="329184"/>
          </a:xfrm>
          <a:prstGeom prst="roundRect">
            <a:avLst>
              <a:gd name="adj" fmla="val 50000"/>
            </a:avLst>
          </a:prstGeom>
          <a:solidFill>
            <a:srgbClr val="14213D"/>
          </a:solidFill>
          <a:ln w="12700">
            <a:solidFill>
              <a:srgbClr val="14213D"/>
            </a:solidFill>
            <a:prstDash val="solid"/>
          </a:ln>
        </p:spPr>
      </p:sp>
      <p:sp>
        <p:nvSpPr>
          <p:cNvPr id="4" name="Text 2"/>
          <p:cNvSpPr txBox="1"/>
          <p:nvPr/>
        </p:nvSpPr>
        <p:spPr>
          <a:xfrm>
            <a:off x="10561320" y="475488"/>
            <a:ext cx="1097280" cy="329184"/>
          </a:xfrm>
          <a:prstGeom prst="rect">
            <a:avLst/>
          </a:prstGeom>
          <a:noFill/>
          <a:ln/>
        </p:spPr>
        <p:txBody>
          <a:bodyPr wrap="square" lIns="0" tIns="0" rIns="0" bIns="0" rtlCol="0" anchor="ctr"/>
          <a:lstStyle/>
          <a:p>
            <a:pPr algn="ctr" indent="0" marL="0">
              <a:buNone/>
            </a:pPr>
            <a:r>
              <a:rPr lang="en-US" sz="1100" b="1" dirty="0">
                <a:solidFill>
                  <a:srgbClr val="FFFFFF"/>
                </a:solidFill>
              </a:rPr>
              <a:t>Speaker C</a:t>
            </a:r>
            <a:endParaRPr lang="en-US" sz="1100" dirty="0"/>
          </a:p>
        </p:txBody>
      </p:sp>
      <p:sp>
        <p:nvSpPr>
          <p:cNvPr id="5" name="seed chart card"/>
          <p:cNvSpPr/>
          <p:nvPr/>
        </p:nvSpPr>
        <p:spPr>
          <a:xfrm>
            <a:off x="548640" y="1371600"/>
            <a:ext cx="7223760" cy="4434840"/>
          </a:xfrm>
          <a:prstGeom prst="roundRect">
            <a:avLst>
              <a:gd name="adj" fmla="val 2474"/>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graphicFrame>
        <p:nvGraphicFramePr>
          <p:cNvPr id="6" name="Chart 0" descr=""/>
          <p:cNvGraphicFramePr/>
          <p:nvPr/>
        </p:nvGraphicFramePr>
        <p:xfrm>
          <a:off x="685800" y="1508760"/>
          <a:ext cx="6949440" cy="4251960"/>
        </p:xfrm>
        <a:graphic xmlns:a="http://schemas.openxmlformats.org/drawingml/2006/main">
          <a:graphicData uri="http://schemas.openxmlformats.org/drawingml/2006/chart">
            <c:chart xmlns:c="http://schemas.openxmlformats.org/drawingml/2006/chart" r:id="rId1"/>
          </a:graphicData>
        </a:graphic>
      </p:graphicFrame>
      <p:sp>
        <p:nvSpPr>
          <p:cNvPr id="7" name="seed stat 1"/>
          <p:cNvSpPr/>
          <p:nvPr/>
        </p:nvSpPr>
        <p:spPr>
          <a:xfrm>
            <a:off x="8046720" y="1371600"/>
            <a:ext cx="3593592"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8" name="Text 5"/>
          <p:cNvSpPr txBox="1"/>
          <p:nvPr/>
        </p:nvSpPr>
        <p:spPr>
          <a:xfrm>
            <a:off x="8275320" y="1508760"/>
            <a:ext cx="2011680" cy="731520"/>
          </a:xfrm>
          <a:prstGeom prst="rect">
            <a:avLst/>
          </a:prstGeom>
          <a:noFill/>
          <a:ln/>
        </p:spPr>
        <p:txBody>
          <a:bodyPr wrap="square" lIns="0" tIns="0" rIns="0" bIns="0" rtlCol="0" anchor="t"/>
          <a:lstStyle/>
          <a:p>
            <a:pPr indent="0" marL="0">
              <a:buNone/>
            </a:pPr>
            <a:r>
              <a:rPr lang="en-US" sz="3800" b="1" dirty="0">
                <a:solidFill>
                  <a:srgbClr val="0891B2"/>
                </a:solidFill>
                <a:latin typeface="+mj-lt" pitchFamily="34" charset="0"/>
                <a:ea typeface="+mj-lt" pitchFamily="34" charset="-122"/>
                <a:cs typeface="+mj-lt" pitchFamily="34" charset="-120"/>
              </a:rPr>
              <a:t>+0.072</a:t>
            </a:r>
            <a:endParaRPr lang="en-US" sz="3800" dirty="0"/>
          </a:p>
        </p:txBody>
      </p:sp>
      <p:sp>
        <p:nvSpPr>
          <p:cNvPr id="9" name="Text 6"/>
          <p:cNvSpPr txBox="1"/>
          <p:nvPr/>
        </p:nvSpPr>
        <p:spPr>
          <a:xfrm>
            <a:off x="8275320" y="2240280"/>
            <a:ext cx="3200400" cy="274320"/>
          </a:xfrm>
          <a:prstGeom prst="rect">
            <a:avLst/>
          </a:prstGeom>
          <a:noFill/>
          <a:ln/>
        </p:spPr>
        <p:txBody>
          <a:bodyPr wrap="square" lIns="0" tIns="0" rIns="0" bIns="0" rtlCol="0" anchor="t"/>
          <a:lstStyle/>
          <a:p>
            <a:pPr indent="0" marL="0">
              <a:buNone/>
            </a:pPr>
            <a:r>
              <a:rPr lang="en-US" sz="1400" b="1" dirty="0">
                <a:solidFill>
                  <a:srgbClr val="0B1220"/>
                </a:solidFill>
              </a:rPr>
              <a:t>mean F1 gain</a:t>
            </a:r>
            <a:endParaRPr lang="en-US" sz="1400" dirty="0"/>
          </a:p>
        </p:txBody>
      </p:sp>
      <p:sp>
        <p:nvSpPr>
          <p:cNvPr id="10" name="Text 7"/>
          <p:cNvSpPr txBox="1"/>
          <p:nvPr/>
        </p:nvSpPr>
        <p:spPr>
          <a:xfrm>
            <a:off x="8275320" y="2496312"/>
            <a:ext cx="3200400" cy="256032"/>
          </a:xfrm>
          <a:prstGeom prst="rect">
            <a:avLst/>
          </a:prstGeom>
          <a:noFill/>
          <a:ln/>
        </p:spPr>
        <p:txBody>
          <a:bodyPr wrap="square" lIns="0" tIns="0" rIns="0" bIns="0" rtlCol="0" anchor="t"/>
          <a:lstStyle/>
          <a:p>
            <a:pPr indent="0" marL="0">
              <a:buNone/>
            </a:pPr>
            <a:r>
              <a:rPr lang="en-US" sz="1200" dirty="0">
                <a:solidFill>
                  <a:srgbClr val="64748B"/>
                </a:solidFill>
              </a:rPr>
              <a:t>0.494 → 0.566</a:t>
            </a:r>
            <a:endParaRPr lang="en-US" sz="1200" dirty="0"/>
          </a:p>
        </p:txBody>
      </p:sp>
      <p:sp>
        <p:nvSpPr>
          <p:cNvPr id="11" name="seed stat 2"/>
          <p:cNvSpPr/>
          <p:nvPr/>
        </p:nvSpPr>
        <p:spPr>
          <a:xfrm>
            <a:off x="8046720" y="2926080"/>
            <a:ext cx="3593592"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12" name="Text 9"/>
          <p:cNvSpPr txBox="1"/>
          <p:nvPr/>
        </p:nvSpPr>
        <p:spPr>
          <a:xfrm>
            <a:off x="8275320" y="3063240"/>
            <a:ext cx="2011680" cy="731520"/>
          </a:xfrm>
          <a:prstGeom prst="rect">
            <a:avLst/>
          </a:prstGeom>
          <a:noFill/>
          <a:ln/>
        </p:spPr>
        <p:txBody>
          <a:bodyPr wrap="square" lIns="0" tIns="0" rIns="0" bIns="0" rtlCol="0" anchor="t"/>
          <a:lstStyle/>
          <a:p>
            <a:pPr indent="0" marL="0">
              <a:buNone/>
            </a:pPr>
            <a:r>
              <a:rPr lang="en-US" sz="3800" b="1" dirty="0">
                <a:solidFill>
                  <a:srgbClr val="10B981"/>
                </a:solidFill>
                <a:latin typeface="+mj-lt" pitchFamily="34" charset="0"/>
                <a:ea typeface="+mj-lt" pitchFamily="34" charset="-122"/>
                <a:cs typeface="+mj-lt" pitchFamily="34" charset="-120"/>
              </a:rPr>
              <a:t>5 / 5</a:t>
            </a:r>
            <a:endParaRPr lang="en-US" sz="3800" dirty="0"/>
          </a:p>
        </p:txBody>
      </p:sp>
      <p:sp>
        <p:nvSpPr>
          <p:cNvPr id="13" name="Text 10"/>
          <p:cNvSpPr txBox="1"/>
          <p:nvPr/>
        </p:nvSpPr>
        <p:spPr>
          <a:xfrm>
            <a:off x="8275320" y="3794760"/>
            <a:ext cx="3200400" cy="274320"/>
          </a:xfrm>
          <a:prstGeom prst="rect">
            <a:avLst/>
          </a:prstGeom>
          <a:noFill/>
          <a:ln/>
        </p:spPr>
        <p:txBody>
          <a:bodyPr wrap="square" lIns="0" tIns="0" rIns="0" bIns="0" rtlCol="0" anchor="t"/>
          <a:lstStyle/>
          <a:p>
            <a:pPr indent="0" marL="0">
              <a:buNone/>
            </a:pPr>
            <a:r>
              <a:rPr lang="en-US" sz="1400" b="1" dirty="0">
                <a:solidFill>
                  <a:srgbClr val="0B1220"/>
                </a:solidFill>
              </a:rPr>
              <a:t>seeds improved</a:t>
            </a:r>
            <a:endParaRPr lang="en-US" sz="1400" dirty="0"/>
          </a:p>
        </p:txBody>
      </p:sp>
      <p:sp>
        <p:nvSpPr>
          <p:cNvPr id="14" name="Text 11"/>
          <p:cNvSpPr txBox="1"/>
          <p:nvPr/>
        </p:nvSpPr>
        <p:spPr>
          <a:xfrm>
            <a:off x="8275320" y="4050792"/>
            <a:ext cx="3200400" cy="256032"/>
          </a:xfrm>
          <a:prstGeom prst="rect">
            <a:avLst/>
          </a:prstGeom>
          <a:noFill/>
          <a:ln/>
        </p:spPr>
        <p:txBody>
          <a:bodyPr wrap="square" lIns="0" tIns="0" rIns="0" bIns="0" rtlCol="0" anchor="t"/>
          <a:lstStyle/>
          <a:p>
            <a:pPr indent="0" marL="0">
              <a:buNone/>
            </a:pPr>
            <a:r>
              <a:rPr lang="en-US" sz="1200" dirty="0">
                <a:solidFill>
                  <a:srgbClr val="64748B"/>
                </a:solidFill>
              </a:rPr>
              <a:t>F1 and PR-AUC</a:t>
            </a:r>
            <a:endParaRPr lang="en-US" sz="1200" dirty="0"/>
          </a:p>
        </p:txBody>
      </p:sp>
      <p:sp>
        <p:nvSpPr>
          <p:cNvPr id="15" name="seed stat 3"/>
          <p:cNvSpPr/>
          <p:nvPr/>
        </p:nvSpPr>
        <p:spPr>
          <a:xfrm>
            <a:off x="8046720" y="4480560"/>
            <a:ext cx="3593592"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16" name="Text 13"/>
          <p:cNvSpPr txBox="1"/>
          <p:nvPr/>
        </p:nvSpPr>
        <p:spPr>
          <a:xfrm>
            <a:off x="8275320" y="4617720"/>
            <a:ext cx="2011680" cy="731520"/>
          </a:xfrm>
          <a:prstGeom prst="rect">
            <a:avLst/>
          </a:prstGeom>
          <a:noFill/>
          <a:ln/>
        </p:spPr>
        <p:txBody>
          <a:bodyPr wrap="square" lIns="0" tIns="0" rIns="0" bIns="0" rtlCol="0" anchor="t"/>
          <a:lstStyle/>
          <a:p>
            <a:pPr indent="0" marL="0">
              <a:buNone/>
            </a:pPr>
            <a:r>
              <a:rPr lang="en-US" sz="3800" b="1" dirty="0">
                <a:solidFill>
                  <a:srgbClr val="6366F1"/>
                </a:solidFill>
                <a:latin typeface="+mj-lt" pitchFamily="34" charset="0"/>
                <a:ea typeface="+mj-lt" pitchFamily="34" charset="-122"/>
                <a:cs typeface="+mj-lt" pitchFamily="34" charset="-120"/>
              </a:rPr>
              <a:t>±0.025</a:t>
            </a:r>
            <a:endParaRPr lang="en-US" sz="3800" dirty="0"/>
          </a:p>
        </p:txBody>
      </p:sp>
      <p:sp>
        <p:nvSpPr>
          <p:cNvPr id="17" name="Text 14"/>
          <p:cNvSpPr txBox="1"/>
          <p:nvPr/>
        </p:nvSpPr>
        <p:spPr>
          <a:xfrm>
            <a:off x="8275320" y="5349240"/>
            <a:ext cx="3200400" cy="274320"/>
          </a:xfrm>
          <a:prstGeom prst="rect">
            <a:avLst/>
          </a:prstGeom>
          <a:noFill/>
          <a:ln/>
        </p:spPr>
        <p:txBody>
          <a:bodyPr wrap="square" lIns="0" tIns="0" rIns="0" bIns="0" rtlCol="0" anchor="t"/>
          <a:lstStyle/>
          <a:p>
            <a:pPr indent="0" marL="0">
              <a:buNone/>
            </a:pPr>
            <a:r>
              <a:rPr lang="en-US" sz="1400" b="1" dirty="0">
                <a:solidFill>
                  <a:srgbClr val="0B1220"/>
                </a:solidFill>
              </a:rPr>
              <a:t>adaptive spread</a:t>
            </a:r>
            <a:endParaRPr lang="en-US" sz="1400" dirty="0"/>
          </a:p>
        </p:txBody>
      </p:sp>
      <p:sp>
        <p:nvSpPr>
          <p:cNvPr id="18" name="Text 15"/>
          <p:cNvSpPr txBox="1"/>
          <p:nvPr/>
        </p:nvSpPr>
        <p:spPr>
          <a:xfrm>
            <a:off x="8275320" y="5605272"/>
            <a:ext cx="3200400" cy="256032"/>
          </a:xfrm>
          <a:prstGeom prst="rect">
            <a:avLst/>
          </a:prstGeom>
          <a:noFill/>
          <a:ln/>
        </p:spPr>
        <p:txBody>
          <a:bodyPr wrap="square" lIns="0" tIns="0" rIns="0" bIns="0" rtlCol="0" anchor="t"/>
          <a:lstStyle/>
          <a:p>
            <a:pPr indent="0" marL="0">
              <a:buNone/>
            </a:pPr>
            <a:r>
              <a:rPr lang="en-US" sz="1200" dirty="0">
                <a:solidFill>
                  <a:srgbClr val="64748B"/>
                </a:solidFill>
              </a:rPr>
              <a:t>static ±0.042</a:t>
            </a:r>
            <a:endParaRPr lang="en-US" sz="1200" dirty="0"/>
          </a:p>
        </p:txBody>
      </p:sp>
      <p:sp>
        <p:nvSpPr>
          <p:cNvPr id="19" name="Text 16"/>
          <p:cNvSpPr txBox="1"/>
          <p:nvPr/>
        </p:nvSpPr>
        <p:spPr>
          <a:xfrm>
            <a:off x="548640" y="5943600"/>
            <a:ext cx="11064240" cy="365760"/>
          </a:xfrm>
          <a:prstGeom prst="rect">
            <a:avLst/>
          </a:prstGeom>
          <a:noFill/>
          <a:ln/>
        </p:spPr>
        <p:txBody>
          <a:bodyPr wrap="square" lIns="0" tIns="0" rIns="0" bIns="0" rtlCol="0" anchor="t"/>
          <a:lstStyle/>
          <a:p>
            <a:pPr indent="0" marL="0">
              <a:buNone/>
            </a:pPr>
            <a:r>
              <a:rPr lang="en-US" sz="1200" dirty="0">
                <a:solidFill>
                  <a:srgbClr val="64748B"/>
                </a:solidFill>
              </a:rPr>
              <a:t>Five seeds show direction and spread, not significance. A three-step feedback delay gives F1 0.534 for the seed-42 reference (vs 0.562 at one step).</a:t>
            </a:r>
            <a:endParaRPr lang="en-US" sz="1200" dirty="0"/>
          </a:p>
        </p:txBody>
      </p:sp>
      <p:sp>
        <p:nvSpPr>
          <p:cNvPr id="25" name="Slide Number Placeholder 0"/>
          <p:cNvSpPr>
            <a:spLocks noGrp="1"/>
          </p:cNvSpPr>
          <p:nvPr>
            <p:ph type="sldNum" sz="quarter" idx="4294967295"/>
          </p:nvPr>
        </p:nvSpPr>
        <p:spPr>
          <a:xfrm>
            <a:off x="1115568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784080" cy="868680"/>
          </a:xfrm>
          <a:prstGeom prst="rect">
            <a:avLst/>
          </a:prstGeom>
          <a:noFill/>
          <a:ln/>
        </p:spPr>
        <p:txBody>
          <a:bodyPr wrap="square" lIns="0" tIns="0" rIns="0" bIns="0" rtlCol="0" anchor="ctr"/>
          <a:lstStyle/>
          <a:p>
            <a:pPr algn="l" indent="0" marL="0">
              <a:buNone/>
            </a:pPr>
            <a:r>
              <a:rPr lang="en-US" sz="3200" b="1" dirty="0">
                <a:solidFill>
                  <a:srgbClr val="0B1220"/>
                </a:solidFill>
                <a:latin typeface="Cambria" pitchFamily="34" charset="0"/>
                <a:ea typeface="Cambria" pitchFamily="34" charset="-122"/>
                <a:cs typeface="Cambria" pitchFamily="34" charset="-120"/>
              </a:rPr>
              <a:t>The gain sits in t = 35–42, then fades</a:t>
            </a:r>
            <a:endParaRPr lang="en-US" sz="3200" dirty="0"/>
          </a:p>
        </p:txBody>
      </p:sp>
      <p:sp>
        <p:nvSpPr>
          <p:cNvPr id="3" name="Shape 1"/>
          <p:cNvSpPr/>
          <p:nvPr/>
        </p:nvSpPr>
        <p:spPr>
          <a:xfrm>
            <a:off x="10561320" y="475488"/>
            <a:ext cx="1097280" cy="329184"/>
          </a:xfrm>
          <a:prstGeom prst="roundRect">
            <a:avLst>
              <a:gd name="adj" fmla="val 50000"/>
            </a:avLst>
          </a:prstGeom>
          <a:solidFill>
            <a:srgbClr val="14213D"/>
          </a:solidFill>
          <a:ln w="12700">
            <a:solidFill>
              <a:srgbClr val="14213D"/>
            </a:solidFill>
            <a:prstDash val="solid"/>
          </a:ln>
        </p:spPr>
      </p:sp>
      <p:sp>
        <p:nvSpPr>
          <p:cNvPr id="4" name="Text 2"/>
          <p:cNvSpPr txBox="1"/>
          <p:nvPr/>
        </p:nvSpPr>
        <p:spPr>
          <a:xfrm>
            <a:off x="10561320" y="475488"/>
            <a:ext cx="1097280" cy="329184"/>
          </a:xfrm>
          <a:prstGeom prst="rect">
            <a:avLst/>
          </a:prstGeom>
          <a:noFill/>
          <a:ln/>
        </p:spPr>
        <p:txBody>
          <a:bodyPr wrap="square" lIns="0" tIns="0" rIns="0" bIns="0" rtlCol="0" anchor="ctr"/>
          <a:lstStyle/>
          <a:p>
            <a:pPr algn="ctr" indent="0" marL="0">
              <a:buNone/>
            </a:pPr>
            <a:r>
              <a:rPr lang="en-US" sz="1100" b="1" dirty="0">
                <a:solidFill>
                  <a:srgbClr val="FFFFFF"/>
                </a:solidFill>
              </a:rPr>
              <a:t>Speaker C</a:t>
            </a:r>
            <a:endParaRPr lang="en-US" sz="1100" dirty="0"/>
          </a:p>
        </p:txBody>
      </p:sp>
      <p:sp>
        <p:nvSpPr>
          <p:cNvPr id="5" name="step chart card"/>
          <p:cNvSpPr/>
          <p:nvPr/>
        </p:nvSpPr>
        <p:spPr>
          <a:xfrm>
            <a:off x="548640" y="1371600"/>
            <a:ext cx="7863840" cy="4434840"/>
          </a:xfrm>
          <a:prstGeom prst="roundRect">
            <a:avLst>
              <a:gd name="adj" fmla="val 2474"/>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graphicFrame>
        <p:nvGraphicFramePr>
          <p:cNvPr id="6" name="Chart 0" descr=""/>
          <p:cNvGraphicFramePr/>
          <p:nvPr/>
        </p:nvGraphicFramePr>
        <p:xfrm>
          <a:off x="685800" y="1508760"/>
          <a:ext cx="7589520" cy="4251960"/>
        </p:xfrm>
        <a:graphic xmlns:a="http://schemas.openxmlformats.org/drawingml/2006/main">
          <a:graphicData uri="http://schemas.openxmlformats.org/drawingml/2006/chart">
            <c:chart xmlns:c="http://schemas.openxmlformats.org/drawingml/2006/chart" r:id="rId1"/>
          </a:graphicData>
        </a:graphic>
      </p:graphicFrame>
      <p:sp>
        <p:nvSpPr>
          <p:cNvPr id="7" name="step stat 1"/>
          <p:cNvSpPr/>
          <p:nvPr/>
        </p:nvSpPr>
        <p:spPr>
          <a:xfrm>
            <a:off x="8686800" y="1371600"/>
            <a:ext cx="2953512" cy="1463040"/>
          </a:xfrm>
          <a:prstGeom prst="roundRect">
            <a:avLst>
              <a:gd name="adj" fmla="val 7500"/>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8" name="Text 5"/>
          <p:cNvSpPr txBox="1"/>
          <p:nvPr/>
        </p:nvSpPr>
        <p:spPr>
          <a:xfrm>
            <a:off x="8869680" y="1481328"/>
            <a:ext cx="2651760" cy="594360"/>
          </a:xfrm>
          <a:prstGeom prst="rect">
            <a:avLst/>
          </a:prstGeom>
          <a:noFill/>
          <a:ln/>
        </p:spPr>
        <p:txBody>
          <a:bodyPr wrap="square" lIns="0" tIns="0" rIns="0" bIns="0" rtlCol="0" anchor="t"/>
          <a:lstStyle/>
          <a:p>
            <a:pPr indent="0" marL="0">
              <a:buNone/>
            </a:pPr>
            <a:r>
              <a:rPr lang="en-US" sz="3200" b="1" dirty="0">
                <a:solidFill>
                  <a:srgbClr val="0891B2"/>
                </a:solidFill>
                <a:latin typeface="+mj-lt" pitchFamily="34" charset="0"/>
                <a:ea typeface="+mj-lt" pitchFamily="34" charset="-122"/>
                <a:cs typeface="+mj-lt" pitchFamily="34" charset="-120"/>
              </a:rPr>
              <a:t>+0.066</a:t>
            </a:r>
            <a:endParaRPr lang="en-US" sz="3200" dirty="0"/>
          </a:p>
        </p:txBody>
      </p:sp>
      <p:sp>
        <p:nvSpPr>
          <p:cNvPr id="9" name="Text 6"/>
          <p:cNvSpPr txBox="1"/>
          <p:nvPr/>
        </p:nvSpPr>
        <p:spPr>
          <a:xfrm>
            <a:off x="8869680" y="2103120"/>
            <a:ext cx="2651760" cy="713232"/>
          </a:xfrm>
          <a:prstGeom prst="rect">
            <a:avLst/>
          </a:prstGeom>
          <a:noFill/>
          <a:ln/>
        </p:spPr>
        <p:txBody>
          <a:bodyPr wrap="square" lIns="0" tIns="0" rIns="0" bIns="0" rtlCol="0" anchor="t"/>
          <a:lstStyle/>
          <a:p>
            <a:pPr indent="0" marL="0">
              <a:buNone/>
            </a:pPr>
            <a:r>
              <a:rPr lang="en-US" sz="1300" dirty="0">
                <a:solidFill>
                  <a:srgbClr val="475569"/>
                </a:solidFill>
              </a:rPr>
              <a:t>mean per-step F1 gain of adaptive over static, t = 35–42</a:t>
            </a:r>
            <a:endParaRPr lang="en-US" sz="1300" dirty="0"/>
          </a:p>
        </p:txBody>
      </p:sp>
      <p:sp>
        <p:nvSpPr>
          <p:cNvPr id="10" name="step stat 2"/>
          <p:cNvSpPr/>
          <p:nvPr/>
        </p:nvSpPr>
        <p:spPr>
          <a:xfrm>
            <a:off x="8686800" y="2971800"/>
            <a:ext cx="2953512" cy="1463040"/>
          </a:xfrm>
          <a:prstGeom prst="roundRect">
            <a:avLst>
              <a:gd name="adj" fmla="val 7500"/>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11" name="Text 8"/>
          <p:cNvSpPr txBox="1"/>
          <p:nvPr/>
        </p:nvSpPr>
        <p:spPr>
          <a:xfrm>
            <a:off x="8869680" y="3081528"/>
            <a:ext cx="2651760" cy="594360"/>
          </a:xfrm>
          <a:prstGeom prst="rect">
            <a:avLst/>
          </a:prstGeom>
          <a:noFill/>
          <a:ln/>
        </p:spPr>
        <p:txBody>
          <a:bodyPr wrap="square" lIns="0" tIns="0" rIns="0" bIns="0" rtlCol="0" anchor="t"/>
          <a:lstStyle/>
          <a:p>
            <a:pPr indent="0" marL="0">
              <a:buNone/>
            </a:pPr>
            <a:r>
              <a:rPr lang="en-US" sz="3200" b="1" dirty="0">
                <a:solidFill>
                  <a:srgbClr val="F43F5E"/>
                </a:solidFill>
                <a:latin typeface="+mj-lt" pitchFamily="34" charset="0"/>
                <a:ea typeface="+mj-lt" pitchFamily="34" charset="-122"/>
                <a:cs typeface="+mj-lt" pitchFamily="34" charset="-120"/>
              </a:rPr>
              <a:t>−0.002</a:t>
            </a:r>
            <a:endParaRPr lang="en-US" sz="3200" dirty="0"/>
          </a:p>
        </p:txBody>
      </p:sp>
      <p:sp>
        <p:nvSpPr>
          <p:cNvPr id="12" name="Text 9"/>
          <p:cNvSpPr txBox="1"/>
          <p:nvPr/>
        </p:nvSpPr>
        <p:spPr>
          <a:xfrm>
            <a:off x="8869680" y="3703320"/>
            <a:ext cx="2651760" cy="713232"/>
          </a:xfrm>
          <a:prstGeom prst="rect">
            <a:avLst/>
          </a:prstGeom>
          <a:noFill/>
          <a:ln/>
        </p:spPr>
        <p:txBody>
          <a:bodyPr wrap="square" lIns="0" tIns="0" rIns="0" bIns="0" rtlCol="0" anchor="t"/>
          <a:lstStyle/>
          <a:p>
            <a:pPr indent="0" marL="0">
              <a:buNone/>
            </a:pPr>
            <a:r>
              <a:rPr lang="en-US" sz="1300" dirty="0">
                <a:solidFill>
                  <a:srgbClr val="475569"/>
                </a:solidFill>
              </a:rPr>
              <a:t>the same gain in t = 43–49, where every model scores near zero</a:t>
            </a:r>
            <a:endParaRPr lang="en-US" sz="1300" dirty="0"/>
          </a:p>
        </p:txBody>
      </p:sp>
      <p:sp>
        <p:nvSpPr>
          <p:cNvPr id="13" name="step caveat"/>
          <p:cNvSpPr/>
          <p:nvPr/>
        </p:nvSpPr>
        <p:spPr>
          <a:xfrm>
            <a:off x="8686800" y="4572000"/>
            <a:ext cx="2953512" cy="1325880"/>
          </a:xfrm>
          <a:prstGeom prst="roundRect">
            <a:avLst>
              <a:gd name="adj" fmla="val 8276"/>
            </a:avLst>
          </a:prstGeom>
          <a:solidFill>
            <a:srgbClr val="FFFFFF"/>
          </a:solidFill>
          <a:ln w="12700">
            <a:solidFill>
              <a:srgbClr val="CBD5E1"/>
            </a:solidFill>
            <a:prstDash val="solid"/>
          </a:ln>
        </p:spPr>
      </p:sp>
      <p:sp>
        <p:nvSpPr>
          <p:cNvPr id="14" name="Text 11"/>
          <p:cNvSpPr txBox="1"/>
          <p:nvPr/>
        </p:nvSpPr>
        <p:spPr>
          <a:xfrm>
            <a:off x="8823960" y="4617720"/>
            <a:ext cx="2697480" cy="1234440"/>
          </a:xfrm>
          <a:prstGeom prst="rect">
            <a:avLst/>
          </a:prstGeom>
          <a:noFill/>
          <a:ln/>
        </p:spPr>
        <p:txBody>
          <a:bodyPr wrap="square" lIns="0" tIns="0" rIns="0" bIns="0" rtlCol="0" anchor="ctr"/>
          <a:lstStyle/>
          <a:p>
            <a:pPr indent="0" marL="0">
              <a:buNone/>
            </a:pPr>
            <a:r>
              <a:rPr lang="en-US" sz="1300" dirty="0">
                <a:solidFill>
                  <a:srgbClr val="475569"/>
                </a:solidFill>
              </a:rPr>
              <a:t>An observed pattern, not a proven regime boundary. Illicit share is only 0.3–2.6% at t = 43–47.</a:t>
            </a:r>
            <a:endParaRPr lang="en-US" sz="1300" dirty="0"/>
          </a:p>
        </p:txBody>
      </p:sp>
      <p:sp>
        <p:nvSpPr>
          <p:cNvPr id="25" name="Slide Number Placeholder 0"/>
          <p:cNvSpPr>
            <a:spLocks noGrp="1"/>
          </p:cNvSpPr>
          <p:nvPr>
            <p:ph type="sldNum" sz="quarter" idx="4294967295"/>
          </p:nvPr>
        </p:nvSpPr>
        <p:spPr>
          <a:xfrm>
            <a:off x="1115568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784080" cy="868680"/>
          </a:xfrm>
          <a:prstGeom prst="rect">
            <a:avLst/>
          </a:prstGeom>
          <a:noFill/>
          <a:ln/>
        </p:spPr>
        <p:txBody>
          <a:bodyPr wrap="square" lIns="0" tIns="0" rIns="0" bIns="0" rtlCol="0" anchor="ctr"/>
          <a:lstStyle/>
          <a:p>
            <a:pPr algn="l" indent="0" marL="0">
              <a:buNone/>
            </a:pPr>
            <a:r>
              <a:rPr lang="en-US" sz="3200" b="1" dirty="0">
                <a:solidFill>
                  <a:srgbClr val="0B1220"/>
                </a:solidFill>
                <a:latin typeface="Cambria" pitchFamily="34" charset="0"/>
                <a:ea typeface="Cambria" pitchFamily="34" charset="-122"/>
                <a:cs typeface="Cambria" pitchFamily="34" charset="-120"/>
              </a:rPr>
              <a:t>Why trees still win: six diagnostics</a:t>
            </a:r>
            <a:endParaRPr lang="en-US" sz="3200" dirty="0"/>
          </a:p>
        </p:txBody>
      </p:sp>
      <p:sp>
        <p:nvSpPr>
          <p:cNvPr id="3" name="Shape 1"/>
          <p:cNvSpPr/>
          <p:nvPr/>
        </p:nvSpPr>
        <p:spPr>
          <a:xfrm>
            <a:off x="10561320" y="475488"/>
            <a:ext cx="1097280" cy="329184"/>
          </a:xfrm>
          <a:prstGeom prst="roundRect">
            <a:avLst>
              <a:gd name="adj" fmla="val 50000"/>
            </a:avLst>
          </a:prstGeom>
          <a:solidFill>
            <a:srgbClr val="14213D"/>
          </a:solidFill>
          <a:ln w="12700">
            <a:solidFill>
              <a:srgbClr val="14213D"/>
            </a:solidFill>
            <a:prstDash val="solid"/>
          </a:ln>
        </p:spPr>
      </p:sp>
      <p:sp>
        <p:nvSpPr>
          <p:cNvPr id="4" name="Text 2"/>
          <p:cNvSpPr txBox="1"/>
          <p:nvPr/>
        </p:nvSpPr>
        <p:spPr>
          <a:xfrm>
            <a:off x="10561320" y="475488"/>
            <a:ext cx="1097280" cy="329184"/>
          </a:xfrm>
          <a:prstGeom prst="rect">
            <a:avLst/>
          </a:prstGeom>
          <a:noFill/>
          <a:ln/>
        </p:spPr>
        <p:txBody>
          <a:bodyPr wrap="square" lIns="0" tIns="0" rIns="0" bIns="0" rtlCol="0" anchor="ctr"/>
          <a:lstStyle/>
          <a:p>
            <a:pPr algn="ctr" indent="0" marL="0">
              <a:buNone/>
            </a:pPr>
            <a:r>
              <a:rPr lang="en-US" sz="1100" b="1" dirty="0">
                <a:solidFill>
                  <a:srgbClr val="FFFFFF"/>
                </a:solidFill>
              </a:rPr>
              <a:t>Speaker D</a:t>
            </a:r>
            <a:endParaRPr lang="en-US" sz="1100" dirty="0"/>
          </a:p>
        </p:txBody>
      </p:sp>
      <p:sp>
        <p:nvSpPr>
          <p:cNvPr id="5" name="Text 3"/>
          <p:cNvSpPr txBox="1"/>
          <p:nvPr/>
        </p:nvSpPr>
        <p:spPr>
          <a:xfrm>
            <a:off x="777240" y="1325880"/>
            <a:ext cx="2560320" cy="274320"/>
          </a:xfrm>
          <a:prstGeom prst="rect">
            <a:avLst/>
          </a:prstGeom>
          <a:noFill/>
          <a:ln/>
        </p:spPr>
        <p:txBody>
          <a:bodyPr wrap="square" lIns="0" tIns="0" rIns="0" bIns="0" rtlCol="0" anchor="t"/>
          <a:lstStyle/>
          <a:p>
            <a:pPr indent="0" marL="0">
              <a:buNone/>
            </a:pPr>
            <a:r>
              <a:rPr lang="en-US" sz="1100" b="1" spc="200" kern="0" dirty="0">
                <a:solidFill>
                  <a:srgbClr val="64748B"/>
                </a:solidFill>
              </a:rPr>
              <a:t>EXPERIMENT</a:t>
            </a:r>
            <a:endParaRPr lang="en-US" sz="1100" dirty="0"/>
          </a:p>
        </p:txBody>
      </p:sp>
      <p:sp>
        <p:nvSpPr>
          <p:cNvPr id="6" name="Text 4"/>
          <p:cNvSpPr txBox="1"/>
          <p:nvPr/>
        </p:nvSpPr>
        <p:spPr>
          <a:xfrm>
            <a:off x="3566160" y="1325880"/>
            <a:ext cx="5303520" cy="274320"/>
          </a:xfrm>
          <a:prstGeom prst="rect">
            <a:avLst/>
          </a:prstGeom>
          <a:noFill/>
          <a:ln/>
        </p:spPr>
        <p:txBody>
          <a:bodyPr wrap="square" lIns="0" tIns="0" rIns="0" bIns="0" rtlCol="0" anchor="t"/>
          <a:lstStyle/>
          <a:p>
            <a:pPr indent="0" marL="0">
              <a:buNone/>
            </a:pPr>
            <a:r>
              <a:rPr lang="en-US" sz="1100" b="1" spc="200" kern="0" dirty="0">
                <a:solidFill>
                  <a:srgbClr val="64748B"/>
                </a:solidFill>
              </a:rPr>
              <a:t>WHAT WE TRIED  (rolling-origin validation PR-AUC)</a:t>
            </a:r>
            <a:endParaRPr lang="en-US" sz="1100" dirty="0"/>
          </a:p>
        </p:txBody>
      </p:sp>
      <p:sp>
        <p:nvSpPr>
          <p:cNvPr id="7" name="Text 5"/>
          <p:cNvSpPr txBox="1"/>
          <p:nvPr/>
        </p:nvSpPr>
        <p:spPr>
          <a:xfrm>
            <a:off x="9326880" y="1325880"/>
            <a:ext cx="2286000" cy="274320"/>
          </a:xfrm>
          <a:prstGeom prst="rect">
            <a:avLst/>
          </a:prstGeom>
          <a:noFill/>
          <a:ln/>
        </p:spPr>
        <p:txBody>
          <a:bodyPr wrap="square" lIns="0" tIns="0" rIns="0" bIns="0" rtlCol="0" anchor="t"/>
          <a:lstStyle/>
          <a:p>
            <a:pPr indent="0" marL="0">
              <a:buNone/>
            </a:pPr>
            <a:r>
              <a:rPr lang="en-US" sz="1100" b="1" spc="200" kern="0" dirty="0">
                <a:solidFill>
                  <a:srgbClr val="64748B"/>
                </a:solidFill>
              </a:rPr>
              <a:t>OUTCOME</a:t>
            </a:r>
            <a:endParaRPr lang="en-US" sz="1100" dirty="0"/>
          </a:p>
        </p:txBody>
      </p:sp>
      <p:sp>
        <p:nvSpPr>
          <p:cNvPr id="8" name="diagnostic row 1"/>
          <p:cNvSpPr/>
          <p:nvPr/>
        </p:nvSpPr>
        <p:spPr>
          <a:xfrm>
            <a:off x="548640" y="1645920"/>
            <a:ext cx="11091672" cy="530352"/>
          </a:xfrm>
          <a:prstGeom prst="roundRect">
            <a:avLst>
              <a:gd name="adj" fmla="val 20690"/>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9" name="Shape 7"/>
          <p:cNvSpPr/>
          <p:nvPr/>
        </p:nvSpPr>
        <p:spPr>
          <a:xfrm>
            <a:off x="731520" y="1819656"/>
            <a:ext cx="182880" cy="182880"/>
          </a:xfrm>
          <a:prstGeom prst="ellipse">
            <a:avLst/>
          </a:prstGeom>
          <a:solidFill>
            <a:srgbClr val="F59E0B"/>
          </a:solidFill>
          <a:ln w="12700">
            <a:solidFill>
              <a:srgbClr val="F59E0B"/>
            </a:solidFill>
            <a:prstDash val="solid"/>
          </a:ln>
        </p:spPr>
      </p:sp>
      <p:sp>
        <p:nvSpPr>
          <p:cNvPr id="10" name="Text 8"/>
          <p:cNvSpPr txBox="1"/>
          <p:nvPr/>
        </p:nvSpPr>
        <p:spPr>
          <a:xfrm>
            <a:off x="1051560" y="1719072"/>
            <a:ext cx="2468880" cy="384048"/>
          </a:xfrm>
          <a:prstGeom prst="rect">
            <a:avLst/>
          </a:prstGeom>
          <a:noFill/>
          <a:ln/>
        </p:spPr>
        <p:txBody>
          <a:bodyPr wrap="square" lIns="0" tIns="0" rIns="0" bIns="0" rtlCol="0" anchor="ctr"/>
          <a:lstStyle/>
          <a:p>
            <a:pPr indent="0" marL="0">
              <a:buNone/>
            </a:pPr>
            <a:r>
              <a:rPr lang="en-US" sz="1400" b="1" dirty="0">
                <a:solidFill>
                  <a:srgbClr val="0B1220"/>
                </a:solidFill>
              </a:rPr>
              <a:t>E1  MLP control</a:t>
            </a:r>
            <a:endParaRPr lang="en-US" sz="1400" dirty="0"/>
          </a:p>
        </p:txBody>
      </p:sp>
      <p:sp>
        <p:nvSpPr>
          <p:cNvPr id="11" name="Text 9"/>
          <p:cNvSpPr txBox="1"/>
          <p:nvPr/>
        </p:nvSpPr>
        <p:spPr>
          <a:xfrm>
            <a:off x="3566160" y="1719072"/>
            <a:ext cx="5577840" cy="384048"/>
          </a:xfrm>
          <a:prstGeom prst="rect">
            <a:avLst/>
          </a:prstGeom>
          <a:noFill/>
          <a:ln/>
        </p:spPr>
        <p:txBody>
          <a:bodyPr wrap="square" lIns="0" tIns="0" rIns="0" bIns="0" rtlCol="0" anchor="ctr"/>
          <a:lstStyle/>
          <a:p>
            <a:pPr indent="0" marL="0">
              <a:buNone/>
            </a:pPr>
            <a:r>
              <a:rPr lang="en-US" sz="1300" dirty="0">
                <a:solidFill>
                  <a:srgbClr val="475569"/>
                </a:solidFill>
              </a:rPr>
              <a:t>Features only, no graph: 0.865 vs plain GraphSAGE 0.860</a:t>
            </a:r>
            <a:endParaRPr lang="en-US" sz="1300" dirty="0"/>
          </a:p>
        </p:txBody>
      </p:sp>
      <p:sp>
        <p:nvSpPr>
          <p:cNvPr id="12" name="Shape 10"/>
          <p:cNvSpPr/>
          <p:nvPr/>
        </p:nvSpPr>
        <p:spPr>
          <a:xfrm>
            <a:off x="9326880" y="1737360"/>
            <a:ext cx="2148840" cy="347472"/>
          </a:xfrm>
          <a:prstGeom prst="roundRect">
            <a:avLst>
              <a:gd name="adj" fmla="val 50000"/>
            </a:avLst>
          </a:prstGeom>
          <a:solidFill>
            <a:srgbClr val="F59E0B">
              <a:alpha val="18000"/>
            </a:srgbClr>
          </a:solidFill>
          <a:ln w="12700">
            <a:solidFill>
              <a:srgbClr val="F59E0B"/>
            </a:solidFill>
            <a:prstDash val="solid"/>
          </a:ln>
        </p:spPr>
      </p:sp>
      <p:sp>
        <p:nvSpPr>
          <p:cNvPr id="13" name="Text 11"/>
          <p:cNvSpPr txBox="1"/>
          <p:nvPr/>
        </p:nvSpPr>
        <p:spPr>
          <a:xfrm>
            <a:off x="9326880" y="1737360"/>
            <a:ext cx="2148840" cy="347472"/>
          </a:xfrm>
          <a:prstGeom prst="rect">
            <a:avLst/>
          </a:prstGeom>
          <a:noFill/>
          <a:ln/>
        </p:spPr>
        <p:txBody>
          <a:bodyPr wrap="square" lIns="0" tIns="0" rIns="0" bIns="0" rtlCol="0" anchor="ctr"/>
          <a:lstStyle/>
          <a:p>
            <a:pPr algn="ctr" indent="0" marL="0">
              <a:buNone/>
            </a:pPr>
            <a:r>
              <a:rPr lang="en-US" sz="1200" b="1" dirty="0">
                <a:solidFill>
                  <a:srgbClr val="B45309"/>
                </a:solidFill>
              </a:rPr>
              <a:t>Graph added nothing</a:t>
            </a:r>
            <a:endParaRPr lang="en-US" sz="1200" dirty="0"/>
          </a:p>
        </p:txBody>
      </p:sp>
      <p:sp>
        <p:nvSpPr>
          <p:cNvPr id="14" name="diagnostic row 2"/>
          <p:cNvSpPr/>
          <p:nvPr/>
        </p:nvSpPr>
        <p:spPr>
          <a:xfrm>
            <a:off x="548640" y="2258568"/>
            <a:ext cx="11091672" cy="530352"/>
          </a:xfrm>
          <a:prstGeom prst="roundRect">
            <a:avLst>
              <a:gd name="adj" fmla="val 20690"/>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15" name="Shape 13"/>
          <p:cNvSpPr/>
          <p:nvPr/>
        </p:nvSpPr>
        <p:spPr>
          <a:xfrm>
            <a:off x="731520" y="2432304"/>
            <a:ext cx="182880" cy="182880"/>
          </a:xfrm>
          <a:prstGeom prst="ellipse">
            <a:avLst/>
          </a:prstGeom>
          <a:solidFill>
            <a:srgbClr val="10B981"/>
          </a:solidFill>
          <a:ln w="12700">
            <a:solidFill>
              <a:srgbClr val="10B981"/>
            </a:solidFill>
            <a:prstDash val="solid"/>
          </a:ln>
        </p:spPr>
      </p:sp>
      <p:sp>
        <p:nvSpPr>
          <p:cNvPr id="16" name="Text 14"/>
          <p:cNvSpPr txBox="1"/>
          <p:nvPr/>
        </p:nvSpPr>
        <p:spPr>
          <a:xfrm>
            <a:off x="1051560" y="2331720"/>
            <a:ext cx="2468880" cy="384048"/>
          </a:xfrm>
          <a:prstGeom prst="rect">
            <a:avLst/>
          </a:prstGeom>
          <a:noFill/>
          <a:ln/>
        </p:spPr>
        <p:txBody>
          <a:bodyPr wrap="square" lIns="0" tIns="0" rIns="0" bIns="0" rtlCol="0" anchor="ctr"/>
          <a:lstStyle/>
          <a:p>
            <a:pPr indent="0" marL="0">
              <a:buNone/>
            </a:pPr>
            <a:r>
              <a:rPr lang="en-US" sz="1400" b="1" dirty="0">
                <a:solidFill>
                  <a:srgbClr val="0B1220"/>
                </a:solidFill>
              </a:rPr>
              <a:t>E2  Tree benchmark</a:t>
            </a:r>
            <a:endParaRPr lang="en-US" sz="1400" dirty="0"/>
          </a:p>
        </p:txBody>
      </p:sp>
      <p:sp>
        <p:nvSpPr>
          <p:cNvPr id="17" name="Text 15"/>
          <p:cNvSpPr txBox="1"/>
          <p:nvPr/>
        </p:nvSpPr>
        <p:spPr>
          <a:xfrm>
            <a:off x="3566160" y="2331720"/>
            <a:ext cx="5577840" cy="384048"/>
          </a:xfrm>
          <a:prstGeom prst="rect">
            <a:avLst/>
          </a:prstGeom>
          <a:noFill/>
          <a:ln/>
        </p:spPr>
        <p:txBody>
          <a:bodyPr wrap="square" lIns="0" tIns="0" rIns="0" bIns="0" rtlCol="0" anchor="ctr"/>
          <a:lstStyle/>
          <a:p>
            <a:pPr indent="0" marL="0">
              <a:buNone/>
            </a:pPr>
            <a:r>
              <a:rPr lang="en-US" sz="1300" dirty="0">
                <a:solidFill>
                  <a:srgbClr val="475569"/>
                </a:solidFill>
              </a:rPr>
              <a:t>Random Forest and HGB, 5 seeds × 3 folds: about 0.95</a:t>
            </a:r>
            <a:endParaRPr lang="en-US" sz="1300" dirty="0"/>
          </a:p>
        </p:txBody>
      </p:sp>
      <p:sp>
        <p:nvSpPr>
          <p:cNvPr id="18" name="Shape 16"/>
          <p:cNvSpPr/>
          <p:nvPr/>
        </p:nvSpPr>
        <p:spPr>
          <a:xfrm>
            <a:off x="9326880" y="2350008"/>
            <a:ext cx="2148840" cy="347472"/>
          </a:xfrm>
          <a:prstGeom prst="roundRect">
            <a:avLst>
              <a:gd name="adj" fmla="val 50000"/>
            </a:avLst>
          </a:prstGeom>
          <a:solidFill>
            <a:srgbClr val="10B981">
              <a:alpha val="18000"/>
            </a:srgbClr>
          </a:solidFill>
          <a:ln w="12700">
            <a:solidFill>
              <a:srgbClr val="10B981"/>
            </a:solidFill>
            <a:prstDash val="solid"/>
          </a:ln>
        </p:spPr>
      </p:sp>
      <p:sp>
        <p:nvSpPr>
          <p:cNvPr id="19" name="Text 17"/>
          <p:cNvSpPr txBox="1"/>
          <p:nvPr/>
        </p:nvSpPr>
        <p:spPr>
          <a:xfrm>
            <a:off x="9326880" y="2350008"/>
            <a:ext cx="2148840" cy="347472"/>
          </a:xfrm>
          <a:prstGeom prst="rect">
            <a:avLst/>
          </a:prstGeom>
          <a:noFill/>
          <a:ln/>
        </p:spPr>
        <p:txBody>
          <a:bodyPr wrap="square" lIns="0" tIns="0" rIns="0" bIns="0" rtlCol="0" anchor="ctr"/>
          <a:lstStyle/>
          <a:p>
            <a:pPr algn="ctr" indent="0" marL="0">
              <a:buNone/>
            </a:pPr>
            <a:r>
              <a:rPr lang="en-US" sz="1200" b="1" dirty="0">
                <a:solidFill>
                  <a:srgbClr val="047857"/>
                </a:solidFill>
              </a:rPr>
              <a:t>Trees are strongest</a:t>
            </a:r>
            <a:endParaRPr lang="en-US" sz="1200" dirty="0"/>
          </a:p>
        </p:txBody>
      </p:sp>
      <p:sp>
        <p:nvSpPr>
          <p:cNvPr id="20" name="diagnostic row 3"/>
          <p:cNvSpPr/>
          <p:nvPr/>
        </p:nvSpPr>
        <p:spPr>
          <a:xfrm>
            <a:off x="548640" y="2871216"/>
            <a:ext cx="11091672" cy="530352"/>
          </a:xfrm>
          <a:prstGeom prst="roundRect">
            <a:avLst>
              <a:gd name="adj" fmla="val 20690"/>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21" name="Shape 19"/>
          <p:cNvSpPr/>
          <p:nvPr/>
        </p:nvSpPr>
        <p:spPr>
          <a:xfrm>
            <a:off x="731520" y="3044952"/>
            <a:ext cx="182880" cy="182880"/>
          </a:xfrm>
          <a:prstGeom prst="ellipse">
            <a:avLst/>
          </a:prstGeom>
          <a:solidFill>
            <a:srgbClr val="10B981"/>
          </a:solidFill>
          <a:ln w="12700">
            <a:solidFill>
              <a:srgbClr val="10B981"/>
            </a:solidFill>
            <a:prstDash val="solid"/>
          </a:ln>
        </p:spPr>
      </p:sp>
      <p:sp>
        <p:nvSpPr>
          <p:cNvPr id="22" name="Text 20"/>
          <p:cNvSpPr txBox="1"/>
          <p:nvPr/>
        </p:nvSpPr>
        <p:spPr>
          <a:xfrm>
            <a:off x="1051560" y="2944368"/>
            <a:ext cx="2468880" cy="384048"/>
          </a:xfrm>
          <a:prstGeom prst="rect">
            <a:avLst/>
          </a:prstGeom>
          <a:noFill/>
          <a:ln/>
        </p:spPr>
        <p:txBody>
          <a:bodyPr wrap="square" lIns="0" tIns="0" rIns="0" bIns="0" rtlCol="0" anchor="ctr"/>
          <a:lstStyle/>
          <a:p>
            <a:pPr indent="0" marL="0">
              <a:buNone/>
            </a:pPr>
            <a:r>
              <a:rPr lang="en-US" sz="1400" b="1" dirty="0">
                <a:solidFill>
                  <a:srgbClr val="0B1220"/>
                </a:solidFill>
              </a:rPr>
              <a:t>E3  Direction-aware</a:t>
            </a:r>
            <a:endParaRPr lang="en-US" sz="1400" dirty="0"/>
          </a:p>
        </p:txBody>
      </p:sp>
      <p:sp>
        <p:nvSpPr>
          <p:cNvPr id="23" name="Text 21"/>
          <p:cNvSpPr txBox="1"/>
          <p:nvPr/>
        </p:nvSpPr>
        <p:spPr>
          <a:xfrm>
            <a:off x="3566160" y="2944368"/>
            <a:ext cx="5577840" cy="384048"/>
          </a:xfrm>
          <a:prstGeom prst="rect">
            <a:avLst/>
          </a:prstGeom>
          <a:noFill/>
          <a:ln/>
        </p:spPr>
        <p:txBody>
          <a:bodyPr wrap="square" lIns="0" tIns="0" rIns="0" bIns="0" rtlCol="0" anchor="ctr"/>
          <a:lstStyle/>
          <a:p>
            <a:pPr indent="0" marL="0">
              <a:buNone/>
            </a:pPr>
            <a:r>
              <a:rPr lang="en-US" sz="1300" dirty="0">
                <a:solidFill>
                  <a:srgbClr val="475569"/>
                </a:solidFill>
              </a:rPr>
              <a:t>Separate in/out-edge branches: 0.902 vs 0.860, 3 of 3 folds</a:t>
            </a:r>
            <a:endParaRPr lang="en-US" sz="1300" dirty="0"/>
          </a:p>
        </p:txBody>
      </p:sp>
      <p:sp>
        <p:nvSpPr>
          <p:cNvPr id="24" name="Shape 22"/>
          <p:cNvSpPr/>
          <p:nvPr/>
        </p:nvSpPr>
        <p:spPr>
          <a:xfrm>
            <a:off x="9326880" y="2962656"/>
            <a:ext cx="2148840" cy="347472"/>
          </a:xfrm>
          <a:prstGeom prst="roundRect">
            <a:avLst>
              <a:gd name="adj" fmla="val 50000"/>
            </a:avLst>
          </a:prstGeom>
          <a:solidFill>
            <a:srgbClr val="10B981">
              <a:alpha val="18000"/>
            </a:srgbClr>
          </a:solidFill>
          <a:ln w="12700">
            <a:solidFill>
              <a:srgbClr val="10B981"/>
            </a:solidFill>
            <a:prstDash val="solid"/>
          </a:ln>
        </p:spPr>
      </p:sp>
      <p:sp>
        <p:nvSpPr>
          <p:cNvPr id="25" name="Text 23"/>
          <p:cNvSpPr txBox="1"/>
          <p:nvPr/>
        </p:nvSpPr>
        <p:spPr>
          <a:xfrm>
            <a:off x="9326880" y="2962656"/>
            <a:ext cx="2148840" cy="347472"/>
          </a:xfrm>
          <a:prstGeom prst="rect">
            <a:avLst/>
          </a:prstGeom>
          <a:noFill/>
          <a:ln/>
        </p:spPr>
        <p:txBody>
          <a:bodyPr wrap="square" lIns="0" tIns="0" rIns="0" bIns="0" rtlCol="0" anchor="ctr"/>
          <a:lstStyle/>
          <a:p>
            <a:pPr algn="ctr" indent="0" marL="0">
              <a:buNone/>
            </a:pPr>
            <a:r>
              <a:rPr lang="en-US" sz="1200" b="1" dirty="0">
                <a:solidFill>
                  <a:srgbClr val="047857"/>
                </a:solidFill>
              </a:rPr>
              <a:t>Real gain, val only</a:t>
            </a:r>
            <a:endParaRPr lang="en-US" sz="1200" dirty="0"/>
          </a:p>
        </p:txBody>
      </p:sp>
      <p:sp>
        <p:nvSpPr>
          <p:cNvPr id="26" name="diagnostic row 4"/>
          <p:cNvSpPr/>
          <p:nvPr/>
        </p:nvSpPr>
        <p:spPr>
          <a:xfrm>
            <a:off x="548640" y="3483864"/>
            <a:ext cx="11091672" cy="530352"/>
          </a:xfrm>
          <a:prstGeom prst="roundRect">
            <a:avLst>
              <a:gd name="adj" fmla="val 20690"/>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27" name="Shape 25"/>
          <p:cNvSpPr/>
          <p:nvPr/>
        </p:nvSpPr>
        <p:spPr>
          <a:xfrm>
            <a:off x="731520" y="3657600"/>
            <a:ext cx="182880" cy="182880"/>
          </a:xfrm>
          <a:prstGeom prst="ellipse">
            <a:avLst/>
          </a:prstGeom>
          <a:solidFill>
            <a:srgbClr val="F59E0B"/>
          </a:solidFill>
          <a:ln w="12700">
            <a:solidFill>
              <a:srgbClr val="F59E0B"/>
            </a:solidFill>
            <a:prstDash val="solid"/>
          </a:ln>
        </p:spPr>
      </p:sp>
      <p:sp>
        <p:nvSpPr>
          <p:cNvPr id="28" name="Text 26"/>
          <p:cNvSpPr txBox="1"/>
          <p:nvPr/>
        </p:nvSpPr>
        <p:spPr>
          <a:xfrm>
            <a:off x="1051560" y="3557016"/>
            <a:ext cx="2468880" cy="384048"/>
          </a:xfrm>
          <a:prstGeom prst="rect">
            <a:avLst/>
          </a:prstGeom>
          <a:noFill/>
          <a:ln/>
        </p:spPr>
        <p:txBody>
          <a:bodyPr wrap="square" lIns="0" tIns="0" rIns="0" bIns="0" rtlCol="0" anchor="ctr"/>
          <a:lstStyle/>
          <a:p>
            <a:pPr indent="0" marL="0">
              <a:buNone/>
            </a:pPr>
            <a:r>
              <a:rPr lang="en-US" sz="1400" b="1" dirty="0">
                <a:solidFill>
                  <a:srgbClr val="0B1220"/>
                </a:solidFill>
              </a:rPr>
              <a:t>E5  Graph features</a:t>
            </a:r>
            <a:endParaRPr lang="en-US" sz="1400" dirty="0"/>
          </a:p>
        </p:txBody>
      </p:sp>
      <p:sp>
        <p:nvSpPr>
          <p:cNvPr id="29" name="Text 27"/>
          <p:cNvSpPr txBox="1"/>
          <p:nvPr/>
        </p:nvSpPr>
        <p:spPr>
          <a:xfrm>
            <a:off x="3566160" y="3557016"/>
            <a:ext cx="5577840" cy="384048"/>
          </a:xfrm>
          <a:prstGeom prst="rect">
            <a:avLst/>
          </a:prstGeom>
          <a:noFill/>
          <a:ln/>
        </p:spPr>
        <p:txBody>
          <a:bodyPr wrap="square" lIns="0" tIns="0" rIns="0" bIns="0" rtlCol="0" anchor="ctr"/>
          <a:lstStyle/>
          <a:p>
            <a:pPr indent="0" marL="0">
              <a:buNone/>
            </a:pPr>
            <a:r>
              <a:rPr lang="en-US" sz="1300" dirty="0">
                <a:solidFill>
                  <a:srgbClr val="475569"/>
                </a:solidFill>
              </a:rPr>
              <a:t>334 degree, 2-hop and neighbour-mean features: 0.948 vs 0.950</a:t>
            </a:r>
            <a:endParaRPr lang="en-US" sz="1300" dirty="0"/>
          </a:p>
        </p:txBody>
      </p:sp>
      <p:sp>
        <p:nvSpPr>
          <p:cNvPr id="30" name="Shape 28"/>
          <p:cNvSpPr/>
          <p:nvPr/>
        </p:nvSpPr>
        <p:spPr>
          <a:xfrm>
            <a:off x="9326880" y="3575304"/>
            <a:ext cx="2148840" cy="347472"/>
          </a:xfrm>
          <a:prstGeom prst="roundRect">
            <a:avLst>
              <a:gd name="adj" fmla="val 50000"/>
            </a:avLst>
          </a:prstGeom>
          <a:solidFill>
            <a:srgbClr val="F59E0B">
              <a:alpha val="18000"/>
            </a:srgbClr>
          </a:solidFill>
          <a:ln w="12700">
            <a:solidFill>
              <a:srgbClr val="F59E0B"/>
            </a:solidFill>
            <a:prstDash val="solid"/>
          </a:ln>
        </p:spPr>
      </p:sp>
      <p:sp>
        <p:nvSpPr>
          <p:cNvPr id="31" name="Text 29"/>
          <p:cNvSpPr txBox="1"/>
          <p:nvPr/>
        </p:nvSpPr>
        <p:spPr>
          <a:xfrm>
            <a:off x="9326880" y="3575304"/>
            <a:ext cx="2148840" cy="347472"/>
          </a:xfrm>
          <a:prstGeom prst="rect">
            <a:avLst/>
          </a:prstGeom>
          <a:noFill/>
          <a:ln/>
        </p:spPr>
        <p:txBody>
          <a:bodyPr wrap="square" lIns="0" tIns="0" rIns="0" bIns="0" rtlCol="0" anchor="ctr"/>
          <a:lstStyle/>
          <a:p>
            <a:pPr algn="ctr" indent="0" marL="0">
              <a:buNone/>
            </a:pPr>
            <a:r>
              <a:rPr lang="en-US" sz="1200" b="1" dirty="0">
                <a:solidFill>
                  <a:srgbClr val="B45309"/>
                </a:solidFill>
              </a:rPr>
              <a:t>No gain</a:t>
            </a:r>
            <a:endParaRPr lang="en-US" sz="1200" dirty="0"/>
          </a:p>
        </p:txBody>
      </p:sp>
      <p:sp>
        <p:nvSpPr>
          <p:cNvPr id="32" name="diagnostic row 5"/>
          <p:cNvSpPr/>
          <p:nvPr/>
        </p:nvSpPr>
        <p:spPr>
          <a:xfrm>
            <a:off x="548640" y="4096512"/>
            <a:ext cx="11091672" cy="530352"/>
          </a:xfrm>
          <a:prstGeom prst="roundRect">
            <a:avLst>
              <a:gd name="adj" fmla="val 20690"/>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33" name="Shape 31"/>
          <p:cNvSpPr/>
          <p:nvPr/>
        </p:nvSpPr>
        <p:spPr>
          <a:xfrm>
            <a:off x="731520" y="4270248"/>
            <a:ext cx="182880" cy="182880"/>
          </a:xfrm>
          <a:prstGeom prst="ellipse">
            <a:avLst/>
          </a:prstGeom>
          <a:solidFill>
            <a:srgbClr val="F59E0B"/>
          </a:solidFill>
          <a:ln w="12700">
            <a:solidFill>
              <a:srgbClr val="F59E0B"/>
            </a:solidFill>
            <a:prstDash val="solid"/>
          </a:ln>
        </p:spPr>
      </p:sp>
      <p:sp>
        <p:nvSpPr>
          <p:cNvPr id="34" name="Text 32"/>
          <p:cNvSpPr txBox="1"/>
          <p:nvPr/>
        </p:nvSpPr>
        <p:spPr>
          <a:xfrm>
            <a:off x="1051560" y="4169664"/>
            <a:ext cx="2468880" cy="384048"/>
          </a:xfrm>
          <a:prstGeom prst="rect">
            <a:avLst/>
          </a:prstGeom>
          <a:noFill/>
          <a:ln/>
        </p:spPr>
        <p:txBody>
          <a:bodyPr wrap="square" lIns="0" tIns="0" rIns="0" bIns="0" rtlCol="0" anchor="ctr"/>
          <a:lstStyle/>
          <a:p>
            <a:pPr indent="0" marL="0">
              <a:buNone/>
            </a:pPr>
            <a:r>
              <a:rPr lang="en-US" sz="1400" b="1" dirty="0">
                <a:solidFill>
                  <a:srgbClr val="0B1220"/>
                </a:solidFill>
              </a:rPr>
              <a:t>E7  Score smoothing</a:t>
            </a:r>
            <a:endParaRPr lang="en-US" sz="1400" dirty="0"/>
          </a:p>
        </p:txBody>
      </p:sp>
      <p:sp>
        <p:nvSpPr>
          <p:cNvPr id="35" name="Text 33"/>
          <p:cNvSpPr txBox="1"/>
          <p:nvPr/>
        </p:nvSpPr>
        <p:spPr>
          <a:xfrm>
            <a:off x="3566160" y="4169664"/>
            <a:ext cx="5577840" cy="384048"/>
          </a:xfrm>
          <a:prstGeom prst="rect">
            <a:avLst/>
          </a:prstGeom>
          <a:noFill/>
          <a:ln/>
        </p:spPr>
        <p:txBody>
          <a:bodyPr wrap="square" lIns="0" tIns="0" rIns="0" bIns="0" rtlCol="0" anchor="ctr"/>
          <a:lstStyle/>
          <a:p>
            <a:pPr indent="0" marL="0">
              <a:buNone/>
            </a:pPr>
            <a:r>
              <a:rPr lang="en-US" sz="1300" dirty="0">
                <a:solidFill>
                  <a:srgbClr val="475569"/>
                </a:solidFill>
              </a:rPr>
              <a:t>Blend tree scores with neighbours: best setting was no smoothing</a:t>
            </a:r>
            <a:endParaRPr lang="en-US" sz="1300" dirty="0"/>
          </a:p>
        </p:txBody>
      </p:sp>
      <p:sp>
        <p:nvSpPr>
          <p:cNvPr id="36" name="Shape 34"/>
          <p:cNvSpPr/>
          <p:nvPr/>
        </p:nvSpPr>
        <p:spPr>
          <a:xfrm>
            <a:off x="9326880" y="4187952"/>
            <a:ext cx="2148840" cy="347472"/>
          </a:xfrm>
          <a:prstGeom prst="roundRect">
            <a:avLst>
              <a:gd name="adj" fmla="val 50000"/>
            </a:avLst>
          </a:prstGeom>
          <a:solidFill>
            <a:srgbClr val="F59E0B">
              <a:alpha val="18000"/>
            </a:srgbClr>
          </a:solidFill>
          <a:ln w="12700">
            <a:solidFill>
              <a:srgbClr val="F59E0B"/>
            </a:solidFill>
            <a:prstDash val="solid"/>
          </a:ln>
        </p:spPr>
      </p:sp>
      <p:sp>
        <p:nvSpPr>
          <p:cNvPr id="37" name="Text 35"/>
          <p:cNvSpPr txBox="1"/>
          <p:nvPr/>
        </p:nvSpPr>
        <p:spPr>
          <a:xfrm>
            <a:off x="9326880" y="4187952"/>
            <a:ext cx="2148840" cy="347472"/>
          </a:xfrm>
          <a:prstGeom prst="rect">
            <a:avLst/>
          </a:prstGeom>
          <a:noFill/>
          <a:ln/>
        </p:spPr>
        <p:txBody>
          <a:bodyPr wrap="square" lIns="0" tIns="0" rIns="0" bIns="0" rtlCol="0" anchor="ctr"/>
          <a:lstStyle/>
          <a:p>
            <a:pPr algn="ctr" indent="0" marL="0">
              <a:buNone/>
            </a:pPr>
            <a:r>
              <a:rPr lang="en-US" sz="1200" b="1" dirty="0">
                <a:solidFill>
                  <a:srgbClr val="B45309"/>
                </a:solidFill>
              </a:rPr>
              <a:t>No gain</a:t>
            </a:r>
            <a:endParaRPr lang="en-US" sz="1200" dirty="0"/>
          </a:p>
        </p:txBody>
      </p:sp>
      <p:sp>
        <p:nvSpPr>
          <p:cNvPr id="38" name="diagnostic row 6"/>
          <p:cNvSpPr/>
          <p:nvPr/>
        </p:nvSpPr>
        <p:spPr>
          <a:xfrm>
            <a:off x="548640" y="4709160"/>
            <a:ext cx="11091672" cy="530352"/>
          </a:xfrm>
          <a:prstGeom prst="roundRect">
            <a:avLst>
              <a:gd name="adj" fmla="val 20690"/>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39" name="Shape 37"/>
          <p:cNvSpPr/>
          <p:nvPr/>
        </p:nvSpPr>
        <p:spPr>
          <a:xfrm>
            <a:off x="731520" y="4882896"/>
            <a:ext cx="182880" cy="182880"/>
          </a:xfrm>
          <a:prstGeom prst="ellipse">
            <a:avLst/>
          </a:prstGeom>
          <a:solidFill>
            <a:srgbClr val="F43F5E"/>
          </a:solidFill>
          <a:ln w="12700">
            <a:solidFill>
              <a:srgbClr val="F43F5E"/>
            </a:solidFill>
            <a:prstDash val="solid"/>
          </a:ln>
        </p:spPr>
      </p:sp>
      <p:sp>
        <p:nvSpPr>
          <p:cNvPr id="40" name="Text 38"/>
          <p:cNvSpPr txBox="1"/>
          <p:nvPr/>
        </p:nvSpPr>
        <p:spPr>
          <a:xfrm>
            <a:off x="1051560" y="4782312"/>
            <a:ext cx="2468880" cy="384048"/>
          </a:xfrm>
          <a:prstGeom prst="rect">
            <a:avLst/>
          </a:prstGeom>
          <a:noFill/>
          <a:ln/>
        </p:spPr>
        <p:txBody>
          <a:bodyPr wrap="square" lIns="0" tIns="0" rIns="0" bIns="0" rtlCol="0" anchor="ctr"/>
          <a:lstStyle/>
          <a:p>
            <a:pPr indent="0" marL="0">
              <a:buNone/>
            </a:pPr>
            <a:r>
              <a:rPr lang="en-US" sz="1400" b="1" dirty="0">
                <a:solidFill>
                  <a:srgbClr val="0B1220"/>
                </a:solidFill>
              </a:rPr>
              <a:t>Adaptive-tree control</a:t>
            </a:r>
            <a:endParaRPr lang="en-US" sz="1400" dirty="0"/>
          </a:p>
        </p:txBody>
      </p:sp>
      <p:sp>
        <p:nvSpPr>
          <p:cNvPr id="41" name="Text 39"/>
          <p:cNvSpPr txBox="1"/>
          <p:nvPr/>
        </p:nvSpPr>
        <p:spPr>
          <a:xfrm>
            <a:off x="3566160" y="4782312"/>
            <a:ext cx="5577840" cy="384048"/>
          </a:xfrm>
          <a:prstGeom prst="rect">
            <a:avLst/>
          </a:prstGeom>
          <a:noFill/>
          <a:ln/>
        </p:spPr>
        <p:txBody>
          <a:bodyPr wrap="square" lIns="0" tIns="0" rIns="0" bIns="0" rtlCol="0" anchor="ctr"/>
          <a:lstStyle/>
          <a:p>
            <a:pPr indent="0" marL="0">
              <a:buNone/>
            </a:pPr>
            <a:r>
              <a:rPr lang="en-US" sz="1300" dirty="0">
                <a:solidFill>
                  <a:srgbClr val="475569"/>
                </a:solidFill>
              </a:rPr>
              <a:t>Warm-start boosting on revealed labels: 0.941 vs 0.951</a:t>
            </a:r>
            <a:endParaRPr lang="en-US" sz="1300" dirty="0"/>
          </a:p>
        </p:txBody>
      </p:sp>
      <p:sp>
        <p:nvSpPr>
          <p:cNvPr id="42" name="Shape 40"/>
          <p:cNvSpPr/>
          <p:nvPr/>
        </p:nvSpPr>
        <p:spPr>
          <a:xfrm>
            <a:off x="9326880" y="4800600"/>
            <a:ext cx="2148840" cy="347472"/>
          </a:xfrm>
          <a:prstGeom prst="roundRect">
            <a:avLst>
              <a:gd name="adj" fmla="val 50000"/>
            </a:avLst>
          </a:prstGeom>
          <a:solidFill>
            <a:srgbClr val="F43F5E">
              <a:alpha val="18000"/>
            </a:srgbClr>
          </a:solidFill>
          <a:ln w="12700">
            <a:solidFill>
              <a:srgbClr val="F43F5E"/>
            </a:solidFill>
            <a:prstDash val="solid"/>
          </a:ln>
        </p:spPr>
      </p:sp>
      <p:sp>
        <p:nvSpPr>
          <p:cNvPr id="43" name="Text 41"/>
          <p:cNvSpPr txBox="1"/>
          <p:nvPr/>
        </p:nvSpPr>
        <p:spPr>
          <a:xfrm>
            <a:off x="9326880" y="4800600"/>
            <a:ext cx="2148840" cy="347472"/>
          </a:xfrm>
          <a:prstGeom prst="rect">
            <a:avLst/>
          </a:prstGeom>
          <a:noFill/>
          <a:ln/>
        </p:spPr>
        <p:txBody>
          <a:bodyPr wrap="square" lIns="0" tIns="0" rIns="0" bIns="0" rtlCol="0" anchor="ctr"/>
          <a:lstStyle/>
          <a:p>
            <a:pPr algn="ctr" indent="0" marL="0">
              <a:buNone/>
            </a:pPr>
            <a:r>
              <a:rPr lang="en-US" sz="1200" b="1" dirty="0">
                <a:solidFill>
                  <a:srgbClr val="BE123C"/>
                </a:solidFill>
              </a:rPr>
              <a:t>Slightly worse</a:t>
            </a:r>
            <a:endParaRPr lang="en-US" sz="1200" dirty="0"/>
          </a:p>
        </p:txBody>
      </p:sp>
      <p:sp>
        <p:nvSpPr>
          <p:cNvPr id="44" name="hypothesis"/>
          <p:cNvSpPr/>
          <p:nvPr/>
        </p:nvSpPr>
        <p:spPr>
          <a:xfrm>
            <a:off x="548640" y="5440680"/>
            <a:ext cx="6766560" cy="822960"/>
          </a:xfrm>
          <a:prstGeom prst="roundRect">
            <a:avLst>
              <a:gd name="adj" fmla="val 13333"/>
            </a:avLst>
          </a:prstGeom>
          <a:solidFill>
            <a:srgbClr val="FFF7E6"/>
          </a:solidFill>
          <a:ln w="12700">
            <a:solidFill>
              <a:srgbClr val="FFF7E6"/>
            </a:solidFill>
            <a:prstDash val="solid"/>
          </a:ln>
        </p:spPr>
      </p:sp>
      <p:sp>
        <p:nvSpPr>
          <p:cNvPr id="45" name="Text 43"/>
          <p:cNvSpPr txBox="1"/>
          <p:nvPr/>
        </p:nvSpPr>
        <p:spPr>
          <a:xfrm>
            <a:off x="777240" y="5440680"/>
            <a:ext cx="6355080" cy="822960"/>
          </a:xfrm>
          <a:prstGeom prst="rect">
            <a:avLst/>
          </a:prstGeom>
          <a:noFill/>
          <a:ln/>
        </p:spPr>
        <p:txBody>
          <a:bodyPr wrap="square" lIns="0" tIns="0" rIns="0" bIns="0" rtlCol="0" anchor="ctr"/>
          <a:lstStyle/>
          <a:p>
            <a:pPr indent="0" marL="0">
              <a:buNone/>
            </a:pPr>
            <a:r>
              <a:rPr lang="en-US" sz="1400" b="1" dirty="0">
                <a:solidFill>
                  <a:srgbClr val="B45309"/>
                </a:solidFill>
              </a:rPr>
              <a:t>Likely reason, unverified  </a:t>
            </a:r>
            <a:pPr indent="0" marL="0">
              <a:buNone/>
            </a:pPr>
            <a:r>
              <a:rPr lang="en-US" sz="1400" dirty="0">
                <a:solidFill>
                  <a:srgbClr val="0B1220"/>
                </a:solidFill>
              </a:rPr>
              <a:t>Features f94–f165 may already hold one-hop neighbour aggregates.</a:t>
            </a:r>
            <a:endParaRPr lang="en-US" sz="1400" dirty="0"/>
          </a:p>
        </p:txBody>
      </p:sp>
      <p:sp>
        <p:nvSpPr>
          <p:cNvPr id="46" name="drift stat"/>
          <p:cNvSpPr/>
          <p:nvPr/>
        </p:nvSpPr>
        <p:spPr>
          <a:xfrm>
            <a:off x="7498080" y="5440680"/>
            <a:ext cx="4142232" cy="822960"/>
          </a:xfrm>
          <a:prstGeom prst="roundRect">
            <a:avLst>
              <a:gd name="adj" fmla="val 13333"/>
            </a:avLst>
          </a:prstGeom>
          <a:solidFill>
            <a:srgbClr val="0B1220"/>
          </a:solidFill>
          <a:ln w="12700">
            <a:solidFill>
              <a:srgbClr val="0B1220"/>
            </a:solidFill>
            <a:prstDash val="solid"/>
          </a:ln>
        </p:spPr>
      </p:sp>
      <p:sp>
        <p:nvSpPr>
          <p:cNvPr id="47" name="Text 45"/>
          <p:cNvSpPr txBox="1"/>
          <p:nvPr/>
        </p:nvSpPr>
        <p:spPr>
          <a:xfrm>
            <a:off x="7635240" y="5440680"/>
            <a:ext cx="3886200" cy="822960"/>
          </a:xfrm>
          <a:prstGeom prst="rect">
            <a:avLst/>
          </a:prstGeom>
          <a:noFill/>
          <a:ln/>
        </p:spPr>
        <p:txBody>
          <a:bodyPr wrap="square" lIns="0" tIns="0" rIns="0" bIns="0" rtlCol="0" anchor="ctr"/>
          <a:lstStyle/>
          <a:p>
            <a:pPr indent="0" marL="0">
              <a:buNone/>
            </a:pPr>
            <a:r>
              <a:rPr lang="en-US" sz="1400" dirty="0">
                <a:solidFill>
                  <a:srgbClr val="CBD5E1"/>
                </a:solidFill>
              </a:rPr>
              <a:t>GraphSAGE PR-AUC, val → test:  </a:t>
            </a:r>
            <a:pPr indent="0" marL="0">
              <a:buNone/>
            </a:pPr>
            <a:r>
              <a:rPr lang="en-US" sz="1400" b="1" dirty="0">
                <a:solidFill>
                  <a:srgbClr val="FFFFFF"/>
                </a:solidFill>
              </a:rPr>
              <a:t>0.864 → 0.430</a:t>
            </a:r>
            <a:endParaRPr lang="en-US" sz="1400" dirty="0"/>
          </a:p>
          <a:p>
            <a:pPr indent="0" marL="0">
              <a:buNone/>
            </a:pPr>
            <a:r>
              <a:rPr lang="en-US" sz="1400" dirty="0">
                <a:solidFill>
                  <a:srgbClr val="CBD5E1"/>
                </a:solidFill>
              </a:rPr>
              <a:t>HGB on test: </a:t>
            </a:r>
            <a:pPr indent="0" marL="0">
              <a:buNone/>
            </a:pPr>
            <a:r>
              <a:rPr lang="en-US" sz="1400" b="1" dirty="0">
                <a:solidFill>
                  <a:srgbClr val="FFFFFF"/>
                </a:solidFill>
              </a:rPr>
              <a:t>0.795</a:t>
            </a:r>
            <a:endParaRPr lang="en-US" sz="1400" dirty="0"/>
          </a:p>
        </p:txBody>
      </p:sp>
      <p:sp>
        <p:nvSpPr>
          <p:cNvPr id="25" name="Slide Number Placeholder 0"/>
          <p:cNvSpPr>
            <a:spLocks noGrp="1"/>
          </p:cNvSpPr>
          <p:nvPr>
            <p:ph type="sldNum" sz="quarter" idx="4294967295"/>
          </p:nvPr>
        </p:nvSpPr>
        <p:spPr>
          <a:xfrm>
            <a:off x="1115568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784080" cy="868680"/>
          </a:xfrm>
          <a:prstGeom prst="rect">
            <a:avLst/>
          </a:prstGeom>
          <a:noFill/>
          <a:ln/>
        </p:spPr>
        <p:txBody>
          <a:bodyPr wrap="square" lIns="0" tIns="0" rIns="0" bIns="0" rtlCol="0" anchor="ctr"/>
          <a:lstStyle/>
          <a:p>
            <a:pPr algn="l" indent="0" marL="0">
              <a:buNone/>
            </a:pPr>
            <a:r>
              <a:rPr lang="en-US" sz="3200" b="1" dirty="0">
                <a:solidFill>
                  <a:srgbClr val="0B1220"/>
                </a:solidFill>
                <a:latin typeface="Cambria" pitchFamily="34" charset="0"/>
                <a:ea typeface="Cambria" pitchFamily="34" charset="-122"/>
                <a:cs typeface="Cambria" pitchFamily="34" charset="-120"/>
              </a:rPr>
              <a:t>The same feedback made boosted trees worse</a:t>
            </a:r>
            <a:endParaRPr lang="en-US" sz="3200" dirty="0"/>
          </a:p>
        </p:txBody>
      </p:sp>
      <p:sp>
        <p:nvSpPr>
          <p:cNvPr id="3" name="Shape 1"/>
          <p:cNvSpPr/>
          <p:nvPr/>
        </p:nvSpPr>
        <p:spPr>
          <a:xfrm>
            <a:off x="10561320" y="475488"/>
            <a:ext cx="1097280" cy="329184"/>
          </a:xfrm>
          <a:prstGeom prst="roundRect">
            <a:avLst>
              <a:gd name="adj" fmla="val 50000"/>
            </a:avLst>
          </a:prstGeom>
          <a:solidFill>
            <a:srgbClr val="14213D"/>
          </a:solidFill>
          <a:ln w="12700">
            <a:solidFill>
              <a:srgbClr val="14213D"/>
            </a:solidFill>
            <a:prstDash val="solid"/>
          </a:ln>
        </p:spPr>
      </p:sp>
      <p:sp>
        <p:nvSpPr>
          <p:cNvPr id="4" name="Text 2"/>
          <p:cNvSpPr txBox="1"/>
          <p:nvPr/>
        </p:nvSpPr>
        <p:spPr>
          <a:xfrm>
            <a:off x="10561320" y="475488"/>
            <a:ext cx="1097280" cy="329184"/>
          </a:xfrm>
          <a:prstGeom prst="rect">
            <a:avLst/>
          </a:prstGeom>
          <a:noFill/>
          <a:ln/>
        </p:spPr>
        <p:txBody>
          <a:bodyPr wrap="square" lIns="0" tIns="0" rIns="0" bIns="0" rtlCol="0" anchor="ctr"/>
          <a:lstStyle/>
          <a:p>
            <a:pPr algn="ctr" indent="0" marL="0">
              <a:buNone/>
            </a:pPr>
            <a:r>
              <a:rPr lang="en-US" sz="1100" b="1" dirty="0">
                <a:solidFill>
                  <a:srgbClr val="FFFFFF"/>
                </a:solidFill>
              </a:rPr>
              <a:t>Speaker D</a:t>
            </a:r>
            <a:endParaRPr lang="en-US" sz="1100" dirty="0"/>
          </a:p>
        </p:txBody>
      </p:sp>
      <p:sp>
        <p:nvSpPr>
          <p:cNvPr id="5" name="hgb chart card"/>
          <p:cNvSpPr/>
          <p:nvPr/>
        </p:nvSpPr>
        <p:spPr>
          <a:xfrm>
            <a:off x="548640" y="1371600"/>
            <a:ext cx="7223760" cy="3383280"/>
          </a:xfrm>
          <a:prstGeom prst="roundRect">
            <a:avLst>
              <a:gd name="adj" fmla="val 3243"/>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graphicFrame>
        <p:nvGraphicFramePr>
          <p:cNvPr id="6" name="Chart 0" descr=""/>
          <p:cNvGraphicFramePr/>
          <p:nvPr/>
        </p:nvGraphicFramePr>
        <p:xfrm>
          <a:off x="685800" y="1463040"/>
          <a:ext cx="6949440" cy="3200400"/>
        </p:xfrm>
        <a:graphic xmlns:a="http://schemas.openxmlformats.org/drawingml/2006/main">
          <a:graphicData uri="http://schemas.openxmlformats.org/drawingml/2006/chart">
            <c:chart xmlns:c="http://schemas.openxmlformats.org/drawingml/2006/chart" r:id="rId1"/>
          </a:graphicData>
        </a:graphic>
      </p:graphicFrame>
      <p:sp>
        <p:nvSpPr>
          <p:cNvPr id="7" name="hgb stat 1"/>
          <p:cNvSpPr/>
          <p:nvPr/>
        </p:nvSpPr>
        <p:spPr>
          <a:xfrm>
            <a:off x="8046720" y="1371600"/>
            <a:ext cx="3593592" cy="1005840"/>
          </a:xfrm>
          <a:prstGeom prst="roundRect">
            <a:avLst>
              <a:gd name="adj" fmla="val 10909"/>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8" name="Text 5"/>
          <p:cNvSpPr txBox="1"/>
          <p:nvPr/>
        </p:nvSpPr>
        <p:spPr>
          <a:xfrm>
            <a:off x="8229600" y="1481328"/>
            <a:ext cx="3291840" cy="548640"/>
          </a:xfrm>
          <a:prstGeom prst="rect">
            <a:avLst/>
          </a:prstGeom>
          <a:noFill/>
          <a:ln/>
        </p:spPr>
        <p:txBody>
          <a:bodyPr wrap="square" lIns="0" tIns="0" rIns="0" bIns="0" rtlCol="0" anchor="t"/>
          <a:lstStyle/>
          <a:p>
            <a:pPr indent="0" marL="0">
              <a:buNone/>
            </a:pPr>
            <a:r>
              <a:rPr lang="en-US" sz="2600" b="1" dirty="0">
                <a:solidFill>
                  <a:srgbClr val="F43F5E"/>
                </a:solidFill>
                <a:latin typeface="+mj-lt" pitchFamily="34" charset="0"/>
                <a:ea typeface="+mj-lt" pitchFamily="34" charset="-122"/>
                <a:cs typeface="+mj-lt" pitchFamily="34" charset="-120"/>
              </a:rPr>
              <a:t>0.787 → 0.469</a:t>
            </a:r>
            <a:endParaRPr lang="en-US" sz="2600" dirty="0"/>
          </a:p>
        </p:txBody>
      </p:sp>
      <p:sp>
        <p:nvSpPr>
          <p:cNvPr id="9" name="Text 6"/>
          <p:cNvSpPr txBox="1"/>
          <p:nvPr/>
        </p:nvSpPr>
        <p:spPr>
          <a:xfrm>
            <a:off x="8229600" y="2011680"/>
            <a:ext cx="3200400" cy="274320"/>
          </a:xfrm>
          <a:prstGeom prst="rect">
            <a:avLst/>
          </a:prstGeom>
          <a:noFill/>
          <a:ln/>
        </p:spPr>
        <p:txBody>
          <a:bodyPr wrap="square" lIns="0" tIns="0" rIns="0" bIns="0" rtlCol="0" anchor="t"/>
          <a:lstStyle/>
          <a:p>
            <a:pPr indent="0" marL="0">
              <a:buNone/>
            </a:pPr>
            <a:r>
              <a:rPr lang="en-US" sz="1300" dirty="0">
                <a:solidFill>
                  <a:srgbClr val="475569"/>
                </a:solidFill>
              </a:rPr>
              <a:t>test F1</a:t>
            </a:r>
            <a:endParaRPr lang="en-US" sz="1300" dirty="0"/>
          </a:p>
        </p:txBody>
      </p:sp>
      <p:sp>
        <p:nvSpPr>
          <p:cNvPr id="10" name="hgb stat 2"/>
          <p:cNvSpPr/>
          <p:nvPr/>
        </p:nvSpPr>
        <p:spPr>
          <a:xfrm>
            <a:off x="8046720" y="2514600"/>
            <a:ext cx="3593592" cy="1005840"/>
          </a:xfrm>
          <a:prstGeom prst="roundRect">
            <a:avLst>
              <a:gd name="adj" fmla="val 10909"/>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11" name="Text 8"/>
          <p:cNvSpPr txBox="1"/>
          <p:nvPr/>
        </p:nvSpPr>
        <p:spPr>
          <a:xfrm>
            <a:off x="8229600" y="2624328"/>
            <a:ext cx="3291840" cy="548640"/>
          </a:xfrm>
          <a:prstGeom prst="rect">
            <a:avLst/>
          </a:prstGeom>
          <a:noFill/>
          <a:ln/>
        </p:spPr>
        <p:txBody>
          <a:bodyPr wrap="square" lIns="0" tIns="0" rIns="0" bIns="0" rtlCol="0" anchor="t"/>
          <a:lstStyle/>
          <a:p>
            <a:pPr indent="0" marL="0">
              <a:buNone/>
            </a:pPr>
            <a:r>
              <a:rPr lang="en-US" sz="2600" b="1" dirty="0">
                <a:solidFill>
                  <a:srgbClr val="F43F5E"/>
                </a:solidFill>
                <a:latin typeface="+mj-lt" pitchFamily="34" charset="0"/>
                <a:ea typeface="+mj-lt" pitchFamily="34" charset="-122"/>
                <a:cs typeface="+mj-lt" pitchFamily="34" charset="-120"/>
              </a:rPr>
              <a:t>0.795 → 0.205</a:t>
            </a:r>
            <a:endParaRPr lang="en-US" sz="2600" dirty="0"/>
          </a:p>
        </p:txBody>
      </p:sp>
      <p:sp>
        <p:nvSpPr>
          <p:cNvPr id="12" name="Text 9"/>
          <p:cNvSpPr txBox="1"/>
          <p:nvPr/>
        </p:nvSpPr>
        <p:spPr>
          <a:xfrm>
            <a:off x="8229600" y="3154680"/>
            <a:ext cx="3200400" cy="274320"/>
          </a:xfrm>
          <a:prstGeom prst="rect">
            <a:avLst/>
          </a:prstGeom>
          <a:noFill/>
          <a:ln/>
        </p:spPr>
        <p:txBody>
          <a:bodyPr wrap="square" lIns="0" tIns="0" rIns="0" bIns="0" rtlCol="0" anchor="t"/>
          <a:lstStyle/>
          <a:p>
            <a:pPr indent="0" marL="0">
              <a:buNone/>
            </a:pPr>
            <a:r>
              <a:rPr lang="en-US" sz="1300" dirty="0">
                <a:solidFill>
                  <a:srgbClr val="475569"/>
                </a:solidFill>
              </a:rPr>
              <a:t>test PR-AUC</a:t>
            </a:r>
            <a:endParaRPr lang="en-US" sz="1300" dirty="0"/>
          </a:p>
        </p:txBody>
      </p:sp>
      <p:sp>
        <p:nvSpPr>
          <p:cNvPr id="13" name="hgb stat 3"/>
          <p:cNvSpPr/>
          <p:nvPr/>
        </p:nvSpPr>
        <p:spPr>
          <a:xfrm>
            <a:off x="8046720" y="3657600"/>
            <a:ext cx="3593592" cy="1005840"/>
          </a:xfrm>
          <a:prstGeom prst="roundRect">
            <a:avLst>
              <a:gd name="adj" fmla="val 10909"/>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14" name="Text 11"/>
          <p:cNvSpPr txBox="1"/>
          <p:nvPr/>
        </p:nvSpPr>
        <p:spPr>
          <a:xfrm>
            <a:off x="8229600" y="3767328"/>
            <a:ext cx="3291840" cy="548640"/>
          </a:xfrm>
          <a:prstGeom prst="rect">
            <a:avLst/>
          </a:prstGeom>
          <a:noFill/>
          <a:ln/>
        </p:spPr>
        <p:txBody>
          <a:bodyPr wrap="square" lIns="0" tIns="0" rIns="0" bIns="0" rtlCol="0" anchor="t"/>
          <a:lstStyle/>
          <a:p>
            <a:pPr indent="0" marL="0">
              <a:buNone/>
            </a:pPr>
            <a:r>
              <a:rPr lang="en-US" sz="2600" b="1" dirty="0">
                <a:solidFill>
                  <a:srgbClr val="0B1220"/>
                </a:solidFill>
                <a:latin typeface="+mj-lt" pitchFamily="34" charset="0"/>
                <a:ea typeface="+mj-lt" pitchFamily="34" charset="-122"/>
                <a:cs typeface="+mj-lt" pitchFamily="34" charset="-120"/>
              </a:rPr>
              <a:t>0 / 5</a:t>
            </a:r>
            <a:endParaRPr lang="en-US" sz="2600" dirty="0"/>
          </a:p>
        </p:txBody>
      </p:sp>
      <p:sp>
        <p:nvSpPr>
          <p:cNvPr id="15" name="Text 12"/>
          <p:cNvSpPr txBox="1"/>
          <p:nvPr/>
        </p:nvSpPr>
        <p:spPr>
          <a:xfrm>
            <a:off x="8229600" y="4297680"/>
            <a:ext cx="3200400" cy="274320"/>
          </a:xfrm>
          <a:prstGeom prst="rect">
            <a:avLst/>
          </a:prstGeom>
          <a:noFill/>
          <a:ln/>
        </p:spPr>
        <p:txBody>
          <a:bodyPr wrap="square" lIns="0" tIns="0" rIns="0" bIns="0" rtlCol="0" anchor="t"/>
          <a:lstStyle/>
          <a:p>
            <a:pPr indent="0" marL="0">
              <a:buNone/>
            </a:pPr>
            <a:r>
              <a:rPr lang="en-US" sz="1300" dirty="0">
                <a:solidFill>
                  <a:srgbClr val="475569"/>
                </a:solidFill>
              </a:rPr>
              <a:t>seeds improved</a:t>
            </a:r>
            <a:endParaRPr lang="en-US" sz="1300" dirty="0"/>
          </a:p>
        </p:txBody>
      </p:sp>
      <p:sp>
        <p:nvSpPr>
          <p:cNvPr id="16" name="What it supports"/>
          <p:cNvSpPr/>
          <p:nvPr/>
        </p:nvSpPr>
        <p:spPr>
          <a:xfrm>
            <a:off x="548640" y="4937760"/>
            <a:ext cx="5468112" cy="1325880"/>
          </a:xfrm>
          <a:prstGeom prst="roundRect">
            <a:avLst>
              <a:gd name="adj" fmla="val 8276"/>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17" name="Shape 14"/>
          <p:cNvSpPr/>
          <p:nvPr/>
        </p:nvSpPr>
        <p:spPr>
          <a:xfrm>
            <a:off x="749808" y="5138928"/>
            <a:ext cx="457200" cy="457200"/>
          </a:xfrm>
          <a:prstGeom prst="ellipse">
            <a:avLst/>
          </a:prstGeom>
          <a:solidFill>
            <a:srgbClr val="10B981"/>
          </a:solidFill>
          <a:ln w="12700">
            <a:solidFill>
              <a:srgbClr val="10B981"/>
            </a:solidFill>
            <a:prstDash val="solid"/>
          </a:ln>
        </p:spPr>
      </p:sp>
      <p:pic>
        <p:nvPicPr>
          <p:cNvPr id="18" name="Image 0" descr="icon">    </p:cNvPr>
          <p:cNvPicPr>
            <a:picLocks noChangeAspect="1"/>
          </p:cNvPicPr>
          <p:nvPr/>
        </p:nvPicPr>
        <p:blipFill>
          <a:blip r:embed="rId2"/>
          <a:stretch>
            <a:fillRect/>
          </a:stretch>
        </p:blipFill>
        <p:spPr>
          <a:xfrm>
            <a:off x="868680" y="5257800"/>
            <a:ext cx="219456" cy="219456"/>
          </a:xfrm>
          <a:prstGeom prst="rect">
            <a:avLst/>
          </a:prstGeom>
        </p:spPr>
      </p:pic>
      <p:sp>
        <p:nvSpPr>
          <p:cNvPr id="19" name="Text 15"/>
          <p:cNvSpPr txBox="1"/>
          <p:nvPr/>
        </p:nvSpPr>
        <p:spPr>
          <a:xfrm>
            <a:off x="1325880" y="5102352"/>
            <a:ext cx="4480560" cy="347472"/>
          </a:xfrm>
          <a:prstGeom prst="rect">
            <a:avLst/>
          </a:prstGeom>
          <a:noFill/>
          <a:ln/>
        </p:spPr>
        <p:txBody>
          <a:bodyPr wrap="square" lIns="0" tIns="0" rIns="0" bIns="0" rtlCol="0" anchor="t"/>
          <a:lstStyle/>
          <a:p>
            <a:pPr indent="0" marL="0">
              <a:buNone/>
            </a:pPr>
            <a:r>
              <a:rPr lang="en-US" sz="1600" b="1" dirty="0">
                <a:solidFill>
                  <a:srgbClr val="0B1220"/>
                </a:solidFill>
              </a:rPr>
              <a:t>What it supports</a:t>
            </a:r>
            <a:endParaRPr lang="en-US" sz="1600" dirty="0"/>
          </a:p>
        </p:txBody>
      </p:sp>
      <p:sp>
        <p:nvSpPr>
          <p:cNvPr id="20" name="Text 16"/>
          <p:cNvSpPr txBox="1"/>
          <p:nvPr/>
        </p:nvSpPr>
        <p:spPr>
          <a:xfrm>
            <a:off x="1325880" y="5468112"/>
            <a:ext cx="4526280" cy="749808"/>
          </a:xfrm>
          <a:prstGeom prst="rect">
            <a:avLst/>
          </a:prstGeom>
          <a:noFill/>
          <a:ln/>
        </p:spPr>
        <p:txBody>
          <a:bodyPr wrap="square" lIns="0" tIns="0" rIns="0" bIns="0" rtlCol="0" anchor="t"/>
          <a:lstStyle/>
          <a:p>
            <a:pPr indent="0" marL="0">
              <a:buNone/>
            </a:pPr>
            <a:r>
              <a:rPr lang="en-US" sz="1300" dirty="0">
                <a:solidFill>
                  <a:srgbClr val="475569"/>
                </a:solidFill>
              </a:rPr>
              <a:t>Adaptation is not automatic: new labels do not guarantee a gain. Adaptive HGB is ahead only at t = 47–49, where Static HGB scores about zero.</a:t>
            </a:r>
            <a:endParaRPr lang="en-US" sz="1300" dirty="0"/>
          </a:p>
        </p:txBody>
      </p:sp>
      <p:sp>
        <p:nvSpPr>
          <p:cNvPr id="21" name="What it does not show"/>
          <p:cNvSpPr/>
          <p:nvPr/>
        </p:nvSpPr>
        <p:spPr>
          <a:xfrm>
            <a:off x="6172200" y="4937760"/>
            <a:ext cx="5468112" cy="1325880"/>
          </a:xfrm>
          <a:prstGeom prst="roundRect">
            <a:avLst>
              <a:gd name="adj" fmla="val 8276"/>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22" name="Shape 18"/>
          <p:cNvSpPr/>
          <p:nvPr/>
        </p:nvSpPr>
        <p:spPr>
          <a:xfrm>
            <a:off x="6373368" y="5138928"/>
            <a:ext cx="457200" cy="457200"/>
          </a:xfrm>
          <a:prstGeom prst="ellipse">
            <a:avLst/>
          </a:prstGeom>
          <a:solidFill>
            <a:srgbClr val="F59E0B"/>
          </a:solidFill>
          <a:ln w="12700">
            <a:solidFill>
              <a:srgbClr val="F59E0B"/>
            </a:solidFill>
            <a:prstDash val="solid"/>
          </a:ln>
        </p:spPr>
      </p:sp>
      <p:pic>
        <p:nvPicPr>
          <p:cNvPr id="23" name="Image 1" descr="icon">    </p:cNvPr>
          <p:cNvPicPr>
            <a:picLocks noChangeAspect="1"/>
          </p:cNvPicPr>
          <p:nvPr/>
        </p:nvPicPr>
        <p:blipFill>
          <a:blip r:embed="rId3"/>
          <a:stretch>
            <a:fillRect/>
          </a:stretch>
        </p:blipFill>
        <p:spPr>
          <a:xfrm>
            <a:off x="6492240" y="5257800"/>
            <a:ext cx="219456" cy="219456"/>
          </a:xfrm>
          <a:prstGeom prst="rect">
            <a:avLst/>
          </a:prstGeom>
        </p:spPr>
      </p:pic>
      <p:sp>
        <p:nvSpPr>
          <p:cNvPr id="24" name="Text 19"/>
          <p:cNvSpPr txBox="1"/>
          <p:nvPr/>
        </p:nvSpPr>
        <p:spPr>
          <a:xfrm>
            <a:off x="6949440" y="5102352"/>
            <a:ext cx="4480560" cy="347472"/>
          </a:xfrm>
          <a:prstGeom prst="rect">
            <a:avLst/>
          </a:prstGeom>
          <a:noFill/>
          <a:ln/>
        </p:spPr>
        <p:txBody>
          <a:bodyPr wrap="square" lIns="0" tIns="0" rIns="0" bIns="0" rtlCol="0" anchor="t"/>
          <a:lstStyle/>
          <a:p>
            <a:pPr indent="0" marL="0">
              <a:buNone/>
            </a:pPr>
            <a:r>
              <a:rPr lang="en-US" sz="1600" b="1" dirty="0">
                <a:solidFill>
                  <a:srgbClr val="0B1220"/>
                </a:solidFill>
              </a:rPr>
              <a:t>What it does not show</a:t>
            </a:r>
            <a:endParaRPr lang="en-US" sz="1600" dirty="0"/>
          </a:p>
        </p:txBody>
      </p:sp>
      <p:sp>
        <p:nvSpPr>
          <p:cNvPr id="25" name="Text 20"/>
          <p:cNvSpPr txBox="1"/>
          <p:nvPr/>
        </p:nvSpPr>
        <p:spPr>
          <a:xfrm>
            <a:off x="6949440" y="5468112"/>
            <a:ext cx="4526280" cy="749808"/>
          </a:xfrm>
          <a:prstGeom prst="rect">
            <a:avLst/>
          </a:prstGeom>
          <a:noFill/>
          <a:ln/>
        </p:spPr>
        <p:txBody>
          <a:bodyPr wrap="square" lIns="0" tIns="0" rIns="0" bIns="0" rtlCol="0" anchor="t"/>
          <a:lstStyle/>
          <a:p>
            <a:pPr indent="0" marL="0">
              <a:buNone/>
            </a:pPr>
            <a:r>
              <a:rPr lang="en-US" sz="1300" dirty="0">
                <a:solidFill>
                  <a:srgbClr val="475569"/>
                </a:solidFill>
              </a:rPr>
              <a:t>That graph models adapt better. The updates differ in size: lr 0.001 for one step vs 10 boosting rounds at lr 0.1.</a:t>
            </a:r>
            <a:endParaRPr lang="en-US" sz="1300" dirty="0"/>
          </a:p>
        </p:txBody>
      </p:sp>
      <p:sp>
        <p:nvSpPr>
          <p:cNvPr id="25" name="Slide Number Placeholder 0"/>
          <p:cNvSpPr>
            <a:spLocks noGrp="1"/>
          </p:cNvSpPr>
          <p:nvPr>
            <p:ph type="sldNum" sz="quarter" idx="4294967295"/>
          </p:nvPr>
        </p:nvSpPr>
        <p:spPr>
          <a:xfrm>
            <a:off x="1115568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784080" cy="868680"/>
          </a:xfrm>
          <a:prstGeom prst="rect">
            <a:avLst/>
          </a:prstGeom>
          <a:noFill/>
          <a:ln/>
        </p:spPr>
        <p:txBody>
          <a:bodyPr wrap="square" lIns="0" tIns="0" rIns="0" bIns="0" rtlCol="0" anchor="ctr"/>
          <a:lstStyle/>
          <a:p>
            <a:pPr algn="l" indent="0" marL="0">
              <a:buNone/>
            </a:pPr>
            <a:r>
              <a:rPr lang="en-US" sz="3200" b="1" dirty="0">
                <a:solidFill>
                  <a:srgbClr val="0B1220"/>
                </a:solidFill>
                <a:latin typeface="Cambria" pitchFamily="34" charset="0"/>
                <a:ea typeface="Cambria" pitchFamily="34" charset="-122"/>
                <a:cs typeface="Cambria" pitchFamily="34" charset="-120"/>
              </a:rPr>
              <a:t>Limitations we state, and work we leave open</a:t>
            </a:r>
            <a:endParaRPr lang="en-US" sz="3200" dirty="0"/>
          </a:p>
        </p:txBody>
      </p:sp>
      <p:sp>
        <p:nvSpPr>
          <p:cNvPr id="3" name="Shape 1"/>
          <p:cNvSpPr/>
          <p:nvPr/>
        </p:nvSpPr>
        <p:spPr>
          <a:xfrm>
            <a:off x="10561320" y="475488"/>
            <a:ext cx="1097280" cy="329184"/>
          </a:xfrm>
          <a:prstGeom prst="roundRect">
            <a:avLst>
              <a:gd name="adj" fmla="val 50000"/>
            </a:avLst>
          </a:prstGeom>
          <a:solidFill>
            <a:srgbClr val="14213D"/>
          </a:solidFill>
          <a:ln w="12700">
            <a:solidFill>
              <a:srgbClr val="14213D"/>
            </a:solidFill>
            <a:prstDash val="solid"/>
          </a:ln>
        </p:spPr>
      </p:sp>
      <p:sp>
        <p:nvSpPr>
          <p:cNvPr id="4" name="Text 2"/>
          <p:cNvSpPr txBox="1"/>
          <p:nvPr/>
        </p:nvSpPr>
        <p:spPr>
          <a:xfrm>
            <a:off x="10561320" y="475488"/>
            <a:ext cx="1097280" cy="329184"/>
          </a:xfrm>
          <a:prstGeom prst="rect">
            <a:avLst/>
          </a:prstGeom>
          <a:noFill/>
          <a:ln/>
        </p:spPr>
        <p:txBody>
          <a:bodyPr wrap="square" lIns="0" tIns="0" rIns="0" bIns="0" rtlCol="0" anchor="ctr"/>
          <a:lstStyle/>
          <a:p>
            <a:pPr algn="ctr" indent="0" marL="0">
              <a:buNone/>
            </a:pPr>
            <a:r>
              <a:rPr lang="en-US" sz="1100" b="1" dirty="0">
                <a:solidFill>
                  <a:srgbClr val="FFFFFF"/>
                </a:solidFill>
              </a:rPr>
              <a:t>Speaker D</a:t>
            </a:r>
            <a:endParaRPr lang="en-US" sz="1100" dirty="0"/>
          </a:p>
        </p:txBody>
      </p:sp>
      <p:sp>
        <p:nvSpPr>
          <p:cNvPr id="5" name="limitations card"/>
          <p:cNvSpPr/>
          <p:nvPr/>
        </p:nvSpPr>
        <p:spPr>
          <a:xfrm>
            <a:off x="548640" y="1417320"/>
            <a:ext cx="6126480" cy="4800600"/>
          </a:xfrm>
          <a:prstGeom prst="roundRect">
            <a:avLst>
              <a:gd name="adj" fmla="val 2286"/>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6" name="Shape 4"/>
          <p:cNvSpPr/>
          <p:nvPr/>
        </p:nvSpPr>
        <p:spPr>
          <a:xfrm>
            <a:off x="777240" y="1600200"/>
            <a:ext cx="502920" cy="502920"/>
          </a:xfrm>
          <a:prstGeom prst="ellipse">
            <a:avLst/>
          </a:prstGeom>
          <a:solidFill>
            <a:srgbClr val="F59E0B"/>
          </a:solidFill>
          <a:ln w="12700">
            <a:solidFill>
              <a:srgbClr val="F59E0B"/>
            </a:solidFill>
            <a:prstDash val="solid"/>
          </a:ln>
        </p:spPr>
      </p:sp>
      <p:pic>
        <p:nvPicPr>
          <p:cNvPr id="7" name="Image 0" descr="icon">    </p:cNvPr>
          <p:cNvPicPr>
            <a:picLocks noChangeAspect="1"/>
          </p:cNvPicPr>
          <p:nvPr/>
        </p:nvPicPr>
        <p:blipFill>
          <a:blip r:embed="rId1"/>
          <a:stretch>
            <a:fillRect/>
          </a:stretch>
        </p:blipFill>
        <p:spPr>
          <a:xfrm>
            <a:off x="907999" y="1730959"/>
            <a:ext cx="241402" cy="241402"/>
          </a:xfrm>
          <a:prstGeom prst="rect">
            <a:avLst/>
          </a:prstGeom>
        </p:spPr>
      </p:pic>
      <p:sp>
        <p:nvSpPr>
          <p:cNvPr id="8" name="Text 5"/>
          <p:cNvSpPr txBox="1"/>
          <p:nvPr/>
        </p:nvSpPr>
        <p:spPr>
          <a:xfrm>
            <a:off x="1417320" y="1627632"/>
            <a:ext cx="3657600" cy="457200"/>
          </a:xfrm>
          <a:prstGeom prst="rect">
            <a:avLst/>
          </a:prstGeom>
          <a:noFill/>
          <a:ln/>
        </p:spPr>
        <p:txBody>
          <a:bodyPr wrap="square" lIns="0" tIns="0" rIns="0" bIns="0" rtlCol="0" anchor="t"/>
          <a:lstStyle/>
          <a:p>
            <a:pPr indent="0" marL="0">
              <a:buNone/>
            </a:pPr>
            <a:r>
              <a:rPr lang="en-US" sz="2000" b="1" dirty="0">
                <a:solidFill>
                  <a:srgbClr val="0B1220"/>
                </a:solidFill>
              </a:rPr>
              <a:t>Limitations</a:t>
            </a:r>
            <a:endParaRPr lang="en-US" sz="2000" dirty="0"/>
          </a:p>
        </p:txBody>
      </p:sp>
      <p:sp>
        <p:nvSpPr>
          <p:cNvPr id="9" name="Text 6"/>
          <p:cNvSpPr txBox="1"/>
          <p:nvPr/>
        </p:nvSpPr>
        <p:spPr>
          <a:xfrm>
            <a:off x="822960" y="2286000"/>
            <a:ext cx="5669280" cy="3840480"/>
          </a:xfrm>
          <a:prstGeom prst="rect">
            <a:avLst/>
          </a:prstGeom>
          <a:noFill/>
          <a:ln/>
        </p:spPr>
        <p:txBody>
          <a:bodyPr wrap="square" lIns="0" tIns="0" rIns="0" bIns="0" rtlCol="0" anchor="t"/>
          <a:lstStyle/>
          <a:p>
            <a:pPr marL="342900" indent="-342900">
              <a:spcAft>
                <a:spcPts val="1100"/>
              </a:spcAft>
              <a:buSzPct val="100000"/>
              <a:buChar char="•"/>
            </a:pPr>
            <a:r>
              <a:rPr lang="en-US" sz="1700" dirty="0">
                <a:solidFill>
                  <a:srgbClr val="475569"/>
                </a:solidFill>
              </a:rPr>
              <a:t>One dataset and one chronological split</a:t>
            </a:r>
            <a:endParaRPr lang="en-US" sz="1700" dirty="0"/>
          </a:p>
          <a:p>
            <a:pPr marL="342900" indent="-342900">
              <a:spcAft>
                <a:spcPts val="1100"/>
              </a:spcAft>
              <a:buSzPct val="100000"/>
              <a:buChar char="•"/>
            </a:pPr>
            <a:r>
              <a:rPr lang="en-US" sz="1700" dirty="0">
                <a:solidFill>
                  <a:srgbClr val="475569"/>
                </a:solidFill>
              </a:rPr>
              <a:t>Feedback delay is simulated, not a dataset fact</a:t>
            </a:r>
            <a:endParaRPr lang="en-US" sz="1700" dirty="0"/>
          </a:p>
          <a:p>
            <a:pPr marL="342900" indent="-342900">
              <a:spcAft>
                <a:spcPts val="1100"/>
              </a:spcAft>
              <a:buSzPct val="100000"/>
              <a:buChar char="•"/>
            </a:pPr>
            <a:r>
              <a:rPr lang="en-US" sz="1700" dirty="0">
                <a:solidFill>
                  <a:srgbClr val="475569"/>
                </a:solidFill>
              </a:rPr>
              <a:t>Feature standardisation provenance is unverified</a:t>
            </a:r>
            <a:endParaRPr lang="en-US" sz="1700" dirty="0"/>
          </a:p>
          <a:p>
            <a:pPr marL="342900" indent="-342900">
              <a:spcAft>
                <a:spcPts val="1100"/>
              </a:spcAft>
              <a:buSzPct val="100000"/>
              <a:buChar char="•"/>
            </a:pPr>
            <a:r>
              <a:rPr lang="en-US" sz="1700" dirty="0">
                <a:solidFill>
                  <a:srgbClr val="475569"/>
                </a:solidFill>
              </a:rPr>
              <a:t>Five seeds; the seed-42 reference is not exactly reproducible</a:t>
            </a:r>
            <a:endParaRPr lang="en-US" sz="1700" dirty="0"/>
          </a:p>
          <a:p>
            <a:pPr marL="342900" indent="-342900">
              <a:spcAft>
                <a:spcPts val="1100"/>
              </a:spcAft>
              <a:buSzPct val="100000"/>
              <a:buChar char="•"/>
            </a:pPr>
            <a:r>
              <a:rPr lang="en-US" sz="1700" dirty="0">
                <a:solidFill>
                  <a:srgbClr val="475569"/>
                </a:solidFill>
              </a:rPr>
              <a:t>Adaptive HGB is one crude tree mechanism</a:t>
            </a:r>
            <a:endParaRPr lang="en-US" sz="1700" dirty="0"/>
          </a:p>
          <a:p>
            <a:pPr marL="342900" indent="-342900">
              <a:spcAft>
                <a:spcPts val="1100"/>
              </a:spcAft>
              <a:buSzPct val="100000"/>
              <a:buChar char="•"/>
            </a:pPr>
            <a:r>
              <a:rPr lang="en-US" sz="1700" dirty="0">
                <a:solidFill>
                  <a:srgbClr val="475569"/>
                </a:solidFill>
              </a:rPr>
              <a:t>Earlier models' test results were seen in Phases 3–7 (never tuned on test)</a:t>
            </a:r>
            <a:endParaRPr lang="en-US" sz="1700" dirty="0"/>
          </a:p>
          <a:p>
            <a:pPr marL="342900" indent="-342900">
              <a:spcAft>
                <a:spcPts val="1100"/>
              </a:spcAft>
              <a:buSzPct val="100000"/>
              <a:buChar char="•"/>
            </a:pPr>
            <a:r>
              <a:rPr lang="en-US" sz="1700" dirty="0">
                <a:solidFill>
                  <a:srgbClr val="475569"/>
                </a:solidFill>
              </a:rPr>
              <a:t>Direction-aware GraphSAGE never evaluated on test</a:t>
            </a:r>
            <a:endParaRPr lang="en-US" sz="1700" dirty="0"/>
          </a:p>
        </p:txBody>
      </p:sp>
      <p:sp>
        <p:nvSpPr>
          <p:cNvPr id="10" name="future card"/>
          <p:cNvSpPr/>
          <p:nvPr/>
        </p:nvSpPr>
        <p:spPr>
          <a:xfrm>
            <a:off x="6903720" y="1417320"/>
            <a:ext cx="4736592" cy="4800600"/>
          </a:xfrm>
          <a:prstGeom prst="roundRect">
            <a:avLst>
              <a:gd name="adj" fmla="val 2317"/>
            </a:avLst>
          </a:prstGeom>
          <a:solidFill>
            <a:srgbClr val="FFFFFF"/>
          </a:solidFill>
          <a:ln w="12700">
            <a:solidFill>
              <a:srgbClr val="FFFFFF"/>
            </a:solidFill>
            <a:prstDash val="solid"/>
          </a:ln>
          <a:effectLst>
            <a:outerShdw sx="100000" sy="100000" kx="0" ky="0" algn="bl" rotWithShape="0" blurRad="127000" dist="38100" dir="5400000">
              <a:srgbClr val="0B1220">
                <a:alpha val="14000"/>
              </a:srgbClr>
            </a:outerShdw>
          </a:effectLst>
        </p:spPr>
      </p:sp>
      <p:sp>
        <p:nvSpPr>
          <p:cNvPr id="11" name="Shape 8"/>
          <p:cNvSpPr/>
          <p:nvPr/>
        </p:nvSpPr>
        <p:spPr>
          <a:xfrm>
            <a:off x="7132320" y="1600200"/>
            <a:ext cx="502920" cy="502920"/>
          </a:xfrm>
          <a:prstGeom prst="ellipse">
            <a:avLst/>
          </a:prstGeom>
          <a:solidFill>
            <a:srgbClr val="06B6D4"/>
          </a:solidFill>
          <a:ln w="12700">
            <a:solidFill>
              <a:srgbClr val="06B6D4"/>
            </a:solidFill>
            <a:prstDash val="solid"/>
          </a:ln>
        </p:spPr>
      </p:sp>
      <p:pic>
        <p:nvPicPr>
          <p:cNvPr id="12" name="Image 1" descr="icon">    </p:cNvPr>
          <p:cNvPicPr>
            <a:picLocks noChangeAspect="1"/>
          </p:cNvPicPr>
          <p:nvPr/>
        </p:nvPicPr>
        <p:blipFill>
          <a:blip r:embed="rId2"/>
          <a:stretch>
            <a:fillRect/>
          </a:stretch>
        </p:blipFill>
        <p:spPr>
          <a:xfrm>
            <a:off x="7263079" y="1730959"/>
            <a:ext cx="241402" cy="241402"/>
          </a:xfrm>
          <a:prstGeom prst="rect">
            <a:avLst/>
          </a:prstGeom>
        </p:spPr>
      </p:pic>
      <p:sp>
        <p:nvSpPr>
          <p:cNvPr id="13" name="Text 9"/>
          <p:cNvSpPr txBox="1"/>
          <p:nvPr/>
        </p:nvSpPr>
        <p:spPr>
          <a:xfrm>
            <a:off x="7772400" y="1627632"/>
            <a:ext cx="3657600" cy="457200"/>
          </a:xfrm>
          <a:prstGeom prst="rect">
            <a:avLst/>
          </a:prstGeom>
          <a:noFill/>
          <a:ln/>
        </p:spPr>
        <p:txBody>
          <a:bodyPr wrap="square" lIns="0" tIns="0" rIns="0" bIns="0" rtlCol="0" anchor="t"/>
          <a:lstStyle/>
          <a:p>
            <a:pPr indent="0" marL="0">
              <a:buNone/>
            </a:pPr>
            <a:r>
              <a:rPr lang="en-US" sz="2000" b="1" dirty="0">
                <a:solidFill>
                  <a:srgbClr val="0B1220"/>
                </a:solidFill>
              </a:rPr>
              <a:t>Future work</a:t>
            </a:r>
            <a:endParaRPr lang="en-US" sz="2000" dirty="0"/>
          </a:p>
        </p:txBody>
      </p:sp>
      <p:sp>
        <p:nvSpPr>
          <p:cNvPr id="14" name="Text 10"/>
          <p:cNvSpPr txBox="1"/>
          <p:nvPr/>
        </p:nvSpPr>
        <p:spPr>
          <a:xfrm>
            <a:off x="7178040" y="2286000"/>
            <a:ext cx="4251960" cy="384048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rgbClr val="475569"/>
                </a:solidFill>
              </a:rPr>
              <a:t>Direction-aware adaptive GraphSAGE</a:t>
            </a:r>
            <a:endParaRPr lang="en-US" sz="1700" dirty="0"/>
          </a:p>
          <a:p>
            <a:pPr marL="342900" indent="-342900">
              <a:spcAft>
                <a:spcPts val="1400"/>
              </a:spcAft>
              <a:buSzPct val="100000"/>
              <a:buChar char="•"/>
            </a:pPr>
            <a:r>
              <a:rPr lang="en-US" sz="1700" dirty="0">
                <a:solidFill>
                  <a:srgbClr val="475569"/>
                </a:solidFill>
              </a:rPr>
              <a:t>Tree adaptation by retraining on train plus revealed steps</a:t>
            </a:r>
            <a:endParaRPr lang="en-US" sz="1700" dirty="0"/>
          </a:p>
          <a:p>
            <a:pPr marL="342900" indent="-342900">
              <a:spcAft>
                <a:spcPts val="1400"/>
              </a:spcAft>
              <a:buSzPct val="100000"/>
              <a:buChar char="•"/>
            </a:pPr>
            <a:r>
              <a:rPr lang="en-US" sz="1700" dirty="0">
                <a:solidFill>
                  <a:srgbClr val="475569"/>
                </a:solidFill>
              </a:rPr>
              <a:t>Replay buffers and regularisers such as EWC</a:t>
            </a:r>
            <a:endParaRPr lang="en-US" sz="1700" dirty="0"/>
          </a:p>
          <a:p>
            <a:pPr marL="342900" indent="-342900">
              <a:spcAft>
                <a:spcPts val="1400"/>
              </a:spcAft>
              <a:buSzPct val="100000"/>
              <a:buChar char="•"/>
            </a:pPr>
            <a:r>
              <a:rPr lang="en-US" sz="1700" dirty="0">
                <a:solidFill>
                  <a:srgbClr val="475569"/>
                </a:solidFill>
              </a:rPr>
              <a:t>Datasets with real label timestamps</a:t>
            </a:r>
            <a:endParaRPr lang="en-US" sz="1700" dirty="0"/>
          </a:p>
          <a:p>
            <a:pPr marL="342900" indent="-342900">
              <a:spcAft>
                <a:spcPts val="1400"/>
              </a:spcAft>
              <a:buSzPct val="100000"/>
              <a:buChar char="•"/>
            </a:pPr>
            <a:r>
              <a:rPr lang="en-US" sz="1700" dirty="0">
                <a:solidFill>
                  <a:srgbClr val="475569"/>
                </a:solidFill>
              </a:rPr>
              <a:t>Verify where features f94–f165 come from</a:t>
            </a:r>
            <a:endParaRPr lang="en-US" sz="1700" dirty="0"/>
          </a:p>
        </p:txBody>
      </p:sp>
      <p:sp>
        <p:nvSpPr>
          <p:cNvPr id="25" name="Slide Number Placeholder 0"/>
          <p:cNvSpPr>
            <a:spLocks noGrp="1"/>
          </p:cNvSpPr>
          <p:nvPr>
            <p:ph type="sldNum" sz="quarter" idx="4294967295"/>
          </p:nvPr>
        </p:nvSpPr>
        <p:spPr>
          <a:xfrm>
            <a:off x="1115568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784080" cy="86868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3" name="Shape 1"/>
          <p:cNvSpPr/>
          <p:nvPr/>
        </p:nvSpPr>
        <p:spPr>
          <a:xfrm>
            <a:off x="10561320" y="475488"/>
            <a:ext cx="1097280" cy="329184"/>
          </a:xfrm>
          <a:prstGeom prst="roundRect">
            <a:avLst>
              <a:gd name="adj" fmla="val 50000"/>
            </a:avLst>
          </a:prstGeom>
          <a:solidFill>
            <a:srgbClr val="06B6D4">
              <a:alpha val="25000"/>
            </a:srgbClr>
          </a:solidFill>
          <a:ln w="12700">
            <a:solidFill>
              <a:srgbClr val="06B6D4"/>
            </a:solidFill>
            <a:prstDash val="solid"/>
          </a:ln>
        </p:spPr>
      </p:sp>
      <p:sp>
        <p:nvSpPr>
          <p:cNvPr id="4" name="Text 2"/>
          <p:cNvSpPr txBox="1"/>
          <p:nvPr/>
        </p:nvSpPr>
        <p:spPr>
          <a:xfrm>
            <a:off x="10561320" y="475488"/>
            <a:ext cx="1097280" cy="329184"/>
          </a:xfrm>
          <a:prstGeom prst="rect">
            <a:avLst/>
          </a:prstGeom>
          <a:noFill/>
          <a:ln/>
        </p:spPr>
        <p:txBody>
          <a:bodyPr wrap="square" lIns="0" tIns="0" rIns="0" bIns="0" rtlCol="0" anchor="ctr"/>
          <a:lstStyle/>
          <a:p>
            <a:pPr algn="ctr" indent="0" marL="0">
              <a:buNone/>
            </a:pPr>
            <a:r>
              <a:rPr lang="en-US" sz="1100" b="1" dirty="0">
                <a:solidFill>
                  <a:srgbClr val="06B6D4"/>
                </a:solidFill>
              </a:rPr>
              <a:t>Speaker D</a:t>
            </a:r>
            <a:endParaRPr lang="en-US" sz="1100" dirty="0"/>
          </a:p>
        </p:txBody>
      </p:sp>
      <p:sp>
        <p:nvSpPr>
          <p:cNvPr id="5" name="conclusion card 1"/>
          <p:cNvSpPr/>
          <p:nvPr/>
        </p:nvSpPr>
        <p:spPr>
          <a:xfrm>
            <a:off x="548640" y="1508760"/>
            <a:ext cx="3593592" cy="3154680"/>
          </a:xfrm>
          <a:prstGeom prst="roundRect">
            <a:avLst>
              <a:gd name="adj" fmla="val 3478"/>
            </a:avLst>
          </a:prstGeom>
          <a:solidFill>
            <a:srgbClr val="14213D"/>
          </a:solidFill>
          <a:ln w="12700">
            <a:solidFill>
              <a:srgbClr val="14213D"/>
            </a:solidFill>
            <a:prstDash val="solid"/>
          </a:ln>
          <a:effectLst>
            <a:outerShdw sx="100000" sy="100000" kx="0" ky="0" algn="bl" rotWithShape="0" blurRad="127000" dist="38100" dir="5400000">
              <a:srgbClr val="0B1220">
                <a:alpha val="14000"/>
              </a:srgbClr>
            </a:outerShdw>
          </a:effectLst>
        </p:spPr>
      </p:sp>
      <p:sp>
        <p:nvSpPr>
          <p:cNvPr id="6" name="Text 4"/>
          <p:cNvSpPr txBox="1"/>
          <p:nvPr/>
        </p:nvSpPr>
        <p:spPr>
          <a:xfrm>
            <a:off x="822960" y="1600200"/>
            <a:ext cx="822960" cy="868680"/>
          </a:xfrm>
          <a:prstGeom prst="rect">
            <a:avLst/>
          </a:prstGeom>
          <a:noFill/>
          <a:ln/>
        </p:spPr>
        <p:txBody>
          <a:bodyPr wrap="square" lIns="0" tIns="0" rIns="0" bIns="0" rtlCol="0" anchor="t"/>
          <a:lstStyle/>
          <a:p>
            <a:pPr indent="0" marL="0">
              <a:buNone/>
            </a:pPr>
            <a:r>
              <a:rPr lang="en-US" sz="5200" b="1" dirty="0">
                <a:solidFill>
                  <a:srgbClr val="10B981"/>
                </a:solidFill>
                <a:latin typeface="+mj-lt" pitchFamily="34" charset="0"/>
                <a:ea typeface="+mj-lt" pitchFamily="34" charset="-122"/>
                <a:cs typeface="+mj-lt" pitchFamily="34" charset="-120"/>
              </a:rPr>
              <a:t>1</a:t>
            </a:r>
            <a:endParaRPr lang="en-US" sz="5200" dirty="0"/>
          </a:p>
        </p:txBody>
      </p:sp>
      <p:sp>
        <p:nvSpPr>
          <p:cNvPr id="7" name="Text 5"/>
          <p:cNvSpPr txBox="1"/>
          <p:nvPr/>
        </p:nvSpPr>
        <p:spPr>
          <a:xfrm>
            <a:off x="822960" y="2560320"/>
            <a:ext cx="3108960" cy="960120"/>
          </a:xfrm>
          <a:prstGeom prst="rect">
            <a:avLst/>
          </a:prstGeom>
          <a:noFill/>
          <a:ln/>
        </p:spPr>
        <p:txBody>
          <a:bodyPr wrap="square" lIns="0" tIns="0" rIns="0" bIns="0" rtlCol="0" anchor="t"/>
          <a:lstStyle/>
          <a:p>
            <a:pPr indent="0" marL="0">
              <a:buNone/>
            </a:pPr>
            <a:r>
              <a:rPr lang="en-US" sz="2100" b="1" dirty="0">
                <a:solidFill>
                  <a:srgbClr val="FFFFFF"/>
                </a:solidFill>
              </a:rPr>
              <a:t>A static tree ensemble is the best detector</a:t>
            </a:r>
            <a:endParaRPr lang="en-US" sz="2100" dirty="0"/>
          </a:p>
        </p:txBody>
      </p:sp>
      <p:sp>
        <p:nvSpPr>
          <p:cNvPr id="8" name="Text 6"/>
          <p:cNvSpPr txBox="1"/>
          <p:nvPr/>
        </p:nvSpPr>
        <p:spPr>
          <a:xfrm>
            <a:off x="822960" y="3611880"/>
            <a:ext cx="3108960" cy="1005840"/>
          </a:xfrm>
          <a:prstGeom prst="rect">
            <a:avLst/>
          </a:prstGeom>
          <a:noFill/>
          <a:ln/>
        </p:spPr>
        <p:txBody>
          <a:bodyPr wrap="square" lIns="0" tIns="0" rIns="0" bIns="0" rtlCol="0" anchor="t"/>
          <a:lstStyle/>
          <a:p>
            <a:pPr indent="0" marL="0">
              <a:buNone/>
            </a:pPr>
            <a:r>
              <a:rPr lang="en-US" sz="1600" dirty="0">
                <a:solidFill>
                  <a:srgbClr val="CBD5E1"/>
                </a:solidFill>
              </a:rPr>
              <a:t>Random Forest 0.790 and HGB 0.787 beat every graph model on Elliptic.</a:t>
            </a:r>
            <a:endParaRPr lang="en-US" sz="1600" dirty="0"/>
          </a:p>
        </p:txBody>
      </p:sp>
      <p:sp>
        <p:nvSpPr>
          <p:cNvPr id="9" name="conclusion card 2"/>
          <p:cNvSpPr/>
          <p:nvPr/>
        </p:nvSpPr>
        <p:spPr>
          <a:xfrm>
            <a:off x="4297680" y="1508760"/>
            <a:ext cx="3593592" cy="3154680"/>
          </a:xfrm>
          <a:prstGeom prst="roundRect">
            <a:avLst>
              <a:gd name="adj" fmla="val 3478"/>
            </a:avLst>
          </a:prstGeom>
          <a:solidFill>
            <a:srgbClr val="14213D"/>
          </a:solidFill>
          <a:ln w="12700">
            <a:solidFill>
              <a:srgbClr val="14213D"/>
            </a:solidFill>
            <a:prstDash val="solid"/>
          </a:ln>
          <a:effectLst>
            <a:outerShdw sx="100000" sy="100000" kx="0" ky="0" algn="bl" rotWithShape="0" blurRad="127000" dist="38100" dir="5400000">
              <a:srgbClr val="0B1220">
                <a:alpha val="14000"/>
              </a:srgbClr>
            </a:outerShdw>
          </a:effectLst>
        </p:spPr>
      </p:sp>
      <p:sp>
        <p:nvSpPr>
          <p:cNvPr id="10" name="Text 8"/>
          <p:cNvSpPr txBox="1"/>
          <p:nvPr/>
        </p:nvSpPr>
        <p:spPr>
          <a:xfrm>
            <a:off x="4572000" y="1600200"/>
            <a:ext cx="822960" cy="868680"/>
          </a:xfrm>
          <a:prstGeom prst="rect">
            <a:avLst/>
          </a:prstGeom>
          <a:noFill/>
          <a:ln/>
        </p:spPr>
        <p:txBody>
          <a:bodyPr wrap="square" lIns="0" tIns="0" rIns="0" bIns="0" rtlCol="0" anchor="t"/>
          <a:lstStyle/>
          <a:p>
            <a:pPr indent="0" marL="0">
              <a:buNone/>
            </a:pPr>
            <a:r>
              <a:rPr lang="en-US" sz="5200" b="1" dirty="0">
                <a:solidFill>
                  <a:srgbClr val="06B6D4"/>
                </a:solidFill>
                <a:latin typeface="+mj-lt" pitchFamily="34" charset="0"/>
                <a:ea typeface="+mj-lt" pitchFamily="34" charset="-122"/>
                <a:cs typeface="+mj-lt" pitchFamily="34" charset="-120"/>
              </a:rPr>
              <a:t>2</a:t>
            </a:r>
            <a:endParaRPr lang="en-US" sz="5200" dirty="0"/>
          </a:p>
        </p:txBody>
      </p:sp>
      <p:sp>
        <p:nvSpPr>
          <p:cNvPr id="11" name="Text 9"/>
          <p:cNvSpPr txBox="1"/>
          <p:nvPr/>
        </p:nvSpPr>
        <p:spPr>
          <a:xfrm>
            <a:off x="4572000" y="2560320"/>
            <a:ext cx="3108960" cy="960120"/>
          </a:xfrm>
          <a:prstGeom prst="rect">
            <a:avLst/>
          </a:prstGeom>
          <a:noFill/>
          <a:ln/>
        </p:spPr>
        <p:txBody>
          <a:bodyPr wrap="square" lIns="0" tIns="0" rIns="0" bIns="0" rtlCol="0" anchor="t"/>
          <a:lstStyle/>
          <a:p>
            <a:pPr indent="0" marL="0">
              <a:buNone/>
            </a:pPr>
            <a:r>
              <a:rPr lang="en-US" sz="2100" b="1" dirty="0">
                <a:solidFill>
                  <a:srgbClr val="FFFFFF"/>
                </a:solidFill>
              </a:rPr>
              <a:t>Adaptation gives GraphSAGE a real but modest gain</a:t>
            </a:r>
            <a:endParaRPr lang="en-US" sz="2100" dirty="0"/>
          </a:p>
        </p:txBody>
      </p:sp>
      <p:sp>
        <p:nvSpPr>
          <p:cNvPr id="12" name="Text 10"/>
          <p:cNvSpPr txBox="1"/>
          <p:nvPr/>
        </p:nvSpPr>
        <p:spPr>
          <a:xfrm>
            <a:off x="4572000" y="3611880"/>
            <a:ext cx="3108960" cy="1005840"/>
          </a:xfrm>
          <a:prstGeom prst="rect">
            <a:avLst/>
          </a:prstGeom>
          <a:noFill/>
          <a:ln/>
        </p:spPr>
        <p:txBody>
          <a:bodyPr wrap="square" lIns="0" tIns="0" rIns="0" bIns="0" rtlCol="0" anchor="t"/>
          <a:lstStyle/>
          <a:p>
            <a:pPr indent="0" marL="0">
              <a:buNone/>
            </a:pPr>
            <a:r>
              <a:rPr lang="en-US" sz="1600" dirty="0">
                <a:solidFill>
                  <a:srgbClr val="CBD5E1"/>
                </a:solidFill>
              </a:rPr>
              <a:t>F1 0.494 → 0.566 in 5 of 5 seeds, under a simulated delay.</a:t>
            </a:r>
            <a:endParaRPr lang="en-US" sz="1600" dirty="0"/>
          </a:p>
        </p:txBody>
      </p:sp>
      <p:sp>
        <p:nvSpPr>
          <p:cNvPr id="13" name="conclusion card 3"/>
          <p:cNvSpPr/>
          <p:nvPr/>
        </p:nvSpPr>
        <p:spPr>
          <a:xfrm>
            <a:off x="8046720" y="1508760"/>
            <a:ext cx="3593592" cy="3154680"/>
          </a:xfrm>
          <a:prstGeom prst="roundRect">
            <a:avLst>
              <a:gd name="adj" fmla="val 3478"/>
            </a:avLst>
          </a:prstGeom>
          <a:solidFill>
            <a:srgbClr val="14213D"/>
          </a:solidFill>
          <a:ln w="12700">
            <a:solidFill>
              <a:srgbClr val="14213D"/>
            </a:solidFill>
            <a:prstDash val="solid"/>
          </a:ln>
          <a:effectLst>
            <a:outerShdw sx="100000" sy="100000" kx="0" ky="0" algn="bl" rotWithShape="0" blurRad="127000" dist="38100" dir="5400000">
              <a:srgbClr val="0B1220">
                <a:alpha val="14000"/>
              </a:srgbClr>
            </a:outerShdw>
          </a:effectLst>
        </p:spPr>
      </p:sp>
      <p:sp>
        <p:nvSpPr>
          <p:cNvPr id="14" name="Text 12"/>
          <p:cNvSpPr txBox="1"/>
          <p:nvPr/>
        </p:nvSpPr>
        <p:spPr>
          <a:xfrm>
            <a:off x="8321040" y="1600200"/>
            <a:ext cx="822960" cy="868680"/>
          </a:xfrm>
          <a:prstGeom prst="rect">
            <a:avLst/>
          </a:prstGeom>
          <a:noFill/>
          <a:ln/>
        </p:spPr>
        <p:txBody>
          <a:bodyPr wrap="square" lIns="0" tIns="0" rIns="0" bIns="0" rtlCol="0" anchor="t"/>
          <a:lstStyle/>
          <a:p>
            <a:pPr indent="0" marL="0">
              <a:buNone/>
            </a:pPr>
            <a:r>
              <a:rPr lang="en-US" sz="5200" b="1" dirty="0">
                <a:solidFill>
                  <a:srgbClr val="F43F5E"/>
                </a:solidFill>
                <a:latin typeface="+mj-lt" pitchFamily="34" charset="0"/>
                <a:ea typeface="+mj-lt" pitchFamily="34" charset="-122"/>
                <a:cs typeface="+mj-lt" pitchFamily="34" charset="-120"/>
              </a:rPr>
              <a:t>3</a:t>
            </a:r>
            <a:endParaRPr lang="en-US" sz="5200" dirty="0"/>
          </a:p>
        </p:txBody>
      </p:sp>
      <p:sp>
        <p:nvSpPr>
          <p:cNvPr id="15" name="Text 13"/>
          <p:cNvSpPr txBox="1"/>
          <p:nvPr/>
        </p:nvSpPr>
        <p:spPr>
          <a:xfrm>
            <a:off x="8321040" y="2560320"/>
            <a:ext cx="3108960" cy="960120"/>
          </a:xfrm>
          <a:prstGeom prst="rect">
            <a:avLst/>
          </a:prstGeom>
          <a:noFill/>
          <a:ln/>
        </p:spPr>
        <p:txBody>
          <a:bodyPr wrap="square" lIns="0" tIns="0" rIns="0" bIns="0" rtlCol="0" anchor="t"/>
          <a:lstStyle/>
          <a:p>
            <a:pPr indent="0" marL="0">
              <a:buNone/>
            </a:pPr>
            <a:r>
              <a:rPr lang="en-US" sz="2100" b="1" dirty="0">
                <a:solidFill>
                  <a:srgbClr val="FFFFFF"/>
                </a:solidFill>
              </a:rPr>
              <a:t>Adaptation is not automatic</a:t>
            </a:r>
            <a:endParaRPr lang="en-US" sz="2100" dirty="0"/>
          </a:p>
        </p:txBody>
      </p:sp>
      <p:sp>
        <p:nvSpPr>
          <p:cNvPr id="16" name="Text 14"/>
          <p:cNvSpPr txBox="1"/>
          <p:nvPr/>
        </p:nvSpPr>
        <p:spPr>
          <a:xfrm>
            <a:off x="8321040" y="3611880"/>
            <a:ext cx="3108960" cy="1005840"/>
          </a:xfrm>
          <a:prstGeom prst="rect">
            <a:avLst/>
          </a:prstGeom>
          <a:noFill/>
          <a:ln/>
        </p:spPr>
        <p:txBody>
          <a:bodyPr wrap="square" lIns="0" tIns="0" rIns="0" bIns="0" rtlCol="0" anchor="t"/>
          <a:lstStyle/>
          <a:p>
            <a:pPr indent="0" marL="0">
              <a:buNone/>
            </a:pPr>
            <a:r>
              <a:rPr lang="en-US" sz="1600" dirty="0">
                <a:solidFill>
                  <a:srgbClr val="CBD5E1"/>
                </a:solidFill>
              </a:rPr>
              <a:t>The same feedback cut boosted trees from 0.787 to 0.469.</a:t>
            </a:r>
            <a:endParaRPr lang="en-US" sz="1600" dirty="0"/>
          </a:p>
        </p:txBody>
      </p:sp>
      <p:sp>
        <p:nvSpPr>
          <p:cNvPr id="17" name="Shape 15"/>
          <p:cNvSpPr/>
          <p:nvPr/>
        </p:nvSpPr>
        <p:spPr>
          <a:xfrm>
            <a:off x="548640" y="4892040"/>
            <a:ext cx="11091672" cy="777240"/>
          </a:xfrm>
          <a:prstGeom prst="roundRect">
            <a:avLst>
              <a:gd name="adj" fmla="val 14118"/>
            </a:avLst>
          </a:prstGeom>
          <a:solidFill>
            <a:srgbClr val="FFFFFF">
              <a:alpha val="8000"/>
            </a:srgbClr>
          </a:solidFill>
          <a:ln w="9525">
            <a:solidFill>
              <a:srgbClr val="475569"/>
            </a:solidFill>
            <a:prstDash val="solid"/>
          </a:ln>
        </p:spPr>
      </p:sp>
      <p:sp>
        <p:nvSpPr>
          <p:cNvPr id="18" name="Text 16"/>
          <p:cNvSpPr txBox="1"/>
          <p:nvPr/>
        </p:nvSpPr>
        <p:spPr>
          <a:xfrm>
            <a:off x="777240" y="4892040"/>
            <a:ext cx="10652760" cy="777240"/>
          </a:xfrm>
          <a:prstGeom prst="rect">
            <a:avLst/>
          </a:prstGeom>
          <a:noFill/>
          <a:ln/>
        </p:spPr>
        <p:txBody>
          <a:bodyPr wrap="square" lIns="0" tIns="0" rIns="0" bIns="0" rtlCol="0" anchor="ctr"/>
          <a:lstStyle/>
          <a:p>
            <a:pPr indent="0" marL="0">
              <a:buNone/>
            </a:pPr>
            <a:r>
              <a:rPr lang="en-US" sz="1400" b="1" dirty="0">
                <a:solidFill>
                  <a:srgbClr val="F59E0B"/>
                </a:solidFill>
              </a:rPr>
              <a:t>We do not claim  </a:t>
            </a:r>
            <a:pPr indent="0" marL="0">
              <a:buNone/>
            </a:pPr>
            <a:r>
              <a:rPr lang="en-US" sz="1400" dirty="0">
                <a:solidFill>
                  <a:srgbClr val="E2E8F0"/>
                </a:solidFill>
              </a:rPr>
              <a:t>novelty  ·  state of the art  ·  beating Random Forest  ·  real-time use  ·  a real feedback delay  ·  generalisation beyond Elliptic</a:t>
            </a:r>
            <a:endParaRPr lang="en-US" sz="1400" dirty="0"/>
          </a:p>
        </p:txBody>
      </p:sp>
      <p:sp>
        <p:nvSpPr>
          <p:cNvPr id="19" name="Text 17"/>
          <p:cNvSpPr txBox="1"/>
          <p:nvPr/>
        </p:nvSpPr>
        <p:spPr>
          <a:xfrm>
            <a:off x="548640" y="5852160"/>
            <a:ext cx="7315200" cy="502920"/>
          </a:xfrm>
          <a:prstGeom prst="rect">
            <a:avLst/>
          </a:prstGeom>
          <a:noFill/>
          <a:ln/>
        </p:spPr>
        <p:txBody>
          <a:bodyPr wrap="square" lIns="0" tIns="0" rIns="0" bIns="0" rtlCol="0" anchor="ctr"/>
          <a:lstStyle/>
          <a:p>
            <a:pPr indent="0" marL="0">
              <a:buNone/>
            </a:pPr>
            <a:r>
              <a:rPr lang="en-US" sz="2400" b="1" dirty="0">
                <a:solidFill>
                  <a:srgbClr val="FFFFFF"/>
                </a:solidFill>
                <a:latin typeface="+mj-lt" pitchFamily="34" charset="0"/>
                <a:ea typeface="+mj-lt" pitchFamily="34" charset="-122"/>
                <a:cs typeface="+mj-lt" pitchFamily="34" charset="-120"/>
              </a:rPr>
              <a:t>Thank you. Questions?</a:t>
            </a:r>
            <a:endParaRPr lang="en-US" sz="2400" dirty="0"/>
          </a:p>
        </p:txBody>
      </p:sp>
      <p:sp>
        <p:nvSpPr>
          <p:cNvPr id="25" name="Slide Number Placeholder 0"/>
          <p:cNvSpPr>
            <a:spLocks noGrp="1"/>
          </p:cNvSpPr>
          <p:nvPr>
            <p:ph type="sldNum" sz="quarter" idx="4294967295"/>
          </p:nvPr>
        </p:nvSpPr>
        <p:spPr>
          <a:xfrm>
            <a:off x="1115568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Graph Forensics">
  <a:themeElements>
    <a:clrScheme name="Graph Forensics">
      <a:dk1>
        <a:srgbClr val="0B1220"/>
      </a:dk1>
      <a:lt1>
        <a:srgbClr val="FFFFFF"/>
      </a:lt1>
      <a:dk2>
        <a:srgbClr val="14213D"/>
      </a:dk2>
      <a:lt2>
        <a:srgbClr val="F1F5F9"/>
      </a:lt2>
      <a:accent1>
        <a:srgbClr val="06B6D4"/>
      </a:accent1>
      <a:accent2>
        <a:srgbClr val="2563EB"/>
      </a:accent2>
      <a:accent3>
        <a:srgbClr val="10B981"/>
      </a:accent3>
      <a:accent4>
        <a:srgbClr val="F59E0B"/>
      </a:accent4>
      <a:accent5>
        <a:srgbClr val="F43F5E"/>
      </a:accent5>
      <a:accent6>
        <a:srgbClr val="6366F1"/>
      </a:accent6>
      <a:hlink>
        <a:srgbClr val="2563EB"/>
      </a:hlink>
      <a:folHlink>
        <a:srgbClr val="6366F1"/>
      </a:folHlink>
    </a:clrScheme>
    <a:fontScheme name="Graph Forensic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Illicit Transaction Detection Using Graph-Based Adaptive Learning</dc:title>
  <dc:subject>Empirical study on the Elliptic Bitcoin dataset</dc:subject>
  <dc:creator>Project team</dc:creator>
  <cp:lastModifiedBy>Project team</cp:lastModifiedBy>
  <cp:revision>1</cp:revision>
  <dcterms:created xsi:type="dcterms:W3CDTF">2026-10-06T05:56:21Z</dcterms:created>
  <dcterms:modified xsi:type="dcterms:W3CDTF">2026-10-06T05:56:21Z</dcterms:modified>
</cp:coreProperties>
</file>